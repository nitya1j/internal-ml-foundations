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14"/>
    <p:sldId id="273" r:id="rId15"/>
    <p:sldId id="268" r:id="rId16"/>
    <p:sldId id="269" r:id="rId17"/>
    <p:sldId id="270" r:id="rId18"/>
    <p:sldId id="271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76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0408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14CF5-223E-8FF0-DB17-DA52D4923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6CBE21-2DEE-8F84-122C-439831883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EE53E0-B93A-6662-393E-301D6B41D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684F0-E11E-51CA-4E48-A3417975C4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138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109A5-5E8B-A8BB-1331-DCE3B88B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4A5A7-EED4-B149-316D-D90294F597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7FEA9F-3FB6-B6C7-5FF9-EDD3F7EAF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3C0E-003D-7A71-F5D6-FC5879DF2E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4223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C State Engineering -- ANS / Conferences / 2021 Student Conference">
            <a:extLst>
              <a:ext uri="{FF2B5EF4-FFF2-40B4-BE49-F238E27FC236}">
                <a16:creationId xmlns:a16="http://schemas.microsoft.com/office/drawing/2014/main" id="{4627491E-B1A5-2FAF-EFC1-30C7DDF66F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2978" y="338074"/>
            <a:ext cx="1551223" cy="432403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jliving@ncsu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713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</a:rPr>
              <a:t>SESSION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13232" y="123444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1F2937"/>
                </a:solidFill>
              </a:rPr>
              <a:t>Classic Machine Learning Overview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13232" y="2304288"/>
            <a:ext cx="6492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</a:rPr>
              <a:t>Regression • Classification • Clustering • Dimensionality Reduction • Forecasting • Anomaly Detection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29443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</a:rPr>
              <a:t>Applied AI Design Workshop for Faculty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331012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Fred Livingston (</a:t>
            </a:r>
            <a:r>
              <a:rPr lang="en-US" sz="1200" dirty="0">
                <a:solidFill>
                  <a:srgbClr val="6B7280"/>
                </a:solidFill>
                <a:hlinkClick r:id="rId3"/>
              </a:rPr>
              <a:t>fjliving@ncsu.edu</a:t>
            </a:r>
            <a:r>
              <a:rPr lang="en-US" sz="1200" dirty="0">
                <a:solidFill>
                  <a:srgbClr val="6B7280"/>
                </a:solidFill>
              </a:rPr>
              <a:t>)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730752"/>
            <a:ext cx="58521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60920" y="96012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525512" y="1088136"/>
            <a:ext cx="355701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Goal: match a framed disciplinary problem to the right class of classical ML methods.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60920" y="2331720"/>
            <a:ext cx="388620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525512" y="2459736"/>
            <a:ext cx="3557016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Session focus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ML workflow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Supervised vs. unsupervised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Six core task families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Scenario sorting activity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Discussion on model fit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Workshop outcomes and Session 2 role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25296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</a:rPr>
              <a:t>Session 2 gives faculty the “model-family map” needed after Session 1 problem framing and before regression/classification fundamentals.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8368" y="2057400"/>
            <a:ext cx="18745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185416"/>
            <a:ext cx="154533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Translate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Disciplinary question → ML task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26080" y="2057400"/>
            <a:ext cx="1874520" cy="1874520"/>
          </a:xfrm>
          <a:prstGeom prst="roundRect">
            <a:avLst>
              <a:gd name="adj" fmla="val 390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090672" y="2185416"/>
            <a:ext cx="154533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Differentiate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Regression, classification, clustering, forecasting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193792" y="2057400"/>
            <a:ext cx="18745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58384" y="2185416"/>
            <a:ext cx="154533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Baseline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Know what a simple model must beat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61504" y="2057400"/>
            <a:ext cx="1874520" cy="1874520"/>
          </a:xfrm>
          <a:prstGeom prst="roundRect">
            <a:avLst>
              <a:gd name="adj" fmla="val 390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26096" y="2185416"/>
            <a:ext cx="154533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Evaluate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Link task type to first metrics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729216" y="2057400"/>
            <a:ext cx="18745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893808" y="2185416"/>
            <a:ext cx="154533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Select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Choose method families before tools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5074920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102E"/>
                </a:solidFill>
              </a:rPr>
              <a:t>Design principle: the question determines the learning task; the learning task constrains the models and metrics.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Day 3 schedule and flow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37360" y="12984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From engineering problem to ML problem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700784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737360" y="195681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</a:rPr>
              <a:t>Classic ML overview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235915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37360" y="261518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Invited presentation: From Prompts to Agents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737360" y="32735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Break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3675888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737360" y="393192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Regression fundamentals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31520" y="4334256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459028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Classification fundamentals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992624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737360" y="524865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Hands-on baseline model activity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65099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784080" y="1298448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948672" y="142646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</a:rPr>
              <a:t>Done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784080" y="1965960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948672" y="2093976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Now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784080" y="2633472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948672" y="2761488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</a:rPr>
              <a:t>Context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784080" y="3968496"/>
            <a:ext cx="1508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948672" y="4096512"/>
            <a:ext cx="11795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</a:rPr>
              <a:t>Methods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784080" y="5614416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948672" y="5742432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</a:rPr>
              <a:t>Practice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Learning activities for Session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847088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EE2E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975104"/>
            <a:ext cx="1362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1. Map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377440" y="2322576"/>
            <a:ext cx="365760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" y="301752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B7280"/>
                </a:solidFill>
              </a:rPr>
              <a:t>Connect problem statement to task type</a:t>
            </a:r>
            <a:endParaRPr lang="en-US" sz="1250" b="1" dirty="0"/>
          </a:p>
        </p:txBody>
      </p:sp>
      <p:sp>
        <p:nvSpPr>
          <p:cNvPr id="10" name="Shape 8"/>
          <p:cNvSpPr/>
          <p:nvPr/>
        </p:nvSpPr>
        <p:spPr>
          <a:xfrm>
            <a:off x="2834640" y="1847088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99232" y="1975104"/>
            <a:ext cx="1362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F2937"/>
                </a:solidFill>
              </a:rPr>
              <a:t>2. Sort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26280" y="2322576"/>
            <a:ext cx="365760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807208" y="301752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Classify six scenarios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983480" y="1847088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48072" y="1975104"/>
            <a:ext cx="1362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F2937"/>
                </a:solidFill>
              </a:rPr>
              <a:t>3. Compare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675120" y="2322576"/>
            <a:ext cx="365760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56048" y="301752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Supervised vs. unsupervised use cases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0" y="1847088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296912" y="1975104"/>
            <a:ext cx="1362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F2937"/>
                </a:solidFill>
              </a:rPr>
              <a:t>4. Select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823960" y="2322576"/>
            <a:ext cx="365760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104888" y="301752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Choose first metrics and baselines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281160" y="1847088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445752" y="1975104"/>
            <a:ext cx="1362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F2937"/>
                </a:solidFill>
              </a:rPr>
              <a:t>5. Discuss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253728" y="301752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Identify mismatches and ambiguous cases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480060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Participant output: a task-family recommendation for each scenario plus one “why this task, not another?” explanation.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Classic ML workflow: from problem to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67512" y="2093976"/>
            <a:ext cx="10881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C8102E"/>
                </a:solidFill>
              </a:rPr>
              <a:t>Problem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C8102E"/>
                </a:solidFill>
              </a:rPr>
              <a:t>decision or prediction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920240" y="2450592"/>
            <a:ext cx="374904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04872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9464" y="2093976"/>
            <a:ext cx="10881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Data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inputs, target, unit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822192" y="2450592"/>
            <a:ext cx="374904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06824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71416" y="2093976"/>
            <a:ext cx="10881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Features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clean, encode, derive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724144" y="2450592"/>
            <a:ext cx="374904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08776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73368" y="2093976"/>
            <a:ext cx="10881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Model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train task-specific method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626096" y="2450592"/>
            <a:ext cx="374904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110728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275320" y="2093976"/>
            <a:ext cx="10881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Evaluate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baseline + metrics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528048" y="2450592"/>
            <a:ext cx="374904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012680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177272" y="2093976"/>
            <a:ext cx="10881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Interpret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error, limits, usefulness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14400" y="43434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937"/>
                </a:solidFill>
              </a:rPr>
              <a:t>Classic ML emphasizes structured data, explicit targets or patterns, measurable performance, and reproducible comparison to baselines.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00584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102E"/>
                </a:solidFill>
              </a:rPr>
              <a:t>Key question for today: where does your problem sit in this workflow?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Supervised and unsupervised learning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87552" y="1545336"/>
            <a:ext cx="4562856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Supervised learning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Uses examples with known targets.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Typical tasks: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C00000"/>
                </a:solidFill>
              </a:rPr>
              <a:t>• Regression</a:t>
            </a:r>
            <a:endParaRPr lang="en-US" sz="1600" dirty="0">
              <a:solidFill>
                <a:srgbClr val="C00000"/>
              </a:solidFill>
            </a:endParaRPr>
          </a:p>
          <a:p>
            <a:pPr marL="0" indent="0" algn="l">
              <a:buNone/>
            </a:pPr>
            <a:r>
              <a:rPr lang="en-US" sz="1600" b="1" dirty="0">
                <a:solidFill>
                  <a:srgbClr val="C00000"/>
                </a:solidFill>
              </a:rPr>
              <a:t>• Classification</a:t>
            </a:r>
            <a:endParaRPr lang="en-US" sz="1600" dirty="0">
              <a:solidFill>
                <a:srgbClr val="C00000"/>
              </a:solidFill>
            </a:endParaRPr>
          </a:p>
          <a:p>
            <a:pPr marL="0" indent="0" algn="l">
              <a:buNone/>
            </a:pPr>
            <a:r>
              <a:rPr lang="en-US" sz="1600" b="1" dirty="0">
                <a:solidFill>
                  <a:srgbClr val="C00000"/>
                </a:solidFill>
              </a:rPr>
              <a:t>• Forecasting</a:t>
            </a:r>
            <a:endParaRPr lang="en-US" sz="1600" dirty="0">
              <a:solidFill>
                <a:srgbClr val="C00000"/>
              </a:solidFill>
            </a:endParaRPr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Core question: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Can the model learn from labeled examples to predict a new case?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46520" y="141732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11112" y="1545336"/>
            <a:ext cx="4562856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Unsupervised learning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Uses data without known targets.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Typical tasks: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C00000"/>
                </a:solidFill>
              </a:rPr>
              <a:t>• Clustering</a:t>
            </a:r>
            <a:endParaRPr lang="en-US" sz="1600" dirty="0">
              <a:solidFill>
                <a:srgbClr val="C00000"/>
              </a:solidFill>
            </a:endParaRPr>
          </a:p>
          <a:p>
            <a:pPr marL="0" indent="0" algn="l">
              <a:buNone/>
            </a:pPr>
            <a:r>
              <a:rPr lang="en-US" sz="1600" b="1" dirty="0">
                <a:solidFill>
                  <a:srgbClr val="C00000"/>
                </a:solidFill>
              </a:rPr>
              <a:t>• Dimensionality reduction</a:t>
            </a:r>
            <a:endParaRPr lang="en-US" sz="1600" dirty="0">
              <a:solidFill>
                <a:srgbClr val="C00000"/>
              </a:solidFill>
            </a:endParaRPr>
          </a:p>
          <a:p>
            <a:pPr marL="0" indent="0" algn="l">
              <a:buNone/>
            </a:pPr>
            <a:r>
              <a:rPr lang="en-US" sz="1600" b="1" dirty="0">
                <a:solidFill>
                  <a:srgbClr val="C00000"/>
                </a:solidFill>
              </a:rPr>
              <a:t>• Pattern discovery</a:t>
            </a:r>
            <a:endParaRPr lang="en-US" sz="1600" dirty="0">
              <a:solidFill>
                <a:srgbClr val="C00000"/>
              </a:solidFill>
            </a:endParaRPr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Core question: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Can the model reveal structure that merits domain interpretation?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571500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102E"/>
                </a:solidFill>
              </a:rPr>
              <a:t>Boundary case: anomaly detection can be supervised, semi-supervised, or unsupervised depending on whether labeled abnormal cases exist.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Regression: predicting continuous outcomes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344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</a:rPr>
              <a:t>Use regression when the target is a number and error magnitude matters.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1920240"/>
            <a:ext cx="32004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2048256"/>
            <a:ext cx="287121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Questions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How much?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How many?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What value?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Outputs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Continuous prediction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Prediction error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80560" y="1920240"/>
            <a:ext cx="32004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2048256"/>
            <a:ext cx="287121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Common methods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Linear regression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Polynomial regression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Ridge / Lasso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Regression trees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Random forests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1920240"/>
            <a:ext cx="32004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57032" y="2048256"/>
            <a:ext cx="287121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First metrics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MAE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RMSE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R²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Baseline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Predict mean/median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604418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280"/>
                </a:solidFill>
              </a:rPr>
              <a:t>Examples: final material strength, energy consumption, cycle time, bioprocess yield, exam score, remaining useful life.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7</a:t>
            </a:r>
            <a:endParaRPr lang="en-US" sz="8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AA94ACF-A327-B0A5-7C32-B08C45FA6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078" y="3877056"/>
            <a:ext cx="2474804" cy="203394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9E5C6BB-103C-52C7-1900-6714F53A6DDC}"/>
              </a:ext>
            </a:extLst>
          </p:cNvPr>
          <p:cNvSpPr txBox="1"/>
          <p:nvPr/>
        </p:nvSpPr>
        <p:spPr>
          <a:xfrm>
            <a:off x="3934882" y="5088818"/>
            <a:ext cx="7814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Source: https://en.wikipedia.org/wiki/Regression_analysis#/media/File:Normdist_regression.png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Classification: predicting categories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344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</a:rPr>
              <a:t>Use classification when the output is a discrete category, label, or decision class.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1920240"/>
            <a:ext cx="32004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2048256"/>
            <a:ext cx="287121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Questions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Which class?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Pass or fail?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Fault or normal?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Outputs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Class label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Probability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80560" y="1920240"/>
            <a:ext cx="32004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2048256"/>
            <a:ext cx="287121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Common methods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Logistic regression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Decision trees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k-nearest neighbors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Support vector machines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Random forests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1920240"/>
            <a:ext cx="32004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57032" y="2048256"/>
            <a:ext cx="287121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First metrics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Accuracy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Precision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Recall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F1-score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Baseline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Majority class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0120" y="6206271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280"/>
                </a:solidFill>
              </a:rPr>
              <a:t>Examples: product accept/defect, medical screening, equipment fault state, material type, student support category.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8</a:t>
            </a:r>
            <a:endParaRPr lang="en-US" sz="800" dirty="0"/>
          </a:p>
        </p:txBody>
      </p:sp>
      <p:pic>
        <p:nvPicPr>
          <p:cNvPr id="15" name="Picture 14" descr="4 Types of Classification Tasks in Machine Learning -  MachineLearningMastery.com">
            <a:extLst>
              <a:ext uri="{FF2B5EF4-FFF2-40B4-BE49-F238E27FC236}">
                <a16:creationId xmlns:a16="http://schemas.microsoft.com/office/drawing/2014/main" id="{8E160FDE-A476-F28C-00C9-90CC9A230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467" y="3943631"/>
            <a:ext cx="2879317" cy="215948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4040B-A691-EA83-EF4A-279311202B7C}"/>
              </a:ext>
            </a:extLst>
          </p:cNvPr>
          <p:cNvSpPr txBox="1"/>
          <p:nvPr/>
        </p:nvSpPr>
        <p:spPr>
          <a:xfrm>
            <a:off x="4003633" y="5492755"/>
            <a:ext cx="61033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https://machinelearningmastery.com/types-of-classification-in-machine-learning/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Clustering: finding groups without labels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344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</a:rPr>
              <a:t>Use clustering when the goal is to explore unlabeled data and identify possible groups.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Questions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What groups exist?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Are there operating regimes?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Are there natural profiles?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Outputs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Cluster ID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Similarity grouping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Common methods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k-means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Hierarchical clustering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DBSCAN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Preconditions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Meaningful features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Appropriate scaling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5703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Evaluation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Cluster separation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Stability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Domain interpretation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Caution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Clusters are not automatically scientific categories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257800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280"/>
                </a:solidFill>
              </a:rPr>
              <a:t>Examples: operating regimes, product families, student learning profiles, patient subgroups, sensor behavior patterns.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Dimensionality reduction: simplifying many variables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344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</a:rPr>
              <a:t>Use dimensionality reduction when many correlated variables need to be summarized or visualized.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Questions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Can many variables be summarized?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What structure is visible in 2D?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Which directions explain variation?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Common methods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Principal component analysis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t-SNE / UMAP for visualization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Outputs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Components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Low-dimensional projections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5703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Use carefully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Components may be hard to interpret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Scaling matters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Visualization is not proof of separability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6236208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280"/>
                </a:solidFill>
              </a:rPr>
              <a:t>Examples: compress sensor streams, visualize high-dimensional experiments, reduce multicollinearity, explore image-derived features.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10</a:t>
            </a:r>
            <a:endParaRPr lang="en-US" sz="800" dirty="0"/>
          </a:p>
        </p:txBody>
      </p:sp>
      <p:pic>
        <p:nvPicPr>
          <p:cNvPr id="15" name="Picture 14" descr="Unsupervised Machine Learning: Dimensionality Reduction and PCA | by Andrea  Chello | The Quant Journey | Medium">
            <a:extLst>
              <a:ext uri="{FF2B5EF4-FFF2-40B4-BE49-F238E27FC236}">
                <a16:creationId xmlns:a16="http://schemas.microsoft.com/office/drawing/2014/main" id="{5C2B8496-F75D-9041-D592-9FFC6C759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094" y="4296928"/>
            <a:ext cx="2097316" cy="172057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1B4770E-584E-D624-6F6E-747126299502}"/>
              </a:ext>
            </a:extLst>
          </p:cNvPr>
          <p:cNvSpPr txBox="1"/>
          <p:nvPr/>
        </p:nvSpPr>
        <p:spPr>
          <a:xfrm>
            <a:off x="3301109" y="5334754"/>
            <a:ext cx="6103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https://medium.com/the-quant-journey/unsupervised-machine-learning-dimensionality-reduction-and-pca-8ed5db205200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Forecasting: predicting future values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344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</a:rPr>
              <a:t>Use forecasting when time order matters and future values depend on past behavior.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Questions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What happens next?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What will demand be tomorrow?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How will a process variable evolve?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Common features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Lags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Rolling means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Trends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Seasonal indicators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Time-window statistics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5703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Validation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Preserve time order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Train on past, test on future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Avoid random split leakage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257800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280"/>
                </a:solidFill>
              </a:rPr>
              <a:t>Examples: energy demand, production throughput, sensor trends, inventory needs, process yield over time.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Anomaly detection: identifying unusual observations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344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</a:rPr>
              <a:t>Use anomaly detection when rare, unexpected, or abnormal behavior is the focus.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Questions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Is this unusual?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Does this run deviate from normal?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Which cases need review?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Common methods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Thresholds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Isolation forest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One-class methods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Distance-based methods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Control-chart-inspired rules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18745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57032" y="2002536"/>
            <a:ext cx="287121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Practical issues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Rare labels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False alarms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Changing normal behavior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Need for human review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257800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280"/>
                </a:solidFill>
              </a:rPr>
              <a:t>Examples: equipment condition monitoring, lab-sensor drift, cybersecurity events, defective runs, unusual student activity patterns.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F8D39A-8F3D-5D11-C104-2342FFDF9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1FD60D6-AE44-36EA-15D7-E46E2222DE5F}"/>
              </a:ext>
            </a:extLst>
          </p:cNvPr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F40F390-D8B2-C056-BB21-2671586FC3EE}"/>
              </a:ext>
            </a:extLst>
          </p:cNvPr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7B35BC-DC0B-FFFF-0996-33BC446AA91B}"/>
              </a:ext>
            </a:extLst>
          </p:cNvPr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26AEA52-7B1F-D1BB-6597-C0F177E32978}"/>
              </a:ext>
            </a:extLst>
          </p:cNvPr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15</a:t>
            </a:r>
            <a:endParaRPr lang="en-US" sz="800" dirty="0"/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E3D9647D-194F-D697-5B6A-4B1FA2BF78D0}"/>
              </a:ext>
            </a:extLst>
          </p:cNvPr>
          <p:cNvSpPr/>
          <p:nvPr/>
        </p:nvSpPr>
        <p:spPr>
          <a:xfrm>
            <a:off x="548640" y="104241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5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2 technical skill: visualize before modeling</a:t>
            </a:r>
            <a:endParaRPr lang="en-US" sz="2500" dirty="0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347A4386-F352-CA04-60E9-2396B8A90ADD}"/>
              </a:ext>
            </a:extLst>
          </p:cNvPr>
          <p:cNvSpPr/>
          <p:nvPr/>
        </p:nvSpPr>
        <p:spPr>
          <a:xfrm>
            <a:off x="566928" y="1563624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Goal: use quick plots to understand relationships, distributions, and target balance.</a:t>
            </a:r>
            <a:endParaRPr lang="en-US" sz="1150" dirty="0"/>
          </a:p>
        </p:txBody>
      </p:sp>
      <p:pic>
        <p:nvPicPr>
          <p:cNvPr id="25" name="Image 0" descr="/mnt/data/session0_python_data_tools/assets/iris_scatter.png">
            <a:extLst>
              <a:ext uri="{FF2B5EF4-FFF2-40B4-BE49-F238E27FC236}">
                <a16:creationId xmlns:a16="http://schemas.microsoft.com/office/drawing/2014/main" id="{6E8F3759-8CB3-3ECB-B9A2-9D47653135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1" b="741"/>
          <a:stretch/>
        </p:blipFill>
        <p:spPr>
          <a:xfrm>
            <a:off x="658368" y="1892808"/>
            <a:ext cx="4937760" cy="3474720"/>
          </a:xfrm>
          <a:prstGeom prst="rect">
            <a:avLst/>
          </a:prstGeom>
        </p:spPr>
      </p:pic>
      <p:sp>
        <p:nvSpPr>
          <p:cNvPr id="27" name="Shape 2">
            <a:extLst>
              <a:ext uri="{FF2B5EF4-FFF2-40B4-BE49-F238E27FC236}">
                <a16:creationId xmlns:a16="http://schemas.microsoft.com/office/drawing/2014/main" id="{B9699966-609A-7FC0-E509-50B62F24A810}"/>
              </a:ext>
            </a:extLst>
          </p:cNvPr>
          <p:cNvSpPr/>
          <p:nvPr/>
        </p:nvSpPr>
        <p:spPr>
          <a:xfrm>
            <a:off x="6080760" y="2048256"/>
            <a:ext cx="4937760" cy="1554480"/>
          </a:xfrm>
          <a:prstGeom prst="roundRect">
            <a:avLst>
              <a:gd name="adj" fmla="val 352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43041ED0-DCE7-D025-F894-636A82BD55A5}"/>
              </a:ext>
            </a:extLst>
          </p:cNvPr>
          <p:cNvSpPr/>
          <p:nvPr/>
        </p:nvSpPr>
        <p:spPr>
          <a:xfrm>
            <a:off x="6245352" y="2176272"/>
            <a:ext cx="4608576" cy="1298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import seaborn as sns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import matplotlib.pyplot as plt</a:t>
            </a:r>
            <a:endParaRPr lang="en-US" sz="920" dirty="0"/>
          </a:p>
          <a:p>
            <a:pPr marL="0" indent="0">
              <a:buNone/>
            </a:pP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sns.scatterplot(data=df,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x="PetalLength_cm",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y="PetalWidth_cm",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hue="Species")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plt.show()</a:t>
            </a:r>
            <a:endParaRPr lang="en-US" sz="920" dirty="0"/>
          </a:p>
        </p:txBody>
      </p:sp>
      <p:sp>
        <p:nvSpPr>
          <p:cNvPr id="31" name="Text 4">
            <a:extLst>
              <a:ext uri="{FF2B5EF4-FFF2-40B4-BE49-F238E27FC236}">
                <a16:creationId xmlns:a16="http://schemas.microsoft.com/office/drawing/2014/main" id="{165932B5-2F08-C0BB-DBAE-6211A6566F14}"/>
              </a:ext>
            </a:extLst>
          </p:cNvPr>
          <p:cNvSpPr/>
          <p:nvPr/>
        </p:nvSpPr>
        <p:spPr>
          <a:xfrm>
            <a:off x="6217920" y="4123944"/>
            <a:ext cx="461772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classes appear separable?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 there obvious outliers?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the relationship linear or nonlinear?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should not be concluded from the plot?</a:t>
            </a:r>
            <a:endParaRPr lang="en-US" sz="125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88589D4E-2AF5-C9F2-AF29-E35FD0A91E05}"/>
              </a:ext>
            </a:extLst>
          </p:cNvPr>
          <p:cNvSpPr/>
          <p:nvPr/>
        </p:nvSpPr>
        <p:spPr>
          <a:xfrm>
            <a:off x="713232" y="5797296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2C740831-B613-FA3A-EFD7-92BC25CEA880}"/>
              </a:ext>
            </a:extLst>
          </p:cNvPr>
          <p:cNvSpPr/>
          <p:nvPr/>
        </p:nvSpPr>
        <p:spPr>
          <a:xfrm>
            <a:off x="713232" y="5865876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Session 2 notebook</a:t>
            </a:r>
            <a:endParaRPr lang="en-US" sz="850" dirty="0"/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82246A8A-B968-E1C4-56AD-E3B9AF9BF0E7}"/>
              </a:ext>
            </a:extLst>
          </p:cNvPr>
          <p:cNvSpPr/>
          <p:nvPr/>
        </p:nvSpPr>
        <p:spPr>
          <a:xfrm>
            <a:off x="2267712" y="583387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02_session2_visualization.ipynb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959812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29DB6C-2763-6A27-C524-A241CF3B2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E0529D-842D-0D6F-C15B-8374EE09E4C2}"/>
              </a:ext>
            </a:extLst>
          </p:cNvPr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4B5B2AB-4E5D-D1F1-0481-8B63340E36CF}"/>
              </a:ext>
            </a:extLst>
          </p:cNvPr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EBF4B8C-7A50-87FC-F79D-A62491DAB36D}"/>
              </a:ext>
            </a:extLst>
          </p:cNvPr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7653BFE-5134-7E16-62D2-0CE9E0E99C68}"/>
              </a:ext>
            </a:extLst>
          </p:cNvPr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15</a:t>
            </a:r>
            <a:endParaRPr lang="en-US" sz="80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0C7F79B1-5EC4-50E7-313F-FABD07266EA1}"/>
              </a:ext>
            </a:extLst>
          </p:cNvPr>
          <p:cNvSpPr/>
          <p:nvPr/>
        </p:nvSpPr>
        <p:spPr>
          <a:xfrm>
            <a:off x="457200" y="7589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5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reuse throughout the workshop</a:t>
            </a:r>
            <a:endParaRPr lang="en-US" sz="25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A257C333-E2FA-AA3A-FAB1-A4039006DF2E}"/>
              </a:ext>
            </a:extLst>
          </p:cNvPr>
          <p:cNvSpPr/>
          <p:nvPr/>
        </p:nvSpPr>
        <p:spPr>
          <a:xfrm>
            <a:off x="475488" y="128016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Use only the plots that support the applied modeling decision.</a:t>
            </a:r>
            <a:endParaRPr lang="en-US" sz="1150" dirty="0"/>
          </a:p>
        </p:txBody>
      </p:sp>
      <p:pic>
        <p:nvPicPr>
          <p:cNvPr id="10" name="Image 0" descr="/mnt/data/session0_python_data_tools/assets/iris_scatter.png">
            <a:extLst>
              <a:ext uri="{FF2B5EF4-FFF2-40B4-BE49-F238E27FC236}">
                <a16:creationId xmlns:a16="http://schemas.microsoft.com/office/drawing/2014/main" id="{77E409DE-64C7-DAB7-1806-C5DA4E8D60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30" r="2830"/>
          <a:stretch/>
        </p:blipFill>
        <p:spPr>
          <a:xfrm>
            <a:off x="566928" y="1737360"/>
            <a:ext cx="3200400" cy="2423160"/>
          </a:xfrm>
          <a:prstGeom prst="rect">
            <a:avLst/>
          </a:prstGeom>
        </p:spPr>
      </p:pic>
      <p:pic>
        <p:nvPicPr>
          <p:cNvPr id="12" name="Image 1" descr="/mnt/data/session0_python_data_tools/assets/iris_hist.png">
            <a:extLst>
              <a:ext uri="{FF2B5EF4-FFF2-40B4-BE49-F238E27FC236}">
                <a16:creationId xmlns:a16="http://schemas.microsoft.com/office/drawing/2014/main" id="{4449261C-2936-74D2-F9B8-46468E589B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47" r="7547"/>
          <a:stretch/>
        </p:blipFill>
        <p:spPr>
          <a:xfrm>
            <a:off x="4389120" y="1737360"/>
            <a:ext cx="3200400" cy="2423160"/>
          </a:xfrm>
          <a:prstGeom prst="rect">
            <a:avLst/>
          </a:prstGeom>
        </p:spPr>
      </p:pic>
      <p:pic>
        <p:nvPicPr>
          <p:cNvPr id="14" name="Image 2" descr="/mnt/data/session0_python_data_tools/assets/iris_count.png">
            <a:extLst>
              <a:ext uri="{FF2B5EF4-FFF2-40B4-BE49-F238E27FC236}">
                <a16:creationId xmlns:a16="http://schemas.microsoft.com/office/drawing/2014/main" id="{0004C179-82BC-32DB-2E0E-C7CAFFB7BD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2" r="472"/>
          <a:stretch/>
        </p:blipFill>
        <p:spPr>
          <a:xfrm>
            <a:off x="8183880" y="1737360"/>
            <a:ext cx="3200400" cy="2423160"/>
          </a:xfrm>
          <a:prstGeom prst="rect">
            <a:avLst/>
          </a:prstGeom>
        </p:spPr>
      </p:pic>
      <p:sp>
        <p:nvSpPr>
          <p:cNvPr id="16" name="Text 2">
            <a:extLst>
              <a:ext uri="{FF2B5EF4-FFF2-40B4-BE49-F238E27FC236}">
                <a16:creationId xmlns:a16="http://schemas.microsoft.com/office/drawing/2014/main" id="{91BD52C1-8013-D748-D283-C124EB63753C}"/>
              </a:ext>
            </a:extLst>
          </p:cNvPr>
          <p:cNvSpPr/>
          <p:nvPr/>
        </p:nvSpPr>
        <p:spPr>
          <a:xfrm>
            <a:off x="594360" y="44165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80ED"/>
                </a:solidFill>
              </a:rPr>
              <a:t>Scatterplot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F80ED"/>
                </a:solidFill>
              </a:rPr>
              <a:t>relationship + separability</a:t>
            </a:r>
            <a:endParaRPr lang="en-US" sz="13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66BB82CE-715D-8BB0-7A3F-97BD54B3E921}"/>
              </a:ext>
            </a:extLst>
          </p:cNvPr>
          <p:cNvSpPr/>
          <p:nvPr/>
        </p:nvSpPr>
        <p:spPr>
          <a:xfrm>
            <a:off x="4434840" y="44165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</a:rPr>
              <a:t>Histogram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</a:rPr>
              <a:t>distribution + overlap</a:t>
            </a:r>
            <a:endParaRPr lang="en-US" sz="130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4B256B3A-B651-84ED-43BB-E68989C20BEA}"/>
              </a:ext>
            </a:extLst>
          </p:cNvPr>
          <p:cNvSpPr/>
          <p:nvPr/>
        </p:nvSpPr>
        <p:spPr>
          <a:xfrm>
            <a:off x="8229600" y="44165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97316"/>
                </a:solidFill>
              </a:rPr>
              <a:t>Count plot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97316"/>
                </a:solidFill>
              </a:rPr>
              <a:t>target balance</a:t>
            </a:r>
            <a:endParaRPr lang="en-US" sz="13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2D31BEA7-78D3-E93C-8F3B-CD013B7E6215}"/>
              </a:ext>
            </a:extLst>
          </p:cNvPr>
          <p:cNvSpPr/>
          <p:nvPr/>
        </p:nvSpPr>
        <p:spPr>
          <a:xfrm>
            <a:off x="731520" y="560527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55B"/>
                </a:solidFill>
              </a:rPr>
              <a:t>Instructor prompt</a:t>
            </a:r>
            <a:endParaRPr lang="en-US" sz="1500" dirty="0"/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107E6AEB-943E-DE66-B3E8-C388DC74781E}"/>
              </a:ext>
            </a:extLst>
          </p:cNvPr>
          <p:cNvSpPr/>
          <p:nvPr/>
        </p:nvSpPr>
        <p:spPr>
          <a:xfrm>
            <a:off x="731520" y="5943600"/>
            <a:ext cx="10515600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</a:rPr>
              <a:t>“Use the plot to decide what question to ask next. Do not treat visualization as proof of causality or final model performance.”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2503707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Task chooser: match the question to the task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</a:rPr>
              <a:t>Task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1234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</a:rPr>
              <a:t>Question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12344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</a:rPr>
              <a:t>Data signal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635240" y="1234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</a:rPr>
              <a:t>Early metric or check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276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b="1" dirty="0">
                <a:solidFill>
                  <a:srgbClr val="1F2937"/>
                </a:solidFill>
              </a:rPr>
              <a:t>Regression</a:t>
            </a:r>
            <a:endParaRPr lang="en-US" sz="1330" dirty="0"/>
          </a:p>
        </p:txBody>
      </p:sp>
      <p:sp>
        <p:nvSpPr>
          <p:cNvPr id="11" name="Text 9"/>
          <p:cNvSpPr/>
          <p:nvPr/>
        </p:nvSpPr>
        <p:spPr>
          <a:xfrm>
            <a:off x="2743200" y="1627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How much?</a:t>
            </a:r>
            <a:endParaRPr lang="en-US" sz="1330" dirty="0"/>
          </a:p>
        </p:txBody>
      </p:sp>
      <p:sp>
        <p:nvSpPr>
          <p:cNvPr id="12" name="Text 10"/>
          <p:cNvSpPr/>
          <p:nvPr/>
        </p:nvSpPr>
        <p:spPr>
          <a:xfrm>
            <a:off x="5029200" y="16276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Continuous target</a:t>
            </a:r>
            <a:endParaRPr lang="en-US" sz="1330" dirty="0"/>
          </a:p>
        </p:txBody>
      </p:sp>
      <p:sp>
        <p:nvSpPr>
          <p:cNvPr id="13" name="Text 11"/>
          <p:cNvSpPr/>
          <p:nvPr/>
        </p:nvSpPr>
        <p:spPr>
          <a:xfrm>
            <a:off x="7635240" y="1627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MAE / RMSE / R²</a:t>
            </a:r>
            <a:endParaRPr lang="en-US" sz="1330" dirty="0"/>
          </a:p>
        </p:txBody>
      </p:sp>
      <p:sp>
        <p:nvSpPr>
          <p:cNvPr id="14" name="Shape 12"/>
          <p:cNvSpPr/>
          <p:nvPr/>
        </p:nvSpPr>
        <p:spPr>
          <a:xfrm>
            <a:off x="640080" y="2020824"/>
            <a:ext cx="1051560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2860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b="1" dirty="0">
                <a:solidFill>
                  <a:srgbClr val="1F2937"/>
                </a:solidFill>
              </a:rPr>
              <a:t>Classification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274320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Which category?</a:t>
            </a:r>
            <a:endParaRPr lang="en-US" sz="1330" dirty="0"/>
          </a:p>
        </p:txBody>
      </p:sp>
      <p:sp>
        <p:nvSpPr>
          <p:cNvPr id="17" name="Text 15"/>
          <p:cNvSpPr/>
          <p:nvPr/>
        </p:nvSpPr>
        <p:spPr>
          <a:xfrm>
            <a:off x="5029200" y="22860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Known labels</a:t>
            </a:r>
            <a:endParaRPr lang="en-US" sz="1330" dirty="0"/>
          </a:p>
        </p:txBody>
      </p:sp>
      <p:sp>
        <p:nvSpPr>
          <p:cNvPr id="18" name="Text 16"/>
          <p:cNvSpPr/>
          <p:nvPr/>
        </p:nvSpPr>
        <p:spPr>
          <a:xfrm>
            <a:off x="76352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Precision / recall / F1</a:t>
            </a:r>
            <a:endParaRPr lang="en-US" sz="1330" dirty="0"/>
          </a:p>
        </p:txBody>
      </p:sp>
      <p:sp>
        <p:nvSpPr>
          <p:cNvPr id="19" name="Shape 17"/>
          <p:cNvSpPr/>
          <p:nvPr/>
        </p:nvSpPr>
        <p:spPr>
          <a:xfrm>
            <a:off x="640080" y="2679192"/>
            <a:ext cx="1051560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294436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b="1" dirty="0">
                <a:solidFill>
                  <a:srgbClr val="1F2937"/>
                </a:solidFill>
              </a:rPr>
              <a:t>Clustering</a:t>
            </a:r>
            <a:endParaRPr lang="en-US" sz="1330" dirty="0"/>
          </a:p>
        </p:txBody>
      </p:sp>
      <p:sp>
        <p:nvSpPr>
          <p:cNvPr id="21" name="Text 19"/>
          <p:cNvSpPr/>
          <p:nvPr/>
        </p:nvSpPr>
        <p:spPr>
          <a:xfrm>
            <a:off x="2743200" y="2944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What groups?</a:t>
            </a:r>
            <a:endParaRPr lang="en-US" sz="1330" dirty="0"/>
          </a:p>
        </p:txBody>
      </p:sp>
      <p:sp>
        <p:nvSpPr>
          <p:cNvPr id="22" name="Text 20"/>
          <p:cNvSpPr/>
          <p:nvPr/>
        </p:nvSpPr>
        <p:spPr>
          <a:xfrm>
            <a:off x="5029200" y="29443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No target label</a:t>
            </a:r>
            <a:endParaRPr lang="en-US" sz="1330" dirty="0"/>
          </a:p>
        </p:txBody>
      </p:sp>
      <p:sp>
        <p:nvSpPr>
          <p:cNvPr id="23" name="Text 21"/>
          <p:cNvSpPr/>
          <p:nvPr/>
        </p:nvSpPr>
        <p:spPr>
          <a:xfrm>
            <a:off x="7635240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Separation + interpretation</a:t>
            </a:r>
            <a:endParaRPr lang="en-US" sz="1330" dirty="0"/>
          </a:p>
        </p:txBody>
      </p:sp>
      <p:sp>
        <p:nvSpPr>
          <p:cNvPr id="24" name="Shape 22"/>
          <p:cNvSpPr/>
          <p:nvPr/>
        </p:nvSpPr>
        <p:spPr>
          <a:xfrm>
            <a:off x="640080" y="3337560"/>
            <a:ext cx="1051560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0080" y="360273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30" b="1" dirty="0">
                <a:solidFill>
                  <a:srgbClr val="1F2937"/>
                </a:solidFill>
              </a:rPr>
              <a:t>Dimensionality reduction</a:t>
            </a:r>
            <a:endParaRPr lang="en-US" sz="1330" dirty="0"/>
          </a:p>
        </p:txBody>
      </p:sp>
      <p:sp>
        <p:nvSpPr>
          <p:cNvPr id="26" name="Text 24"/>
          <p:cNvSpPr/>
          <p:nvPr/>
        </p:nvSpPr>
        <p:spPr>
          <a:xfrm>
            <a:off x="2743200" y="36027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Can we simplify?</a:t>
            </a:r>
            <a:endParaRPr lang="en-US" sz="1330" dirty="0"/>
          </a:p>
        </p:txBody>
      </p:sp>
      <p:sp>
        <p:nvSpPr>
          <p:cNvPr id="27" name="Text 25"/>
          <p:cNvSpPr/>
          <p:nvPr/>
        </p:nvSpPr>
        <p:spPr>
          <a:xfrm>
            <a:off x="5029200" y="360273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Many variables</a:t>
            </a:r>
            <a:endParaRPr lang="en-US" sz="1330" dirty="0"/>
          </a:p>
        </p:txBody>
      </p:sp>
      <p:sp>
        <p:nvSpPr>
          <p:cNvPr id="28" name="Text 26"/>
          <p:cNvSpPr/>
          <p:nvPr/>
        </p:nvSpPr>
        <p:spPr>
          <a:xfrm>
            <a:off x="7635240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Explained variance</a:t>
            </a:r>
            <a:endParaRPr lang="en-US" sz="1330" dirty="0"/>
          </a:p>
        </p:txBody>
      </p:sp>
      <p:sp>
        <p:nvSpPr>
          <p:cNvPr id="29" name="Shape 27"/>
          <p:cNvSpPr/>
          <p:nvPr/>
        </p:nvSpPr>
        <p:spPr>
          <a:xfrm>
            <a:off x="640080" y="3995928"/>
            <a:ext cx="1051560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0080" y="426110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b="1" dirty="0">
                <a:solidFill>
                  <a:srgbClr val="1F2937"/>
                </a:solidFill>
              </a:rPr>
              <a:t>Forecasting</a:t>
            </a:r>
            <a:endParaRPr lang="en-US" sz="1330" dirty="0"/>
          </a:p>
        </p:txBody>
      </p:sp>
      <p:sp>
        <p:nvSpPr>
          <p:cNvPr id="31" name="Text 29"/>
          <p:cNvSpPr/>
          <p:nvPr/>
        </p:nvSpPr>
        <p:spPr>
          <a:xfrm>
            <a:off x="2743200" y="42611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What next?</a:t>
            </a:r>
            <a:endParaRPr lang="en-US" sz="1330" dirty="0"/>
          </a:p>
        </p:txBody>
      </p:sp>
      <p:sp>
        <p:nvSpPr>
          <p:cNvPr id="32" name="Text 30"/>
          <p:cNvSpPr/>
          <p:nvPr/>
        </p:nvSpPr>
        <p:spPr>
          <a:xfrm>
            <a:off x="5029200" y="426110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Time-ordered data</a:t>
            </a:r>
            <a:endParaRPr lang="en-US" sz="1330" dirty="0"/>
          </a:p>
        </p:txBody>
      </p:sp>
      <p:sp>
        <p:nvSpPr>
          <p:cNvPr id="33" name="Text 31"/>
          <p:cNvSpPr/>
          <p:nvPr/>
        </p:nvSpPr>
        <p:spPr>
          <a:xfrm>
            <a:off x="7635240" y="42611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Future prediction error</a:t>
            </a:r>
            <a:endParaRPr lang="en-US" sz="1330" dirty="0"/>
          </a:p>
        </p:txBody>
      </p:sp>
      <p:sp>
        <p:nvSpPr>
          <p:cNvPr id="34" name="Shape 32"/>
          <p:cNvSpPr/>
          <p:nvPr/>
        </p:nvSpPr>
        <p:spPr>
          <a:xfrm>
            <a:off x="640080" y="4654296"/>
            <a:ext cx="1051560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0080" y="491947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b="1" dirty="0">
                <a:solidFill>
                  <a:srgbClr val="1F2937"/>
                </a:solidFill>
              </a:rPr>
              <a:t>Anomaly detection</a:t>
            </a:r>
            <a:endParaRPr lang="en-US" sz="1330" dirty="0"/>
          </a:p>
        </p:txBody>
      </p:sp>
      <p:sp>
        <p:nvSpPr>
          <p:cNvPr id="36" name="Text 34"/>
          <p:cNvSpPr/>
          <p:nvPr/>
        </p:nvSpPr>
        <p:spPr>
          <a:xfrm>
            <a:off x="274320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What is unusual?</a:t>
            </a:r>
            <a:endParaRPr lang="en-US" sz="1330" dirty="0"/>
          </a:p>
        </p:txBody>
      </p:sp>
      <p:sp>
        <p:nvSpPr>
          <p:cNvPr id="37" name="Text 35"/>
          <p:cNvSpPr/>
          <p:nvPr/>
        </p:nvSpPr>
        <p:spPr>
          <a:xfrm>
            <a:off x="5029200" y="4919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Rare or unknown events</a:t>
            </a:r>
            <a:endParaRPr lang="en-US" sz="1330" dirty="0"/>
          </a:p>
        </p:txBody>
      </p:sp>
      <p:sp>
        <p:nvSpPr>
          <p:cNvPr id="38" name="Text 36"/>
          <p:cNvSpPr/>
          <p:nvPr/>
        </p:nvSpPr>
        <p:spPr>
          <a:xfrm>
            <a:off x="7635240" y="49194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B7280"/>
                </a:solidFill>
              </a:rPr>
              <a:t>False alarms / missed events</a:t>
            </a:r>
            <a:endParaRPr lang="en-US" sz="1330" dirty="0"/>
          </a:p>
        </p:txBody>
      </p:sp>
      <p:sp>
        <p:nvSpPr>
          <p:cNvPr id="39" name="Shape 37"/>
          <p:cNvSpPr/>
          <p:nvPr/>
        </p:nvSpPr>
        <p:spPr>
          <a:xfrm>
            <a:off x="640080" y="5312664"/>
            <a:ext cx="1051560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Activity: scenario sorting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25296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</a:rPr>
              <a:t>For each scenario, identify the ML task and defend the choice in one sentence.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1828800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7552" y="1956816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A. Predict final strength from process parameters.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82512" y="1956816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B. Determine whether an image shows abnormality.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2788920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87552" y="2916936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C. Identify natural groups of participants.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2788920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82512" y="2916936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D. Summarize 50 sensor variables into fewer components.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87552" y="3877056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E. Predict next week’s energy demand.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749040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82512" y="3877056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F. Flag unusual laboratory measurements.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051560" y="5349240"/>
            <a:ext cx="10012680" cy="530352"/>
          </a:xfrm>
          <a:prstGeom prst="roundRect">
            <a:avLst>
              <a:gd name="adj" fmla="val 13793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16152" y="5477256"/>
            <a:ext cx="9683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102E"/>
                </a:solidFill>
              </a:rPr>
              <a:t>Debrief: Which scenarios were ambiguous? What extra information would resolve the task choice?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Classroom discussion prompts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1353312"/>
            <a:ext cx="47091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33272" y="1481328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Can the same dataset support more than one task?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353312"/>
            <a:ext cx="47091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82512" y="1481328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What task requires labeled data?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68680" y="2542032"/>
            <a:ext cx="47091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33272" y="2670048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When is clustering scientifically meaningful?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542032"/>
            <a:ext cx="47091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82512" y="2670048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How is forecasting different from ordinary regression?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" y="3730752"/>
            <a:ext cx="47091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858768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How is anomaly detection different from fault classification?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3730752"/>
            <a:ext cx="47091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82512" y="3858768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What does classic ML provide that an LLM alone does not?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715000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Discussion goal: make model choice a transparent disciplinary argument, not a default software selection.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2 outputs and transition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1F2937"/>
                </a:solidFill>
              </a:rPr>
              <a:t>You should </a:t>
            </a:r>
            <a:r>
              <a:rPr lang="en-US" sz="2100" b="1" dirty="0">
                <a:solidFill>
                  <a:srgbClr val="1F2937"/>
                </a:solidFill>
              </a:rPr>
              <a:t>leave with: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20299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08760" y="2057400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A task-family choice for their framed problem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68833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08760" y="271576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A reason the choice matches the research or teaching question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33467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3374136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A first baseline idea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40050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08760" y="4032504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One evaluation metric or qualitative check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4663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5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08760" y="4690872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One ambiguity or missing data item to resolve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60120" y="5577840"/>
            <a:ext cx="10195560" cy="566928"/>
          </a:xfrm>
          <a:prstGeom prst="roundRect">
            <a:avLst>
              <a:gd name="adj" fmla="val 12903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24712" y="5705856"/>
            <a:ext cx="9866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102E"/>
                </a:solidFill>
              </a:rPr>
              <a:t>Next: Regression fundamentals — predicting continuous disciplinary outcomes and interpreting error.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1629</Words>
  <Application>Microsoft Office PowerPoint</Application>
  <PresentationFormat>Widescreen</PresentationFormat>
  <Paragraphs>375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NC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Classic Machine Learning Overview</dc:title>
  <dc:subject>Session 2 Applied AI Design Workshop</dc:subject>
  <dc:creator>Fred Livingston</dc:creator>
  <cp:lastModifiedBy>Fred Livingston</cp:lastModifiedBy>
  <cp:revision>9</cp:revision>
  <dcterms:created xsi:type="dcterms:W3CDTF">2026-07-14T20:43:07Z</dcterms:created>
  <dcterms:modified xsi:type="dcterms:W3CDTF">2026-07-15T15:33:53Z</dcterms:modified>
</cp:coreProperties>
</file>