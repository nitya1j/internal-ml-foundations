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88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5006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FCE649E6-3030-9D58-4EBB-48989173AA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0402" y="369306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jliving@ncsu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13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SESSION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</a:rPr>
              <a:t>Classification Fundamentals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13232" y="2304288"/>
            <a:ext cx="6080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Logistic regression • Decision trees • Confusion matrices • Precision • Recall • F1-score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44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Applied AI Design Workshop for Faculty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3101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Fred Livingston (</a:t>
            </a:r>
            <a:r>
              <a:rPr lang="en-US" sz="1200" dirty="0">
                <a:solidFill>
                  <a:srgbClr val="6B7280"/>
                </a:solidFill>
                <a:hlinkClick r:id="rId3"/>
              </a:rPr>
              <a:t>fjliving@ncsu.edu</a:t>
            </a:r>
            <a:r>
              <a:rPr lang="en-US" sz="1200" dirty="0">
                <a:solidFill>
                  <a:srgbClr val="6B7280"/>
                </a:solidFill>
              </a:rPr>
              <a:t>)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730752"/>
            <a:ext cx="58521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60920" y="96012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25512" y="1078992"/>
            <a:ext cx="35570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Goal: build intuition for predicting categories and choosing metrics based on the cost of errors.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60920" y="233172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25512" y="2450592"/>
            <a:ext cx="3557016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Session focus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Classification problem framing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Probabilities and thresholds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Logistic regression and trees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Confusion matrices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Precision, recall, and F1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2344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From engineering problem to ML problem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6276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37360" y="18745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Classic ML overview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2677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37360" y="251460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Invited presentation: From Prompts to Agents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90779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37360" y="315468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Break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354787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379476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Regression fundamentals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418795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44348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Classification fundamentals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8280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737360" y="50749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Hands-on baseline model activity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681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784080" y="1143000"/>
            <a:ext cx="1508760" cy="16916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48672" y="1261872"/>
            <a:ext cx="1179576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Earlier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Problem framing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Regression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84080" y="342900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48672" y="3547872"/>
            <a:ext cx="11795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Now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784080" y="425196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948672" y="4370832"/>
            <a:ext cx="1179576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Next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Hands-on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baseline model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4 learning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1901952" cy="2148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1572768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Frame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Recognize when a categorical target makes classification appropriate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2926080" y="1783080"/>
            <a:ext cx="1901952" cy="2148840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90672" y="1901952"/>
            <a:ext cx="1572768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Explain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Describe logistic regression, decision trees, and predicted probabilities</a:t>
            </a:r>
            <a:endParaRPr lang="en-US" sz="1380" dirty="0"/>
          </a:p>
        </p:txBody>
      </p:sp>
      <p:sp>
        <p:nvSpPr>
          <p:cNvPr id="10" name="Shape 8"/>
          <p:cNvSpPr/>
          <p:nvPr/>
        </p:nvSpPr>
        <p:spPr>
          <a:xfrm>
            <a:off x="5193792" y="1783080"/>
            <a:ext cx="1901952" cy="2148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58384" y="1901952"/>
            <a:ext cx="1572768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Evaluate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Interpret confusion matrices and common classification metrics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7461504" y="1783080"/>
            <a:ext cx="1901952" cy="2148840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26096" y="1901952"/>
            <a:ext cx="1572768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Choose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Select metrics based on consequences of false positives and false negatives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9729216" y="1783080"/>
            <a:ext cx="1901952" cy="2148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893808" y="1901952"/>
            <a:ext cx="1572768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Prepare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b="1" dirty="0">
                <a:solidFill>
                  <a:srgbClr val="1F2937"/>
                </a:solidFill>
              </a:rPr>
              <a:t>Connect classification concepts to the baseline model activity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960120" y="5074920"/>
            <a:ext cx="10058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102E"/>
                </a:solidFill>
              </a:rPr>
              <a:t>Participant output: a classification problem statement, a baseline choice, an initial metric, and one discussion of error consequences.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a problem a classification problem?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424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Classification predicts a category or class label. The model is judged by whether the predicted class is correct and which errors matter most.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87452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41832" y="1993392"/>
            <a:ext cx="29169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Use classification when asking: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Which category?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Pass or fail?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Normal or faulty?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Eligible or not?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Which condition?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187452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99432" y="1993392"/>
            <a:ext cx="29169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Typical targets: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Defective / acceptable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Fault / no fault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Risk level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Material type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Operating mode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Course outcome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1993392"/>
            <a:ext cx="29169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Not classification when: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Target is continuous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Goal is discovering unknown groups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No labeled examples exist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The output is a ranking only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C8102E"/>
                </a:solidFill>
              </a:rPr>
              <a:t>Key discipline question: Which error is more costly — a false alarm or a missed case?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write a classification problem statement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Use the template to convert a disciplinary problem into a classification task.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103784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8992" y="1993392"/>
            <a:ext cx="10049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102E"/>
                </a:solidFill>
              </a:rPr>
              <a:t>Using __________ as inputs, develop a classification model to predict __________ for each __________, with performance evaluated using __________.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342900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78992" y="3547872"/>
            <a:ext cx="1819656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Inputs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Variables available before prediction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520440" y="342900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85032" y="3547872"/>
            <a:ext cx="1819656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Class label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Category or state to predict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26480" y="342900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91072" y="3547872"/>
            <a:ext cx="1819656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Unit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Part, sample, student, machine cycle, image, day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32520" y="3429000"/>
            <a:ext cx="21488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897112" y="3547872"/>
            <a:ext cx="1819656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Metric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Accuracy, precision, recall, F1, or class-specific target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Quick check: are the labels trustworthy, consistent, and available for enough examples?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Example: product quality classification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classification dataset pairs measured features with a categorical label such as acceptable or defective.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Part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9384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Temp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90088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Speed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50792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Vibration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11496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Roughness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72200" y="182880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Label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29384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185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90088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50792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0.18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11496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2.4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Accept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2542032"/>
            <a:ext cx="63093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9384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90088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50792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0.35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11496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4.2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2688336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Defect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2962656"/>
            <a:ext cx="63093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8680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29384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174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990088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50792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0.22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11496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2.9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3108960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Accept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3383280"/>
            <a:ext cx="63093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68680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929384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205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990088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50792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0.48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11496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5.1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172200" y="3529584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Defect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2960" y="3803904"/>
            <a:ext cx="63093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68680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929384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990088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44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050792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0.20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111496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2.5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172200" y="3950208"/>
            <a:ext cx="9509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Accept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2960" y="4224528"/>
            <a:ext cx="63093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498080" y="169164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662672" y="1810512"/>
            <a:ext cx="33284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Prediction objective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Classify whether a part is acceptable before final inspection.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498080" y="30175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662672" y="3136392"/>
            <a:ext cx="33284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Baseline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majority class for every part.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498080" y="434340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662672" y="4462272"/>
            <a:ext cx="332841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Metric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 recall for defects when missed defects are expensive.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a classification baseline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16152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F2937"/>
                </a:solidFill>
              </a:rPr>
              <a:t>A baseline clarifies whether the classifier adds value beyond the simplest possible decision rule.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Majority-class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most frequent class for every case.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Essential when classes are imbalanced.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Random or stratified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classes based on observed class proportions.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Useful for sanity checking.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027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Domain-rule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 a threshold, checklist, expert rule, or existing procedure.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Often the fairest comparison.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39496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Discussion prompt: Would stakeholders accept a model that beats accuracy but misses the most important cases?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regression: probabilities for class membership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Logistic regression estimates the probability that an observation belongs to a class, then applies a decision threshold.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4892040"/>
            <a:ext cx="493776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4892040"/>
            <a:ext cx="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487498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7435" y="487123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66190" y="486666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64946" y="486110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63701" y="485433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362456" y="484610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461211" y="483612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559966" y="482401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658722" y="4809351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757477" y="479163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856232" y="477027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954987" y="474459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053742" y="4713821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52498" y="4677091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251253" y="4633459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50008" y="458192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448763" y="452144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47518" y="4451031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646274" y="436979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5029" y="427703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843784" y="417239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942539" y="405591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041294" y="3928183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140050" y="379040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238805" y="3644376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337560" y="349249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436315" y="333756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535070" y="318262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33826" y="3030744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732581" y="288472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831336" y="2746937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930091" y="261920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028846" y="2502727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127602" y="239808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226357" y="230532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325112" y="2224089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423867" y="2153677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22622" y="209320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621378" y="2041661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720133" y="1998029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18888" y="1961299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917643" y="193052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016398" y="190484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115154" y="1883485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213909" y="1865769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312664" y="185110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411419" y="1838998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510174" y="1829012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608930" y="1820787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707685" y="1814020"/>
            <a:ext cx="98755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68680" y="3337560"/>
            <a:ext cx="493776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331720" y="5166360"/>
            <a:ext cx="1737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Feature score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9728" y="3108960"/>
            <a:ext cx="594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P(class)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492240" y="178308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656832" y="190195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Decision rule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If P(defect) ≥ threshold → classify as defect</a:t>
            </a:r>
            <a:endParaRPr lang="en-US" sz="1700" dirty="0"/>
          </a:p>
        </p:txBody>
      </p:sp>
      <p:sp>
        <p:nvSpPr>
          <p:cNvPr id="64" name="Shape 62"/>
          <p:cNvSpPr/>
          <p:nvPr/>
        </p:nvSpPr>
        <p:spPr>
          <a:xfrm>
            <a:off x="6492240" y="310896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656832" y="322783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Interpretation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Coefficients describe how features shift log-odds, not direct class labels.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6492240" y="44348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656832" y="455371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Caution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The default 0.50 threshold may not match the cost of errors.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trees: interpretable rule-based classification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Decision trees split the data into increasingly pure groups using feature-based rules.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93392"/>
            <a:ext cx="23682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Root question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Is vibration &gt; 0.30?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886200" y="18745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50792" y="1993392"/>
            <a:ext cx="23682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Branch question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Is roughness &gt; 3.5?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03720" y="18745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68312" y="1993392"/>
            <a:ext cx="15453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Leaf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Defect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0" y="18745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08592" y="1993392"/>
            <a:ext cx="15453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</a:rPr>
              <a:t>Leaf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</a:rPr>
              <a:t>Accept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3337560"/>
            <a:ext cx="101498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A path through the tree becomes a rule: if vibration is high, flag defect; otherwise inspect roughness.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68680" y="420624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4325112"/>
            <a:ext cx="27797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Strength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Easy to explain as a sequence of rules.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434840" y="420624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99432" y="4325112"/>
            <a:ext cx="27797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Risk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Deep trees can overfit training data.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01000" y="420624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165592" y="4325112"/>
            <a:ext cx="277977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Control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Limit depth, require minimum samples per leaf, or prune.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 matrix: the basic language of classification error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confusion matrix separates correct predictions from different types of mistakes.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65176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7280"/>
                </a:solidFill>
              </a:rPr>
              <a:t>Predicted class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" y="3246120"/>
            <a:ext cx="548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</a:rPr>
              <a:t>Actual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" y="3520440"/>
            <a:ext cx="548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</a:rPr>
              <a:t>class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224028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2359152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Defect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0" y="224028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359152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Accept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2880360"/>
            <a:ext cx="777240" cy="91440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2999232"/>
            <a:ext cx="4480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</a:rPr>
              <a:t>Defect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3931920"/>
            <a:ext cx="777240" cy="91440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4050792"/>
            <a:ext cx="4480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</a:rPr>
              <a:t>Accept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0" y="288036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993392" y="2999232"/>
            <a:ext cx="13624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TP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Detected defects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0" y="288036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22192" y="2999232"/>
            <a:ext cx="13624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</a:rPr>
              <a:t>FN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</a:rPr>
              <a:t>Missed defects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828800" y="39319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993392" y="4050792"/>
            <a:ext cx="13624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FP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False alarms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657600" y="39319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22192" y="4050792"/>
            <a:ext cx="13624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TN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Correct accepts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583680" y="1874520"/>
            <a:ext cx="4480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48272" y="1993392"/>
            <a:ext cx="415137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False negative: a defect is missed.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83680" y="3063240"/>
            <a:ext cx="4480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48272" y="3182112"/>
            <a:ext cx="415137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False positive: an acceptable part is flagged.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6583680" y="4251960"/>
            <a:ext cx="4480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748272" y="4370832"/>
            <a:ext cx="415137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2937"/>
                </a:solidFill>
              </a:rPr>
              <a:t>Different applications assign different costs to these errors.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metrics: accuracy is not enough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16152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Metrics should match the consequences of different mistakes, especially for imbalanced classes.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Accuracy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423160" y="1828800"/>
            <a:ext cx="3200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Overall percent correct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852160" y="1828800"/>
            <a:ext cx="5166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Can be misleading when one class dominates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1284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1463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Precision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42316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Of predicted positives, how many were correct?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52160" y="2697480"/>
            <a:ext cx="5166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Use when false alarms are costly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08152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Recall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423160" y="3566160"/>
            <a:ext cx="3200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Of actual positives, how many were found?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52160" y="3566160"/>
            <a:ext cx="5166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Use when missed cases are costly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395020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4434840"/>
            <a:ext cx="1463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F1-score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423160" y="4434840"/>
            <a:ext cx="3200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Balance of precision and recall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852160" y="4434840"/>
            <a:ext cx="5166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Useful when both false alarms and misses matter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481888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60120" y="5486400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124712" y="5605272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Metric choice is a design decision: it defines which mistakes the model is allowed to make.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 imbalance: when accuracy hides failure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model can appear highly accurate by ignoring rare but important classes.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28800"/>
            <a:ext cx="29260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47672"/>
            <a:ext cx="2596896" cy="2724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Scenario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1000 parts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950 acceptable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50 defective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Majority baseline predicts every part as acceptable.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2926080" cy="292608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62272" y="1947672"/>
            <a:ext cx="2596896" cy="2724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Result</a:t>
            </a:r>
            <a:endParaRPr lang="en-US" sz="1700" dirty="0"/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Accuracy = 95%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Defect recall = 0%</a:t>
            </a:r>
            <a:endParaRPr lang="en-US" sz="1700" dirty="0"/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The model misses every defective part.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26680" y="1828800"/>
            <a:ext cx="29260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891272" y="1947672"/>
            <a:ext cx="2596896" cy="2724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Better questions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How many defects are found?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How many false alarms occur?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What threshold should trigger review?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thresholds: choosing where to draw the 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Many classifiers return probabilities. Changing the threshold changes false positives and false negatives.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9875520" cy="0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0" cy="2743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044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2743200"/>
            <a:ext cx="0" cy="2743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46120" y="3044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0.25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2743200"/>
            <a:ext cx="0" cy="2743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3044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0.5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321040" y="2743200"/>
            <a:ext cx="0" cy="2743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83880" y="3044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0.75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789920" y="2743200"/>
            <a:ext cx="0" cy="2743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52760" y="3044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52160" y="2331720"/>
            <a:ext cx="0" cy="109728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83480" y="1965960"/>
            <a:ext cx="18288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Default threshold 0.50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379476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33272" y="3913632"/>
            <a:ext cx="287121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Lower threshold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More positives flagged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Higher recall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More false alarms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480560" y="379476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45152" y="3913632"/>
            <a:ext cx="287121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Higher threshold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Fewer positives flagged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Higher precision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More missed cases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92440" y="379476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257032" y="3913632"/>
            <a:ext cx="287121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Best threshold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Depends on cost, capacity, risk, and review process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interpret model outputs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Compare two classifiers and decide which is more appropriate for quality inspection.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288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47672"/>
            <a:ext cx="26883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Model A</a:t>
            </a:r>
            <a:endParaRPr lang="en-US" sz="1800" dirty="0"/>
          </a:p>
          <a:p>
            <a:pPr marL="0" indent="0" algn="ctr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Accuracy: 94%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Precision: 70%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Recall: 40%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F1-score: 51%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0" y="18288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36592" y="1947672"/>
            <a:ext cx="26883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Model B</a:t>
            </a:r>
            <a:endParaRPr lang="en-US" sz="1800" dirty="0"/>
          </a:p>
          <a:p>
            <a:pPr marL="0" indent="0" algn="ctr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Accuracy: 91%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Precision: 55%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Recall: 82%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F1-score: 66%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75320" y="182880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39912" y="1947672"/>
            <a:ext cx="2688336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Decision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Which model should be selected if missed defects are costly?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Which if false alarms are costly?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074920"/>
            <a:ext cx="10332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Debrief: a lower accuracy model may be the better disciplinary choice when it reduces the more serious error.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Examples Datasets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15087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Manufacturing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154680" y="1325880"/>
            <a:ext cx="7772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Classify product acceptability, defect type, machine state, or process condition from measurements.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15087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Bioprocessing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54680" y="2148840"/>
            <a:ext cx="7772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Classify growth phase, contamination risk, or abnormal operating state from sensor summaries.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1051560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971800"/>
            <a:ext cx="15087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Buildings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971800"/>
            <a:ext cx="7772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Classify occupancy state, energy anomaly, or equipment fault from time and sensor data.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383280"/>
            <a:ext cx="1051560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794760"/>
            <a:ext cx="15087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Education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54680" y="3794760"/>
            <a:ext cx="7772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Classify early support need or course outcome from activity and performance indicators.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4206240"/>
            <a:ext cx="1051560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4617720"/>
            <a:ext cx="15087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Equipment health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54680" y="4617720"/>
            <a:ext cx="77724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Classify normal, warning, and fault states from vibration, current, temperature, and runtime.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Classroom discussion prompts and transition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325880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1444752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Why can accuracy be misleading?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82512" y="1444752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Which error is more costly: false positive or false negative?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68680" y="2359152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33272" y="2478024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Should the threshold always be 0.50?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17920" y="2359152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82512" y="2478024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When is a decision tree preferable to logistic regression?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68680" y="3392424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511296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How trustworthy are the class labels?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3392424"/>
            <a:ext cx="4709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82512" y="3511296"/>
            <a:ext cx="43799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F2937"/>
                </a:solidFill>
              </a:rPr>
              <a:t>What baseline represents current practice?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960120" y="4983480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24712" y="5102352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Session synthesis: classification is not just about predicting labels — it is about choosing errors that align with disciplinary consequences.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0120" y="5715000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24712" y="5833872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</a:rPr>
              <a:t>Next: Hands-on baseline model activity — apply regression or classification to a small dataset.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1447</Words>
  <Application>Microsoft Office PowerPoint</Application>
  <PresentationFormat>Widescreen</PresentationFormat>
  <Paragraphs>339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Fundamentals</dc:title>
  <dc:subject>Session 4 Applied AI Design Workshop</dc:subject>
  <dc:creator>Fred Livingston</dc:creator>
  <cp:lastModifiedBy>Fred Livingston</cp:lastModifiedBy>
  <cp:revision>5</cp:revision>
  <dcterms:created xsi:type="dcterms:W3CDTF">2026-07-14T20:49:31Z</dcterms:created>
  <dcterms:modified xsi:type="dcterms:W3CDTF">2026-07-15T03:46:58Z</dcterms:modified>
</cp:coreProperties>
</file>