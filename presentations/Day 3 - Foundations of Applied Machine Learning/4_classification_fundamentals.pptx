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006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8EA9-C69C-127B-4EBA-8BECBC1A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4B645-E362-F8A8-EA6B-9B1D92258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541BA-B9CC-B403-11F8-32BF58500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0D0BB-F817-6784-DE5B-1186DB86D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6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FCE649E6-3030-9D58-4EBB-48989173AA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402" y="369306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Classification Fundamentals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2304288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Logistic regression • Decision trees • Confusion matrices • Precision • Recall • F1-score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44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310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30752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78992"/>
            <a:ext cx="35570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build intuition for predicting categories and choosing metrics based on the cost of errors.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3172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450592"/>
            <a:ext cx="355701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Session focus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Classification problem framing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Probabilities and thresholds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Logistic regression and trees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Confusion matrices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Precision, recall, and F1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From engineering problem to ML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Classic ML overview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51460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Invited presentation: From Prompts to Agents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15468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Break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Regression fundamentals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44348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Classification fundamentals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8280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50749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Hands-on baseline model activity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4681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080" y="1143000"/>
            <a:ext cx="1508760" cy="16916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48672" y="1261872"/>
            <a:ext cx="117957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Earlier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Problem framing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84080" y="34290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48672" y="3547872"/>
            <a:ext cx="11795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784080" y="42519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48672" y="4370832"/>
            <a:ext cx="117957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Next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Hands-on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baseline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4 learning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Frame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Recognize when a categorical target makes classification appropriate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Explain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Describe logistic regression, decision trees, and predicted probabilities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5193792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Evaluate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Interpret confusion matrices and common classification metrics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461504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6096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Choose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Select metrics based on consequences of false positives and false negatives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9729216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93808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Prepare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Connect classification concepts to the baseline model activity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60120" y="5074920"/>
            <a:ext cx="10058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</a:rPr>
              <a:t>Participant output: a classification problem statement, a baseline choice, an initial metric, and one discussion of error consequences.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problem a classification problem?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424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Classification predicts a category or class label. The model is judged by whether the predicted class is correct and which errors matter most.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Use classification when asking: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category?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Pass or fail?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Normal or faulty?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Eligible or not?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condition?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94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Typical targets: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Defective / acceptable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Fault / no fault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Risk level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Material type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Operating mode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Course outcome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Not classification when: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Target is continuous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Goal is discovering unknown groups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No labeled examples exist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The output is a ranking 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102E"/>
                </a:solidFill>
              </a:rPr>
              <a:t>Key discipline question: Which error is more costly — a false alarm or a missed case?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write a classification 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the template to convert a disciplinary problem into a classification task.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0378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93392"/>
            <a:ext cx="10049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Using __________ as inputs, develop a classification model to predict __________ for each __________, with performance evaluated using __________.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Inputs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Variables available before prediction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52044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8503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Class label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Category or state to predict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Unit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Part, sample, student, machine cycle, image, day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3252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711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Metric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Accuracy, precision, recall, F1, or class-specific target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Quick check: are the labels trustworthy, consistent, and available for enough examples?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product quality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classification dataset pairs measured features with a categorical label such as acceptable or defective.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Part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9384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Temp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90088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50792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Vibration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11496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Roughness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9384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185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0088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50792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11496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542032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9384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90088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50792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0.35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11496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4.2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Defect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2962656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9384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174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90088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50792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11496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383280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29384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90088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50792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0.48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11496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5.1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Defect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3803904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929384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90088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50792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11496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2960" y="4224528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498080" y="169164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62672" y="181051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Prediction objective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Classify whether a part is acceptable before final inspection.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98080" y="30175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62672" y="313639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majority class for every part.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98080" y="43434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62672" y="446227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recall for defects when missed defects are expensive.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classification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937"/>
                </a:solidFill>
              </a:rPr>
              <a:t>A baseline clarifies whether the classifier adds value beyond the simplest possible decision rule.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Majority-class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most frequent class for every case.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Essential when classes are imbalanced.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Random or stratified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classes based on observed class proportions.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Useful for sanity checking.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027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Domain-rule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a threshold, checklist, expert rule, or existing procedure.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Often the fairest comparison.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Discussion prompt: Would stakeholders accept a model that beats accuracy but misses the most important cases?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regression: probabilities for class membership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Logistic regression estimates the probability that an observation belongs to a class, then applies a decision threshold.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493776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487498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7435" y="487123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66190" y="486666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64946" y="48611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63701" y="485433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62456" y="48461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1211" y="483612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559966" y="48240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58722" y="480935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57477" y="479163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56232" y="477027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54987" y="474459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53742" y="471382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52498" y="467709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51253" y="463345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50008" y="45819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48763" y="452144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47518" y="445103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46274" y="436979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5029" y="427703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843784" y="417239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42539" y="40559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041294" y="392818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40050" y="37904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38805" y="3644376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37560" y="349249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36315" y="333756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35070" y="318262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33826" y="3030744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732581" y="28847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831336" y="274693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30091" y="26192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28846" y="250272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127602" y="239808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226357" y="230532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325112" y="222408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423867" y="215367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22622" y="20932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21378" y="204166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20133" y="199802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18888" y="196129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917643" y="193052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16398" y="190484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115154" y="188348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213909" y="186576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12664" y="18511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11419" y="183899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510174" y="18290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608930" y="182078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07685" y="18140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68680" y="3337560"/>
            <a:ext cx="4937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331720" y="516636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Feature score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9728" y="3108960"/>
            <a:ext cx="594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P(class)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92240" y="17830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656832" y="190195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Decision rule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If P(defect) ≥ threshold → classify as defect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6492240" y="31089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56832" y="322783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Interpretation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Coefficients describe how features shift log-odds, not direct class labels.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492240" y="44348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56832" y="455371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Caution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default 0.50 threshold may not match the cost of errors.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trees: interpretable rule-based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Decision trees split the data into increasingly pure groups using feature-based rules.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3682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Root question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Is vibration &gt; 0.30?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86200" y="18745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50792" y="1993392"/>
            <a:ext cx="23682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Branch question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Is roughness &gt; 3.5?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1993392"/>
            <a:ext cx="1545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Leaf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Defect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08592" y="1993392"/>
            <a:ext cx="1545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Leaf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Accept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10149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A path through the tree becomes a rule: if vibration is high, flag defect; otherwise inspect roughness.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Strength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Easy to explain as a sequence of rules.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3484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9943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Risk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Deep trees can overfit training data.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0100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6559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Control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Limit depth, require minimum samples per leaf, or prune.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matrix: the basic language of classification error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confusion matrix separates correct predictions from different types of mistakes.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</a:rPr>
              <a:t>Predicted 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3246120"/>
            <a:ext cx="548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Actual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3520440"/>
            <a:ext cx="548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2402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2359152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Defect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22402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2192" y="2359152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Accept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8803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2999232"/>
            <a:ext cx="448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Defect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93192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050792"/>
            <a:ext cx="448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Accept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8803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93392" y="299923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TP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Detected defects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28803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22192" y="299923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</a:rPr>
              <a:t>FN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</a:rPr>
              <a:t>Missed defects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39319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93392" y="405079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FP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False alarms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0" y="39319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22192" y="405079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TN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Correct accepts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187452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199339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False negative: a defect is missed.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83680" y="3063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48272" y="318211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False positive: an acceptable part is flagged.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583680" y="42519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48272" y="437083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Different applications assign different costs to these errors.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metrics: accuracy is not enough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Metrics should match the consequences of different mistakes, especially for imbalanced classes.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Accuracy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2316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Overall percent correct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Can be misleading when one class dominates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21284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Precision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2316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Of predicted positives, how many were correct?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269748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 when false alarms are costly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8152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Recall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2316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Of actual positives, how many were found?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356616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 when missed cases are costly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95020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F1-score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3484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Balance of precision and recall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443484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Useful when both false alarms and misses matter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81888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" y="54864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4712" y="560527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Metric choice is a design decision: it defines which mistakes the model is allowed to make.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imbalance: when accuracy hides failure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model can appear highly accurate by ignoring rare but important classes.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Scenario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1000 parts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950 acceptable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50 defective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Majority baseline predicts every part as acceptable.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2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Result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Accuracy = 95%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Defect recall = 0%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The model misses every defective part.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26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91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Better questions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How many defects are found?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How many false alarms occur?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What threshold should trigger review?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thresholds: choosing where to draw the 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Many classifiers return probabilities. Changing the threshold changes false positives and false negatives.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9875520" cy="0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8388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0.75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5276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2331720"/>
            <a:ext cx="0" cy="109728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Default threshold 0.50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327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Lower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positives flagged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recall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false alarms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8056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Fewer positives flagged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precision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missed cases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5703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Best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Depends on cost, capacity, risk, and review process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interpret model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Compare two classifiers and decide which is more appropriate for quality inspection.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 A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Accuracy: 94%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Precision: 70%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Recall: 40%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F1-score: 51%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 B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Accuracy: 91%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Precision: 55%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Recall: 82%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F1-score: 66%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7532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Decision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Which model should be selected if missed defects are costly?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Which if false alarms are costly?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Debrief: a lower accuracy model may be the better disciplinary choice when it reduces the more serious error.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C6281735-823F-19F5-42F7-328E6A62CC4D}"/>
              </a:ext>
            </a:extLst>
          </p:cNvPr>
          <p:cNvSpPr/>
          <p:nvPr/>
        </p:nvSpPr>
        <p:spPr>
          <a:xfrm>
            <a:off x="502920" y="1121887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4 technical skill: minimal classification workflow</a:t>
            </a:r>
            <a:endParaRPr lang="en-US" sz="25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4B6195B-EBE0-8671-A676-2CA0AA89DA5C}"/>
              </a:ext>
            </a:extLst>
          </p:cNvPr>
          <p:cNvSpPr/>
          <p:nvPr/>
        </p:nvSpPr>
        <p:spPr>
          <a:xfrm>
            <a:off x="521208" y="1643095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Goal: compare a majority-class baseline with logistic regression using classification metrics.</a:t>
            </a:r>
            <a:endParaRPr lang="en-US" sz="115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EC2EEF0D-C0B8-2F3C-1274-3F414B5F4A10}"/>
              </a:ext>
            </a:extLst>
          </p:cNvPr>
          <p:cNvSpPr/>
          <p:nvPr/>
        </p:nvSpPr>
        <p:spPr>
          <a:xfrm>
            <a:off x="640080" y="2036287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AC7229A9-B141-B575-35C5-5601502D3F1F}"/>
              </a:ext>
            </a:extLst>
          </p:cNvPr>
          <p:cNvSpPr/>
          <p:nvPr/>
        </p:nvSpPr>
        <p:spPr>
          <a:xfrm>
            <a:off x="804672" y="2164303"/>
            <a:ext cx="506577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sklearn.linear_model import LogisticRegression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sklearn.metrics import accuracy_score, precision_score, recall_score, f1_score, confusion_matrix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df[features]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df["defect"]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X_train, X_test, y_train, y_test = train_test_split(X, y, stratify=y, random_state=42)</a:t>
            </a:r>
            <a:endParaRPr lang="en-US" sz="82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2FCF3615-911E-CE0E-08BA-5F55DBA679D7}"/>
              </a:ext>
            </a:extLst>
          </p:cNvPr>
          <p:cNvSpPr/>
          <p:nvPr/>
        </p:nvSpPr>
        <p:spPr>
          <a:xfrm>
            <a:off x="6309360" y="2036287"/>
            <a:ext cx="502920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83C2D0F4-FAF8-76AD-F73B-83107D2E9F29}"/>
              </a:ext>
            </a:extLst>
          </p:cNvPr>
          <p:cNvSpPr/>
          <p:nvPr/>
        </p:nvSpPr>
        <p:spPr>
          <a:xfrm>
            <a:off x="6473952" y="2164303"/>
            <a:ext cx="470001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baseline = np.full(len(y_test), y_train.mode()[0])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LogisticRegression(max_iter=1000)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model.fit(X_train, y_train)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 = model.predict(X_test)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recall = recall_score(y_test, pred)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f1 = f1_score(y_test, pred)</a:t>
            </a:r>
            <a:endParaRPr lang="en-US" sz="8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FD705D23-ACC3-76CF-8771-450A1460CEEC}"/>
              </a:ext>
            </a:extLst>
          </p:cNvPr>
          <p:cNvSpPr/>
          <p:nvPr/>
        </p:nvSpPr>
        <p:spPr>
          <a:xfrm>
            <a:off x="822960" y="4642327"/>
            <a:ext cx="5303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Accuracy: overall proportion correct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Precision: when model flags a defect, how often is it right?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Recall: of all true defects, how many were found?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F1-score: balance of precision and recall</a:t>
            </a:r>
            <a:endParaRPr lang="en-US" sz="125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5E683041-30B2-08D3-DF2F-08300F4EC5AD}"/>
              </a:ext>
            </a:extLst>
          </p:cNvPr>
          <p:cNvSpPr/>
          <p:nvPr/>
        </p:nvSpPr>
        <p:spPr>
          <a:xfrm>
            <a:off x="6309360" y="4779487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98C1297D-0D89-0D6E-E6D1-4E97EEE319ED}"/>
              </a:ext>
            </a:extLst>
          </p:cNvPr>
          <p:cNvSpPr/>
          <p:nvPr/>
        </p:nvSpPr>
        <p:spPr>
          <a:xfrm>
            <a:off x="6309360" y="4848067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4 notebook</a:t>
            </a:r>
            <a:endParaRPr lang="en-US" sz="85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096B0486-D30C-A995-B11E-2CB2DE700C2A}"/>
              </a:ext>
            </a:extLst>
          </p:cNvPr>
          <p:cNvSpPr/>
          <p:nvPr/>
        </p:nvSpPr>
        <p:spPr>
          <a:xfrm>
            <a:off x="7891272" y="4816063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04_session4_classification_sklearn.ipynb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A7D4B-73FE-DFE4-3EA0-CA071810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F4934D-A2ED-93A7-A941-F08ACF3A66CB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BC13B1-2D88-E431-0A59-C216C45E8F69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7BCBF1-FDF8-F2A6-AE9C-574E8070BC3D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F6AEAC6-3348-290A-35B4-F23607E3FC7B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4CCDA0A-1AE3-2399-BB72-64F5F8BFCA9F}"/>
              </a:ext>
            </a:extLst>
          </p:cNvPr>
          <p:cNvSpPr/>
          <p:nvPr/>
        </p:nvSpPr>
        <p:spPr>
          <a:xfrm>
            <a:off x="484632" y="14447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interpretation: inspect the confusion matrix</a:t>
            </a:r>
            <a:endParaRPr lang="en-US" sz="2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77A401E-7B26-2A9B-CA28-298415AA09B7}"/>
              </a:ext>
            </a:extLst>
          </p:cNvPr>
          <p:cNvSpPr/>
          <p:nvPr/>
        </p:nvSpPr>
        <p:spPr>
          <a:xfrm>
            <a:off x="5029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The preferred metric depends on the consequence of each error type.</a:t>
            </a:r>
            <a:endParaRPr lang="en-US" sz="11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7B41922-1E21-EB95-1F15-EA0669631D41}"/>
              </a:ext>
            </a:extLst>
          </p:cNvPr>
          <p:cNvSpPr/>
          <p:nvPr/>
        </p:nvSpPr>
        <p:spPr>
          <a:xfrm>
            <a:off x="94183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650BA5A-12DF-0364-E4A5-7DAC1B423640}"/>
              </a:ext>
            </a:extLst>
          </p:cNvPr>
          <p:cNvSpPr/>
          <p:nvPr/>
        </p:nvSpPr>
        <p:spPr>
          <a:xfrm>
            <a:off x="309067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Predicted acceptable</a:t>
            </a:r>
            <a:endParaRPr lang="en-US" sz="12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0D76049-8B97-A4A8-BC50-0D3171B53B3A}"/>
              </a:ext>
            </a:extLst>
          </p:cNvPr>
          <p:cNvSpPr/>
          <p:nvPr/>
        </p:nvSpPr>
        <p:spPr>
          <a:xfrm>
            <a:off x="523951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Predicted defect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EDBB19D-5D94-0920-93AD-7083983FC5C9}"/>
              </a:ext>
            </a:extLst>
          </p:cNvPr>
          <p:cNvSpPr/>
          <p:nvPr/>
        </p:nvSpPr>
        <p:spPr>
          <a:xfrm>
            <a:off x="94183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Actual acceptable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B8E5963-8082-9CFF-5E2F-B39586924EDA}"/>
              </a:ext>
            </a:extLst>
          </p:cNvPr>
          <p:cNvSpPr/>
          <p:nvPr/>
        </p:nvSpPr>
        <p:spPr>
          <a:xfrm>
            <a:off x="309067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True Negative</a:t>
            </a:r>
            <a:endParaRPr lang="en-US" sz="15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0EA9DF9-D7BA-C362-C00A-E263A7270C4E}"/>
              </a:ext>
            </a:extLst>
          </p:cNvPr>
          <p:cNvSpPr/>
          <p:nvPr/>
        </p:nvSpPr>
        <p:spPr>
          <a:xfrm>
            <a:off x="523951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False Positive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E262C08D-C311-DB50-93E5-079F6E40F006}"/>
              </a:ext>
            </a:extLst>
          </p:cNvPr>
          <p:cNvSpPr/>
          <p:nvPr/>
        </p:nvSpPr>
        <p:spPr>
          <a:xfrm>
            <a:off x="94183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Actual defect</a:t>
            </a:r>
            <a:endParaRPr lang="en-US" sz="12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067B905-0F1E-BA8E-29E9-26CB3CFE0D4C}"/>
              </a:ext>
            </a:extLst>
          </p:cNvPr>
          <p:cNvSpPr/>
          <p:nvPr/>
        </p:nvSpPr>
        <p:spPr>
          <a:xfrm>
            <a:off x="309067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False Negative</a:t>
            </a:r>
            <a:endParaRPr lang="en-US" sz="15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7B7C6A8-1E6A-FCB2-FD71-DEDAF7A65353}"/>
              </a:ext>
            </a:extLst>
          </p:cNvPr>
          <p:cNvSpPr/>
          <p:nvPr/>
        </p:nvSpPr>
        <p:spPr>
          <a:xfrm>
            <a:off x="523951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True Positive</a:t>
            </a:r>
            <a:endParaRPr lang="en-US" sz="15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7298AABF-6F09-B2BC-DEB5-43190CB3C02B}"/>
              </a:ext>
            </a:extLst>
          </p:cNvPr>
          <p:cNvSpPr/>
          <p:nvPr/>
        </p:nvSpPr>
        <p:spPr>
          <a:xfrm>
            <a:off x="94183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BD4D6ED5-B03C-6027-410F-6D4E60A97DEB}"/>
              </a:ext>
            </a:extLst>
          </p:cNvPr>
          <p:cNvSpPr/>
          <p:nvPr/>
        </p:nvSpPr>
        <p:spPr>
          <a:xfrm>
            <a:off x="309067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DDFCF22C-9FD7-B0B3-B7BA-B674A716D418}"/>
              </a:ext>
            </a:extLst>
          </p:cNvPr>
          <p:cNvSpPr/>
          <p:nvPr/>
        </p:nvSpPr>
        <p:spPr>
          <a:xfrm>
            <a:off x="523951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4C540DDE-9382-A687-CE7B-CEC81D381AC9}"/>
              </a:ext>
            </a:extLst>
          </p:cNvPr>
          <p:cNvSpPr/>
          <p:nvPr/>
        </p:nvSpPr>
        <p:spPr>
          <a:xfrm>
            <a:off x="738835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03FBBA7A-A6C2-8034-979D-7418CDA0C7E9}"/>
              </a:ext>
            </a:extLst>
          </p:cNvPr>
          <p:cNvSpPr/>
          <p:nvPr/>
        </p:nvSpPr>
        <p:spPr>
          <a:xfrm>
            <a:off x="941832" y="263347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93F997C3-09CF-80B1-B628-416BF1823458}"/>
              </a:ext>
            </a:extLst>
          </p:cNvPr>
          <p:cNvSpPr/>
          <p:nvPr/>
        </p:nvSpPr>
        <p:spPr>
          <a:xfrm>
            <a:off x="941832" y="341071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507FF472-ECC8-528B-FCD7-DDDE4D91531F}"/>
              </a:ext>
            </a:extLst>
          </p:cNvPr>
          <p:cNvSpPr/>
          <p:nvPr/>
        </p:nvSpPr>
        <p:spPr>
          <a:xfrm>
            <a:off x="941832" y="418795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868A57AF-90E2-784C-3957-1015CA9C3030}"/>
              </a:ext>
            </a:extLst>
          </p:cNvPr>
          <p:cNvSpPr/>
          <p:nvPr/>
        </p:nvSpPr>
        <p:spPr>
          <a:xfrm>
            <a:off x="941832" y="496519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897A8950-0AE8-36BC-6335-9BCBEDC1F3DA}"/>
              </a:ext>
            </a:extLst>
          </p:cNvPr>
          <p:cNvSpPr/>
          <p:nvPr/>
        </p:nvSpPr>
        <p:spPr>
          <a:xfrm>
            <a:off x="766267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</a:rPr>
              <a:t>Instructor prompt</a:t>
            </a:r>
            <a:endParaRPr lang="en-US" sz="15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52AB11F2-F477-72A3-8D6F-2B0F9D657784}"/>
              </a:ext>
            </a:extLst>
          </p:cNvPr>
          <p:cNvSpPr/>
          <p:nvPr/>
        </p:nvSpPr>
        <p:spPr>
          <a:xfrm>
            <a:off x="7662672" y="3063240"/>
            <a:ext cx="3474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“Which error matters more in this application: a false alarm or a missed defect?”</a:t>
            </a:r>
            <a:endParaRPr lang="en-US" sz="1250" dirty="0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AD3F8897-3DB4-8FBF-6CD6-19A4ED3651F1}"/>
              </a:ext>
            </a:extLst>
          </p:cNvPr>
          <p:cNvSpPr/>
          <p:nvPr/>
        </p:nvSpPr>
        <p:spPr>
          <a:xfrm>
            <a:off x="7662672" y="4005072"/>
            <a:ext cx="3474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can be misleading when defects are rare.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is critical when missed defects are expensive.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is critical when false alarms are expensive.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18429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discussion prompts and transition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44752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Why can accuracy be misleading?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44752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Which error is more costly: false positive or false negative?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359152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478024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Should the threshold always be 0.50?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2359152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478024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When is a decision tree preferable to logistic regression?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392424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511296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How trustworthy are the class labels?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392424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511296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What baseline represents current practice?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60120" y="498348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24712" y="510235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Session synthesis: classification is not just about predicting labels — it is about choosing errors that align with disciplinary consequences.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57150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24712" y="583387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Next: Hands-on baseline model activity — apply regression or classification to a small dataset.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1676</Words>
  <Application>Microsoft Office PowerPoint</Application>
  <PresentationFormat>Widescreen</PresentationFormat>
  <Paragraphs>368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Fundamentals</dc:title>
  <dc:subject>Session 4 Applied AI Design Workshop</dc:subject>
  <dc:creator>Fred Livingston</dc:creator>
  <cp:lastModifiedBy>Fred Livingston</cp:lastModifiedBy>
  <cp:revision>6</cp:revision>
  <dcterms:created xsi:type="dcterms:W3CDTF">2026-07-14T20:49:31Z</dcterms:created>
  <dcterms:modified xsi:type="dcterms:W3CDTF">2026-07-15T15:41:52Z</dcterms:modified>
</cp:coreProperties>
</file>