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3" r:id="rId17"/>
    <p:sldId id="271" r:id="rId18"/>
    <p:sldId id="275" r:id="rId19"/>
    <p:sldId id="276" r:id="rId20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300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324DF-3FA1-2293-0BA5-F7E603712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B31EC-7856-97F4-F9D7-14196AA9D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AE00B-1101-C2B1-9729-9557250A9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BB92C-CFB2-D362-7F50-D335F2477F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32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27336-1313-E895-5AF2-EF5ECD8DC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2DD64-5011-113B-E779-5EDFCC625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258DE-2348-450E-9588-838408FBB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CFAB5-53EE-CDD9-9EB2-501712A07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11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49636-FDA3-4503-6DAD-30B9D51BE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5A80F-1113-CCAB-EE3F-C904DE4A0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569F1-7526-6A49-243F-8B69CB9FB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15E5D-142A-2F09-D52D-EB749AF3E8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04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91DB76E2-A049-45FC-4998-8D226ED527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61076" y="356864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jliving@ncs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13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SESSION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937"/>
                </a:solidFill>
              </a:rPr>
              <a:t>From Engineering or Disciplinary Problem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1F2937"/>
                </a:solidFill>
              </a:rPr>
              <a:t>to Machine Learning Problem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3232" y="26151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Applied AI Design Workshop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29900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Fred Livingston (</a:t>
            </a:r>
            <a:r>
              <a:rPr lang="en-US" sz="1200" dirty="0">
                <a:solidFill>
                  <a:srgbClr val="6B7280"/>
                </a:solidFill>
                <a:hlinkClick r:id="rId3"/>
              </a:rPr>
              <a:t>fjliving@ncsu.edu</a:t>
            </a:r>
            <a:r>
              <a:rPr lang="en-US" sz="1200" dirty="0">
                <a:solidFill>
                  <a:srgbClr val="6B7280"/>
                </a:solidFill>
              </a:rPr>
              <a:t>)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493008"/>
            <a:ext cx="58521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60920" y="100584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25512" y="1152144"/>
            <a:ext cx="35570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Goal: leave with a defensible ML problem statement for a research, teaching, or operational challenge.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2468880"/>
            <a:ext cx="38862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25512" y="2615184"/>
            <a:ext cx="355701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Session focus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• Prediction objective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• Inputs and target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• Unit of observation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• Baseline model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• Success criteria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• Data-readiness risks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outcomes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By the end of the Day 3 foundations block, faculty should be able to design a credible starting point for applied AI — before selecting a tool or model.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14884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295144"/>
            <a:ext cx="15453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Translate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Turn disciplinary questions into ML tasks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214884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90672" y="2295144"/>
            <a:ext cx="15453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Differentiate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Regression, classification, clustering, forecasting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93792" y="214884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58384" y="2295144"/>
            <a:ext cx="15453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Baseline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Establish a simple reference 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61504" y="214884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26096" y="2295144"/>
            <a:ext cx="15453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Evaluate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Choose initial metrics based on consequence of error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729216" y="214884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93808" y="2295144"/>
            <a:ext cx="15453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Connect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Position classic ML within applied AI workflows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50749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8102E"/>
                </a:solidFill>
              </a:rPr>
              <a:t>Today’s emphasis: problem framing is a design activity, not just a coding step.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3 schedule and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2984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From engineering problem to ML 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700784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19568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Classic ML overview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35915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261518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Invited presentation: From Prompts to Agents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37360" y="32735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Break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675888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39319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Regression fundamentals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334256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37360" y="45902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Classification fundamentals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4992624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37360" y="524865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Hands-on baseline model activity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565099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784080" y="1298448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48672" y="1444752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Now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784080" y="196596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948672" y="2112264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</a:rPr>
              <a:t>Framing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784080" y="2633472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948672" y="2779776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Context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784080" y="3968496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948672" y="4114800"/>
            <a:ext cx="11795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Methods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784080" y="5614416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948672" y="5760720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Practice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Technical Skills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4</a:t>
            </a:r>
            <a:endParaRPr lang="en-US" sz="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DB2E00-CA9E-54E7-5890-D7BE94B297F7}"/>
              </a:ext>
            </a:extLst>
          </p:cNvPr>
          <p:cNvSpPr txBox="1"/>
          <p:nvPr/>
        </p:nvSpPr>
        <p:spPr>
          <a:xfrm>
            <a:off x="502920" y="1183362"/>
            <a:ext cx="7269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dirty="0"/>
              <a:t>pandas → visualization → regression → classification → complete workflow</a:t>
            </a:r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00FB129B-AE6F-C7B1-835C-6DFB7B93DC36}"/>
              </a:ext>
            </a:extLst>
          </p:cNvPr>
          <p:cNvSpPr/>
          <p:nvPr/>
        </p:nvSpPr>
        <p:spPr>
          <a:xfrm>
            <a:off x="7909560" y="1476757"/>
            <a:ext cx="4069080" cy="4892040"/>
          </a:xfrm>
          <a:prstGeom prst="roundRect">
            <a:avLst>
              <a:gd name="adj" fmla="val 337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0" descr="/mnt/data/session0_python_data_tools/assets/iris_scatter.png">
            <a:extLst>
              <a:ext uri="{FF2B5EF4-FFF2-40B4-BE49-F238E27FC236}">
                <a16:creationId xmlns:a16="http://schemas.microsoft.com/office/drawing/2014/main" id="{995E340D-678F-043E-A553-67CC3275DD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" r="255"/>
          <a:stretch/>
        </p:blipFill>
        <p:spPr>
          <a:xfrm>
            <a:off x="8206740" y="1640639"/>
            <a:ext cx="3566160" cy="2560320"/>
          </a:xfrm>
          <a:prstGeom prst="rect">
            <a:avLst/>
          </a:prstGeom>
        </p:spPr>
      </p:pic>
      <p:sp>
        <p:nvSpPr>
          <p:cNvPr id="35" name="Shape 4">
            <a:extLst>
              <a:ext uri="{FF2B5EF4-FFF2-40B4-BE49-F238E27FC236}">
                <a16:creationId xmlns:a16="http://schemas.microsoft.com/office/drawing/2014/main" id="{C5E0C265-05BF-55F2-8695-82EE4DE29A02}"/>
              </a:ext>
            </a:extLst>
          </p:cNvPr>
          <p:cNvSpPr/>
          <p:nvPr/>
        </p:nvSpPr>
        <p:spPr>
          <a:xfrm>
            <a:off x="8247888" y="4512564"/>
            <a:ext cx="3566160" cy="1124712"/>
          </a:xfrm>
          <a:prstGeom prst="roundRect">
            <a:avLst>
              <a:gd name="adj" fmla="val 487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46821780-EB36-431A-392A-1533B31B7354}"/>
              </a:ext>
            </a:extLst>
          </p:cNvPr>
          <p:cNvSpPr/>
          <p:nvPr/>
        </p:nvSpPr>
        <p:spPr>
          <a:xfrm>
            <a:off x="8390309" y="4640580"/>
            <a:ext cx="323697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 = pd.read_csv("iris.csv")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df[["PetalLength_cm", "PetalWidth_cm"]]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 = df["Species"]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model.fit(X_train, y_train)</a:t>
            </a:r>
            <a:endParaRPr lang="en-US" sz="920" dirty="0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489BEB38-33A5-F135-461B-7A7C9F412CCF}"/>
              </a:ext>
            </a:extLst>
          </p:cNvPr>
          <p:cNvSpPr/>
          <p:nvPr/>
        </p:nvSpPr>
        <p:spPr>
          <a:xfrm>
            <a:off x="640080" y="2176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55B"/>
                </a:solidFill>
              </a:rPr>
              <a:t>Session</a:t>
            </a:r>
            <a:endParaRPr lang="en-US" sz="11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34895529-A9F2-85BC-D69F-04F8D81A186F}"/>
              </a:ext>
            </a:extLst>
          </p:cNvPr>
          <p:cNvSpPr/>
          <p:nvPr/>
        </p:nvSpPr>
        <p:spPr>
          <a:xfrm>
            <a:off x="2148840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55B"/>
                </a:solidFill>
              </a:rPr>
              <a:t>Tool skill</a:t>
            </a:r>
            <a:endParaRPr lang="en-US" sz="1100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6529D709-E056-7610-B9F2-CEB096F261F6}"/>
              </a:ext>
            </a:extLst>
          </p:cNvPr>
          <p:cNvSpPr/>
          <p:nvPr/>
        </p:nvSpPr>
        <p:spPr>
          <a:xfrm>
            <a:off x="4709160" y="21762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55B"/>
                </a:solidFill>
              </a:rPr>
              <a:t>What faculty practice</a:t>
            </a:r>
            <a:endParaRPr lang="en-US" sz="1100" dirty="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299FC3C9-9B7C-AC34-AC19-6BCE6711B83F}"/>
              </a:ext>
            </a:extLst>
          </p:cNvPr>
          <p:cNvSpPr/>
          <p:nvPr/>
        </p:nvSpPr>
        <p:spPr>
          <a:xfrm>
            <a:off x="640080" y="2679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0ED"/>
                </a:solidFill>
              </a:rPr>
              <a:t>Session 1</a:t>
            </a:r>
            <a:endParaRPr lang="en-US" sz="125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79D4D4C3-B387-C763-81A6-6A41B31DFF49}"/>
              </a:ext>
            </a:extLst>
          </p:cNvPr>
          <p:cNvSpPr/>
          <p:nvPr/>
        </p:nvSpPr>
        <p:spPr>
          <a:xfrm>
            <a:off x="2148840" y="2679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pandas data loading</a:t>
            </a:r>
            <a:endParaRPr lang="en-US" sz="1250" dirty="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AF4A616B-3137-09CB-35B0-D6D3DF196CEC}"/>
              </a:ext>
            </a:extLst>
          </p:cNvPr>
          <p:cNvSpPr/>
          <p:nvPr/>
        </p:nvSpPr>
        <p:spPr>
          <a:xfrm>
            <a:off x="4709160" y="267919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Load CSV, inspect rows/columns, define inputs and target</a:t>
            </a:r>
            <a:endParaRPr lang="en-US" sz="1250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9CD86131-ADF8-DDC7-EDC5-DD054B4FBEC5}"/>
              </a:ext>
            </a:extLst>
          </p:cNvPr>
          <p:cNvSpPr/>
          <p:nvPr/>
        </p:nvSpPr>
        <p:spPr>
          <a:xfrm>
            <a:off x="640080" y="33924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0ED"/>
                </a:solidFill>
              </a:rPr>
              <a:t>Session 2</a:t>
            </a:r>
            <a:endParaRPr lang="en-US" sz="1250" dirty="0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CEE17D2B-A6D2-BE3E-CE10-5EBE76F2956C}"/>
              </a:ext>
            </a:extLst>
          </p:cNvPr>
          <p:cNvSpPr/>
          <p:nvPr/>
        </p:nvSpPr>
        <p:spPr>
          <a:xfrm>
            <a:off x="2148840" y="33924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visualization</a:t>
            </a:r>
            <a:endParaRPr lang="en-US" sz="1250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BD3BDDAF-E7A2-6C3B-A124-AE5F87A4C6F1}"/>
              </a:ext>
            </a:extLst>
          </p:cNvPr>
          <p:cNvSpPr/>
          <p:nvPr/>
        </p:nvSpPr>
        <p:spPr>
          <a:xfrm>
            <a:off x="4709160" y="33924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Scatterplot, histogram, target count plot</a:t>
            </a:r>
            <a:endParaRPr lang="en-US" sz="1250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ACA2FE13-AFE2-5C38-FE5F-C621CA51BC13}"/>
              </a:ext>
            </a:extLst>
          </p:cNvPr>
          <p:cNvSpPr/>
          <p:nvPr/>
        </p:nvSpPr>
        <p:spPr>
          <a:xfrm>
            <a:off x="640080" y="4105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0ED"/>
                </a:solidFill>
              </a:rPr>
              <a:t>Session 3</a:t>
            </a:r>
            <a:endParaRPr lang="en-US" sz="1250" dirty="0"/>
          </a:p>
        </p:txBody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114D750F-8ED1-7941-FAB5-B23CE5C78B6F}"/>
              </a:ext>
            </a:extLst>
          </p:cNvPr>
          <p:cNvSpPr/>
          <p:nvPr/>
        </p:nvSpPr>
        <p:spPr>
          <a:xfrm>
            <a:off x="2148840" y="4105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regression in scikit-learn</a:t>
            </a:r>
            <a:endParaRPr lang="en-US" sz="1250" dirty="0"/>
          </a:p>
        </p:txBody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9ADB3A8B-8BF0-E144-B6FA-2246B703DE3F}"/>
              </a:ext>
            </a:extLst>
          </p:cNvPr>
          <p:cNvSpPr/>
          <p:nvPr/>
        </p:nvSpPr>
        <p:spPr>
          <a:xfrm>
            <a:off x="4709160" y="41056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Split, baseline, train, predict, MAE and R²</a:t>
            </a:r>
            <a:endParaRPr lang="en-US" sz="1250" dirty="0"/>
          </a:p>
        </p:txBody>
      </p:sp>
      <p:sp>
        <p:nvSpPr>
          <p:cNvPr id="63" name="Text 14">
            <a:extLst>
              <a:ext uri="{FF2B5EF4-FFF2-40B4-BE49-F238E27FC236}">
                <a16:creationId xmlns:a16="http://schemas.microsoft.com/office/drawing/2014/main" id="{0120D42E-7984-52C0-BEE0-C678641B7378}"/>
              </a:ext>
            </a:extLst>
          </p:cNvPr>
          <p:cNvSpPr/>
          <p:nvPr/>
        </p:nvSpPr>
        <p:spPr>
          <a:xfrm>
            <a:off x="64008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0ED"/>
                </a:solidFill>
              </a:rPr>
              <a:t>Session 4</a:t>
            </a:r>
            <a:endParaRPr lang="en-US" sz="1250" dirty="0"/>
          </a:p>
        </p:txBody>
      </p:sp>
      <p:sp>
        <p:nvSpPr>
          <p:cNvPr id="65" name="Text 15">
            <a:extLst>
              <a:ext uri="{FF2B5EF4-FFF2-40B4-BE49-F238E27FC236}">
                <a16:creationId xmlns:a16="http://schemas.microsoft.com/office/drawing/2014/main" id="{F08696D9-E7E7-070A-0CCE-9800D11F29CF}"/>
              </a:ext>
            </a:extLst>
          </p:cNvPr>
          <p:cNvSpPr/>
          <p:nvPr/>
        </p:nvSpPr>
        <p:spPr>
          <a:xfrm>
            <a:off x="2148840" y="4818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classification in scikit-learn</a:t>
            </a:r>
            <a:endParaRPr lang="en-US" sz="1250" dirty="0"/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6A6085DF-9BB6-677A-92DD-8DA71693ADC5}"/>
              </a:ext>
            </a:extLst>
          </p:cNvPr>
          <p:cNvSpPr/>
          <p:nvPr/>
        </p:nvSpPr>
        <p:spPr>
          <a:xfrm>
            <a:off x="4709160" y="4818888"/>
            <a:ext cx="25496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Majority baseline, logistic regression, confusion matrix, precision/recall/F1</a:t>
            </a:r>
            <a:endParaRPr lang="en-US" sz="1250" dirty="0"/>
          </a:p>
        </p:txBody>
      </p:sp>
      <p:sp>
        <p:nvSpPr>
          <p:cNvPr id="69" name="Text 17">
            <a:extLst>
              <a:ext uri="{FF2B5EF4-FFF2-40B4-BE49-F238E27FC236}">
                <a16:creationId xmlns:a16="http://schemas.microsoft.com/office/drawing/2014/main" id="{753C81E6-A5EB-A7A7-3700-C6DE4C148CF9}"/>
              </a:ext>
            </a:extLst>
          </p:cNvPr>
          <p:cNvSpPr/>
          <p:nvPr/>
        </p:nvSpPr>
        <p:spPr>
          <a:xfrm>
            <a:off x="640080" y="5532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0ED"/>
                </a:solidFill>
              </a:rPr>
              <a:t>Session 5</a:t>
            </a:r>
            <a:endParaRPr lang="en-US" sz="1250" dirty="0"/>
          </a:p>
        </p:txBody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8FD02EF6-A1DB-BFF2-217F-B44B747DA186}"/>
              </a:ext>
            </a:extLst>
          </p:cNvPr>
          <p:cNvSpPr/>
          <p:nvPr/>
        </p:nvSpPr>
        <p:spPr>
          <a:xfrm>
            <a:off x="2148840" y="5532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complete workflow</a:t>
            </a:r>
            <a:endParaRPr lang="en-US" sz="1250" dirty="0"/>
          </a:p>
        </p:txBody>
      </p:sp>
      <p:sp>
        <p:nvSpPr>
          <p:cNvPr id="73" name="Text 19">
            <a:extLst>
              <a:ext uri="{FF2B5EF4-FFF2-40B4-BE49-F238E27FC236}">
                <a16:creationId xmlns:a16="http://schemas.microsoft.com/office/drawing/2014/main" id="{83187ECB-34A0-4871-E162-76238166D69E}"/>
              </a:ext>
            </a:extLst>
          </p:cNvPr>
          <p:cNvSpPr/>
          <p:nvPr/>
        </p:nvSpPr>
        <p:spPr>
          <a:xfrm>
            <a:off x="4709160" y="5532120"/>
            <a:ext cx="2317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Load → inspect → visualize → split → baseline → train → evaluate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1426A-C71E-5A90-E15B-DAAF41E4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C37C8A-51CC-380D-1AA8-54EBFD0A7F1C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46C8B6-2B1D-3001-D9ED-35241664199D}"/>
              </a:ext>
            </a:extLst>
          </p:cNvPr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972682-9B0B-D26E-A47E-152195B7C053}"/>
              </a:ext>
            </a:extLst>
          </p:cNvPr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activities for Session 1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0355DB-DB6B-D84D-5F7F-C0D23E796B8B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4F1E14E-6AEE-7D34-D38F-AD13F002D3D7}"/>
              </a:ext>
            </a:extLst>
          </p:cNvPr>
          <p:cNvSpPr/>
          <p:nvPr/>
        </p:nvSpPr>
        <p:spPr>
          <a:xfrm>
            <a:off x="685800" y="1847088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6C28FD-EB77-AC3E-CD7A-FDF7129ABC69}"/>
              </a:ext>
            </a:extLst>
          </p:cNvPr>
          <p:cNvSpPr/>
          <p:nvPr/>
        </p:nvSpPr>
        <p:spPr>
          <a:xfrm>
            <a:off x="850392" y="1993392"/>
            <a:ext cx="1362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8102E"/>
                </a:solidFill>
              </a:rPr>
              <a:t>1. Frame</a:t>
            </a:r>
            <a:endParaRPr lang="en-US" sz="17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6BA6341-9486-4CE1-49B3-60295C801B62}"/>
              </a:ext>
            </a:extLst>
          </p:cNvPr>
          <p:cNvSpPr/>
          <p:nvPr/>
        </p:nvSpPr>
        <p:spPr>
          <a:xfrm>
            <a:off x="2377440" y="2350008"/>
            <a:ext cx="3657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00DD4DF-BCFC-AC8E-AD8E-7843E018CC57}"/>
              </a:ext>
            </a:extLst>
          </p:cNvPr>
          <p:cNvSpPr/>
          <p:nvPr/>
        </p:nvSpPr>
        <p:spPr>
          <a:xfrm>
            <a:off x="658368" y="3063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Write a discipline-specific challenge</a:t>
            </a:r>
            <a:endParaRPr lang="en-US"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5BDEF68-F7A5-E502-8502-6A09C4CD016A}"/>
              </a:ext>
            </a:extLst>
          </p:cNvPr>
          <p:cNvSpPr/>
          <p:nvPr/>
        </p:nvSpPr>
        <p:spPr>
          <a:xfrm>
            <a:off x="2834640" y="1847088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AEBF3C-5AE0-735F-E1BB-9B5DB149F21B}"/>
              </a:ext>
            </a:extLst>
          </p:cNvPr>
          <p:cNvSpPr/>
          <p:nvPr/>
        </p:nvSpPr>
        <p:spPr>
          <a:xfrm>
            <a:off x="2999232" y="1993392"/>
            <a:ext cx="1362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2. Map</a:t>
            </a:r>
            <a:endParaRPr lang="en-US" sz="17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EA151CD-EBD1-ED8F-4321-22F09ECCB689}"/>
              </a:ext>
            </a:extLst>
          </p:cNvPr>
          <p:cNvSpPr/>
          <p:nvPr/>
        </p:nvSpPr>
        <p:spPr>
          <a:xfrm>
            <a:off x="4526280" y="2350008"/>
            <a:ext cx="3657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DAC7FF9-4618-88AA-00CE-6A11E85848A5}"/>
              </a:ext>
            </a:extLst>
          </p:cNvPr>
          <p:cNvSpPr/>
          <p:nvPr/>
        </p:nvSpPr>
        <p:spPr>
          <a:xfrm>
            <a:off x="2807208" y="3063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Identify inputs, target, and observation unit</a:t>
            </a:r>
            <a:endParaRPr lang="en-US" sz="12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D0ABB74-AAF8-F5DE-9640-874DC152CA2D}"/>
              </a:ext>
            </a:extLst>
          </p:cNvPr>
          <p:cNvSpPr/>
          <p:nvPr/>
        </p:nvSpPr>
        <p:spPr>
          <a:xfrm>
            <a:off x="4983480" y="1847088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6429A3C-346F-0861-4579-7D3A73B7A346}"/>
              </a:ext>
            </a:extLst>
          </p:cNvPr>
          <p:cNvSpPr/>
          <p:nvPr/>
        </p:nvSpPr>
        <p:spPr>
          <a:xfrm>
            <a:off x="5148072" y="1993392"/>
            <a:ext cx="1362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3. Classify</a:t>
            </a:r>
            <a:endParaRPr lang="en-US" sz="17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15BE568-29A7-BF74-1842-4C6CEF0B7096}"/>
              </a:ext>
            </a:extLst>
          </p:cNvPr>
          <p:cNvSpPr/>
          <p:nvPr/>
        </p:nvSpPr>
        <p:spPr>
          <a:xfrm>
            <a:off x="6675120" y="2350008"/>
            <a:ext cx="3657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8572C64-392F-31F1-A04C-43A96572A876}"/>
              </a:ext>
            </a:extLst>
          </p:cNvPr>
          <p:cNvSpPr/>
          <p:nvPr/>
        </p:nvSpPr>
        <p:spPr>
          <a:xfrm>
            <a:off x="4956048" y="3063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Select regression / classification / clustering / forecasting</a:t>
            </a:r>
            <a:endParaRPr lang="en-US" sz="12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E7AEA78-A50A-8DD4-9617-D3FB39B9333E}"/>
              </a:ext>
            </a:extLst>
          </p:cNvPr>
          <p:cNvSpPr/>
          <p:nvPr/>
        </p:nvSpPr>
        <p:spPr>
          <a:xfrm>
            <a:off x="7132320" y="1847088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4938F7A-A363-DE48-3C53-903419EC893B}"/>
              </a:ext>
            </a:extLst>
          </p:cNvPr>
          <p:cNvSpPr/>
          <p:nvPr/>
        </p:nvSpPr>
        <p:spPr>
          <a:xfrm>
            <a:off x="7296912" y="1993392"/>
            <a:ext cx="1362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4. Check</a:t>
            </a:r>
            <a:endParaRPr lang="en-US" sz="17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800D33B-EEEE-8532-D655-0A0F14E0100F}"/>
              </a:ext>
            </a:extLst>
          </p:cNvPr>
          <p:cNvSpPr/>
          <p:nvPr/>
        </p:nvSpPr>
        <p:spPr>
          <a:xfrm>
            <a:off x="8823960" y="2350008"/>
            <a:ext cx="3657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A69A17C-F688-0294-7D6D-57C0A280ED15}"/>
              </a:ext>
            </a:extLst>
          </p:cNvPr>
          <p:cNvSpPr/>
          <p:nvPr/>
        </p:nvSpPr>
        <p:spPr>
          <a:xfrm>
            <a:off x="7104888" y="3063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Look for leakage, label, and feasibility risks</a:t>
            </a:r>
            <a:endParaRPr lang="en-US" sz="12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C3503B9-5D67-8297-FFB3-F61BA242FBBE}"/>
              </a:ext>
            </a:extLst>
          </p:cNvPr>
          <p:cNvSpPr/>
          <p:nvPr/>
        </p:nvSpPr>
        <p:spPr>
          <a:xfrm>
            <a:off x="9281160" y="1847088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BFBFFEE-FB39-7AD3-AB35-2058A4254AAC}"/>
              </a:ext>
            </a:extLst>
          </p:cNvPr>
          <p:cNvSpPr/>
          <p:nvPr/>
        </p:nvSpPr>
        <p:spPr>
          <a:xfrm>
            <a:off x="9445752" y="1993392"/>
            <a:ext cx="1362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5. Defend</a:t>
            </a:r>
            <a:endParaRPr lang="en-US" sz="17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C3C699A-BA47-9687-5C66-9C94BB79AAAD}"/>
              </a:ext>
            </a:extLst>
          </p:cNvPr>
          <p:cNvSpPr/>
          <p:nvPr/>
        </p:nvSpPr>
        <p:spPr>
          <a:xfrm>
            <a:off x="10972800" y="2350008"/>
            <a:ext cx="3657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03BF144-4ABD-FB98-61C3-9351E4C2CADB}"/>
              </a:ext>
            </a:extLst>
          </p:cNvPr>
          <p:cNvSpPr/>
          <p:nvPr/>
        </p:nvSpPr>
        <p:spPr>
          <a:xfrm>
            <a:off x="9253728" y="3063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Propose baseline and success metric</a:t>
            </a:r>
            <a:endParaRPr lang="en-US" sz="12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02CE85C-5E13-35AF-7FD0-E622E051A775}"/>
              </a:ext>
            </a:extLst>
          </p:cNvPr>
          <p:cNvSpPr/>
          <p:nvPr/>
        </p:nvSpPr>
        <p:spPr>
          <a:xfrm>
            <a:off x="1097280" y="480060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Participant output: one polished ML problem statement ready to reuse in course planning, research ideation, or proposal development.</a:t>
            </a:r>
            <a:endParaRPr lang="en-US" sz="2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4D8D613-702A-9858-D0B3-041E6DF70368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92638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design question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</a:rPr>
              <a:t>Before asking “which model?” ask: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90195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</a:rPr>
              <a:t>What decision, prediction, or insight should improve because this model exists?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960120" y="374904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24712" y="3895344"/>
            <a:ext cx="27340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Prediction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Estimate an unknown or future value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26280" y="374904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90872" y="3895344"/>
            <a:ext cx="27340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Decision support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Rank, flag, recommend, or screen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92440" y="374904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3895344"/>
            <a:ext cx="27340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Discovery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Reveal patterns for further study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97280" y="5577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102E"/>
                </a:solidFill>
              </a:rPr>
              <a:t>The problem framing determines the data, model family, metric, and interpretation.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Anatomy of an ML 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55064"/>
            <a:ext cx="1362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</a:rPr>
              <a:t>Inputs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2648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6B7280"/>
                </a:solidFill>
              </a:rPr>
              <a:t>sensor readings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dirty="0">
                <a:solidFill>
                  <a:srgbClr val="6B7280"/>
                </a:solidFill>
              </a:rPr>
              <a:t>process parameters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dirty="0">
                <a:solidFill>
                  <a:srgbClr val="6B7280"/>
                </a:solidFill>
              </a:rPr>
              <a:t>student records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2350008" y="1965960"/>
            <a:ext cx="320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24912" y="15087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89504" y="1655064"/>
            <a:ext cx="1362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Model task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79192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6B7280"/>
                </a:solidFill>
              </a:rPr>
              <a:t>regression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dirty="0">
                <a:solidFill>
                  <a:srgbClr val="6B7280"/>
                </a:solidFill>
              </a:rPr>
              <a:t>classification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dirty="0">
                <a:solidFill>
                  <a:srgbClr val="6B7280"/>
                </a:solidFill>
              </a:rPr>
              <a:t>forecasting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4416552" y="1965960"/>
            <a:ext cx="320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91456" y="15087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56048" y="1655064"/>
            <a:ext cx="1362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</a:rPr>
              <a:t>Target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45736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6B7280"/>
                </a:solidFill>
              </a:rPr>
              <a:t>yield, defect, score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dirty="0">
                <a:solidFill>
                  <a:srgbClr val="6B7280"/>
                </a:solidFill>
              </a:rPr>
              <a:t>fault, class, demand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483096" y="1965960"/>
            <a:ext cx="320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0" y="15087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22592" y="1655064"/>
            <a:ext cx="1362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</a:rPr>
              <a:t>Unit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12280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6B7280"/>
                </a:solidFill>
              </a:rPr>
              <a:t>part, batch, patient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dirty="0">
                <a:solidFill>
                  <a:srgbClr val="6B7280"/>
                </a:solidFill>
              </a:rPr>
              <a:t>student, machine cycle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8549640" y="1965960"/>
            <a:ext cx="320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924544" y="15087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89136" y="1655064"/>
            <a:ext cx="1362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Metric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78824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6B7280"/>
                </a:solidFill>
              </a:rPr>
              <a:t>MAE, RMSE, R²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dirty="0">
                <a:solidFill>
                  <a:srgbClr val="6B7280"/>
                </a:solidFill>
              </a:rPr>
              <a:t>precision, recall, F1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960120" y="4572000"/>
            <a:ext cx="102412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70432" y="4773168"/>
            <a:ext cx="9829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Using ______ as inputs, develop a ______ model to predict or identify ______ for each ______, evaluated by ______.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the four essentials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</a:rPr>
              <a:t>Input variables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71800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What the model is allowed to know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03720" y="14173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Temperature, pressure, vibration, assignment activity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1847088"/>
            <a:ext cx="10241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</a:rPr>
              <a:t>Target variable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2514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What the model is trying to estimate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25146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Yield, final strength, fault status, retention risk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2944368"/>
            <a:ext cx="10241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</a:rPr>
              <a:t>Unit of observation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71800" y="3611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One row or prediction case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03720" y="36118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Part, batch, machine cycle, patient, student, building-day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4041648"/>
            <a:ext cx="10241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47091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</a:rPr>
              <a:t>Output format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71800" y="4709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How the model returns information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470916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Continuous value, probability, class label, cluster ID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7240" y="5138928"/>
            <a:ext cx="10241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5989320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Rule of thumb: inputs must be available at the time the prediction is made.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ML task from the question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298448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1444752"/>
            <a:ext cx="1636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8102E"/>
                </a:solidFill>
              </a:rPr>
              <a:t>Regression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1389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How much?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13898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final strength, energy, yield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176272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2322576"/>
            <a:ext cx="1636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Classification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2267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Which category?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22677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defect / no defect, pass / fail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054096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1832" y="3200400"/>
            <a:ext cx="1636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Clustering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17520" y="31455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groups exist?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3520" y="314553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operating regimes, student profiles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39319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1832" y="4078224"/>
            <a:ext cx="1636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Forecasting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17520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happens next?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40233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demand, sensor trajectory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4809744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41832" y="4956048"/>
            <a:ext cx="1636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Anomaly Detection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017520" y="4901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Is this unusual?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3520" y="490118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faults, outliers, rare events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Examples across disciplines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Domain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26187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20840" y="1261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ML task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0" y="12618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Possible target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</a:rPr>
              <a:t>Manufacturing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240280" y="16916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Will this run produce an acceptable part?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720840" y="1691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Classification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778240" y="1691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Accept / defect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594360" y="2130552"/>
            <a:ext cx="1056132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4414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</a:rPr>
              <a:t>Materials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2240280" y="24414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What final strength will result?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720840" y="2441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Regression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778240" y="2441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Tensile strength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594360" y="2880360"/>
            <a:ext cx="1056132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19125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</a:rPr>
              <a:t>Energy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2240280" y="31912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What will demand be tomorrow?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720840" y="319125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Forecasting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778240" y="319125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kWh demand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594360" y="3630168"/>
            <a:ext cx="1056132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94106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</a:rPr>
              <a:t>Education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2240280" y="39410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Which learners need support?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720840" y="394106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Classification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8778240" y="394106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Support-risk category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594360" y="4379976"/>
            <a:ext cx="1056132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4690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</a:rPr>
              <a:t>Bioprocessing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2240280" y="469087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Which runs have similar behavior?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6720840" y="46908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Clustering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8778240" y="4690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B7280"/>
                </a:solidFill>
              </a:rPr>
              <a:t>Operating group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594360" y="5129784"/>
            <a:ext cx="1056132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20" y="585216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Same dataset, different question → different model design.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Baselines and success criteria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 baseline answers: “What would happen if we did something simple?”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2203704"/>
            <a:ext cx="273405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Regression baseline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mean or median of the training target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205740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0872" y="2203704"/>
            <a:ext cx="273405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Classification baseline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majority class or simple rule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3880" y="205740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8472" y="2203704"/>
            <a:ext cx="273405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Operational baseline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Use current practice, expert rule, or manual workflow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43159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8102E"/>
                </a:solidFill>
              </a:rPr>
              <a:t>Success criteria combine technical performance and practical consequence: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4782312"/>
            <a:ext cx="4572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Metric threshold: e.g., recall ≥ 85% for rare faults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5321808"/>
            <a:ext cx="4754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Practical constraint: e.g., fewer than 5 false alarms per week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782312"/>
            <a:ext cx="43434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7500" lnSpcReduction="20000"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Scientific usefulness: e.g., interpretable features for follow-up study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5321808"/>
            <a:ext cx="43434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Adoption criterion: e.g., model informs a real decision in the workflow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Data-readiness checks before modeling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1655064"/>
            <a:ext cx="2642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Labels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Is the target measured reliably?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45152" y="1655064"/>
            <a:ext cx="2642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Timing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Are inputs available before prediction?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83880" y="150876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48472" y="1655064"/>
            <a:ext cx="2642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Leakage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Did we accidentally include the answer?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33756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" y="3483864"/>
            <a:ext cx="2642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Sample size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Are there enough observations for the task?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80560" y="333756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45152" y="3483864"/>
            <a:ext cx="2642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Representation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Do data cover relevant conditions?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83880" y="333756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48472" y="3483864"/>
            <a:ext cx="2642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Error cost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errors matter most?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5577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102E"/>
                </a:solidFill>
              </a:rPr>
              <a:t>Data quality is not a preprocessing detail; it determines whether the ML problem is answerable.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problem-framing canvas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472184"/>
            <a:ext cx="43799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Disciplinary problem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What challenge or opportunity motivates AI?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82512" y="1472184"/>
            <a:ext cx="43799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Prediction objective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What should be predicted, flagged, ranked, or discovered?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2980944"/>
            <a:ext cx="43799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Unit of observation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What does one row or prediction case represent?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83464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82512" y="2980944"/>
            <a:ext cx="43799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Inputs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What data are available before the prediction?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6112" y="4489704"/>
            <a:ext cx="43799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Target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What is the outcome or label?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43434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4489704"/>
            <a:ext cx="43799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Baseline + metric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What simple approach and evaluation metric will you compare against?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What would make your problem statement scientifically or operationally defensible?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example: machine-condition prediction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1472184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Problem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Reduce unexpected downtime in a manufacturing cell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86200" y="13258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50792" y="1472184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Objective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Predict fault risk in the next 24 hours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95160" y="13258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59752" y="1472184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Task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Binary classification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288036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" y="3026664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Inputs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current, vibration, temperature, cycle time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86200" y="288036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50792" y="3026664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Unit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one machine cycle or shift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95160" y="288036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59752" y="3026664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Target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fault / no fault label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103120" y="457200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67712" y="471830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</a:rPr>
              <a:t>Baseline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</a:rPr>
              <a:t>predict no fault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82512" y="471830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Metric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recall for fault class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 prompts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353312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1499616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decision would change if the model worked?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353312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82512" y="1499616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Can the target be measured reliably?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542032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2688336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Are inputs available before the prediction?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542032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82512" y="2688336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type of error is most costly?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3730752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3272" y="3877056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simple baseline must be beaten?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3730752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3877056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Would strong prediction imply understanding or causality?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71500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Use these prompts to move participants from “I have data” to “I have a well-posed ML design problem.”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Machine Learning Template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Write your ML problem statement: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10332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15568" y="214884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Using __________ as inputs, develop a __________ model to predict or identify __________ for each __________, evaluated by __________.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102E"/>
                </a:solidFill>
              </a:rPr>
              <a:t>What is the decision?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904488"/>
            <a:ext cx="44805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33375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102E"/>
                </a:solidFill>
              </a:rPr>
              <a:t>What data are available?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3904488"/>
            <a:ext cx="44805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102E"/>
                </a:solidFill>
              </a:rPr>
              <a:t>What is the target?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184648"/>
            <a:ext cx="44805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46177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102E"/>
                </a:solidFill>
              </a:rPr>
              <a:t>What is the baseline?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5184648"/>
            <a:ext cx="44805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F2937"/>
                </a:solidFill>
              </a:rPr>
              <a:t>Before you begin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</a:rPr>
              <a:t>You should have: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0391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A problem statement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2648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20391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A selected task type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9535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Defined inputs, target, unit of observation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29535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A baseline model or current-practice comparison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8679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An initial metric and practical success criterion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38679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One risk to resolve before modeling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57150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102E"/>
                </a:solidFill>
              </a:rPr>
              <a:t>Transition: Session 2 will place this framed problem into the broader classic ML landscape.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4D10F-8A4E-22BE-1E36-09B8ECC1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A5ED05-80A3-8695-F1F7-F8A9B407B36C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A6067F-E474-D1AB-3054-A0931781D018}"/>
              </a:ext>
            </a:extLst>
          </p:cNvPr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512967-61A0-A608-C688-23B46286099D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D5E945F-B909-5603-1678-A1EF74E9FCB1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16</a:t>
            </a:r>
            <a:endParaRPr lang="en-US" sz="8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171A8DEE-9C00-B522-7ECF-883C12B1C9D2}"/>
              </a:ext>
            </a:extLst>
          </p:cNvPr>
          <p:cNvSpPr/>
          <p:nvPr/>
        </p:nvSpPr>
        <p:spPr>
          <a:xfrm>
            <a:off x="566928" y="960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1 technical skill: load, inspect, frame</a:t>
            </a:r>
            <a:endParaRPr lang="en-US" sz="25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A258CF37-67CF-7DCD-651B-8BCBDF8DCAA6}"/>
              </a:ext>
            </a:extLst>
          </p:cNvPr>
          <p:cNvSpPr/>
          <p:nvPr/>
        </p:nvSpPr>
        <p:spPr>
          <a:xfrm>
            <a:off x="585216" y="14813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Goal: make inputs, target, units, task, baseline, and metric explicit before modeling.</a:t>
            </a:r>
            <a:endParaRPr lang="en-US" sz="115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C67EF557-18E9-42BC-95D6-0CAD6134D78E}"/>
              </a:ext>
            </a:extLst>
          </p:cNvPr>
          <p:cNvSpPr/>
          <p:nvPr/>
        </p:nvSpPr>
        <p:spPr>
          <a:xfrm>
            <a:off x="704088" y="1965960"/>
            <a:ext cx="4800600" cy="20574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185A802A-AD90-6E4D-7641-5644A96B84BA}"/>
              </a:ext>
            </a:extLst>
          </p:cNvPr>
          <p:cNvSpPr/>
          <p:nvPr/>
        </p:nvSpPr>
        <p:spPr>
          <a:xfrm>
            <a:off x="868680" y="2093976"/>
            <a:ext cx="447141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pandas as pd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 = pd.read_csv("iris_workshop.csv")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df.head()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df.shape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df.dtypes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df.isna().sum()</a:t>
            </a:r>
            <a:endParaRPr lang="en-US" sz="112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A3867B65-CB5A-CC89-040B-2C8FBB2917FE}"/>
              </a:ext>
            </a:extLst>
          </p:cNvPr>
          <p:cNvSpPr/>
          <p:nvPr/>
        </p:nvSpPr>
        <p:spPr>
          <a:xfrm>
            <a:off x="6099048" y="196596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80ED"/>
                </a:solidFill>
              </a:rPr>
              <a:t>What faculty should identify</a:t>
            </a:r>
            <a:endParaRPr lang="en-US" sz="15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40860894-9DC5-78B8-54BD-F90F25B5DB43}"/>
              </a:ext>
            </a:extLst>
          </p:cNvPr>
          <p:cNvSpPr/>
          <p:nvPr/>
        </p:nvSpPr>
        <p:spPr>
          <a:xfrm>
            <a:off x="6099048" y="2304288"/>
            <a:ext cx="5074920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What does one row represent?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Which columns are inputs?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What is the target?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What are the units?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Is the task regression, classification, clustering, or forecasting?</a:t>
            </a:r>
            <a:endParaRPr lang="en-US" sz="1250" dirty="0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2BE60D7A-2D01-C79F-7B59-92FDC5A2B28A}"/>
              </a:ext>
            </a:extLst>
          </p:cNvPr>
          <p:cNvSpPr/>
          <p:nvPr/>
        </p:nvSpPr>
        <p:spPr>
          <a:xfrm>
            <a:off x="704088" y="45262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02652CA6-D6B8-7E99-F0EE-127FFF3AF27F}"/>
              </a:ext>
            </a:extLst>
          </p:cNvPr>
          <p:cNvSpPr/>
          <p:nvPr/>
        </p:nvSpPr>
        <p:spPr>
          <a:xfrm>
            <a:off x="704088" y="459486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Session 1 notebook</a:t>
            </a:r>
            <a:endParaRPr lang="en-US" sz="85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AC25BBC2-105F-8621-8FBB-C5855555F426}"/>
              </a:ext>
            </a:extLst>
          </p:cNvPr>
          <p:cNvSpPr/>
          <p:nvPr/>
        </p:nvSpPr>
        <p:spPr>
          <a:xfrm>
            <a:off x="2258568" y="45628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01_session1_loading_and_framing.ipynb</a:t>
            </a:r>
            <a:endParaRPr lang="en-US" sz="115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25DC99EB-BB36-BC00-8B73-1231E9D09217}"/>
              </a:ext>
            </a:extLst>
          </p:cNvPr>
          <p:cNvSpPr/>
          <p:nvPr/>
        </p:nvSpPr>
        <p:spPr>
          <a:xfrm>
            <a:off x="704088" y="52578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</a:rPr>
              <a:t>Instructor prompt</a:t>
            </a:r>
            <a:endParaRPr lang="en-US" sz="15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FE107BEA-4EDA-F2B2-6598-4385D3213183}"/>
              </a:ext>
            </a:extLst>
          </p:cNvPr>
          <p:cNvSpPr/>
          <p:nvPr/>
        </p:nvSpPr>
        <p:spPr>
          <a:xfrm>
            <a:off x="704088" y="5596128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“Before we choose a model, describe the problem using the table: unit of observation, inputs, input units, target, task, baseline, metric.”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809673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AC51B9-4B56-9FE3-7255-99CE404FF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639209-484D-B303-0784-21C1012F5B54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2B5CBA-4BAA-497A-157E-1ED307E8BCC2}"/>
              </a:ext>
            </a:extLst>
          </p:cNvPr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854661-3A3A-CBFB-59EE-E0BCD6A53257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0509AF9-215E-6F63-E3A4-4B725FAB6ED7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16</a:t>
            </a:r>
            <a:endParaRPr lang="en-US" sz="8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52FB6CD-AAA2-7A72-C4A6-996E44710780}"/>
              </a:ext>
            </a:extLst>
          </p:cNvPr>
          <p:cNvSpPr/>
          <p:nvPr/>
        </p:nvSpPr>
        <p:spPr>
          <a:xfrm>
            <a:off x="533400" y="7015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1 example: the Iris problem as a framing template</a:t>
            </a:r>
            <a:endParaRPr lang="en-US" sz="25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C8844B0-A3D6-E1FE-64BF-32C5E1A4106F}"/>
              </a:ext>
            </a:extLst>
          </p:cNvPr>
          <p:cNvSpPr/>
          <p:nvPr/>
        </p:nvSpPr>
        <p:spPr>
          <a:xfrm>
            <a:off x="551688" y="122275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Use a familiar dataset to model the vocabulary faculty will apply to their own disciplines.</a:t>
            </a:r>
            <a:endParaRPr lang="en-US" sz="115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4FBB83E-A825-7162-B46F-29EC24CF9418}"/>
              </a:ext>
            </a:extLst>
          </p:cNvPr>
          <p:cNvSpPr/>
          <p:nvPr/>
        </p:nvSpPr>
        <p:spPr>
          <a:xfrm>
            <a:off x="716280" y="18902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80ED"/>
                </a:solidFill>
              </a:rPr>
              <a:t>Unit</a:t>
            </a:r>
            <a:endParaRPr lang="en-US" sz="15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2C30A444-27CA-1641-B19D-E2FBE37CE467}"/>
              </a:ext>
            </a:extLst>
          </p:cNvPr>
          <p:cNvSpPr/>
          <p:nvPr/>
        </p:nvSpPr>
        <p:spPr>
          <a:xfrm>
            <a:off x="716280" y="22743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One flower</a:t>
            </a:r>
            <a:endParaRPr lang="en-US" sz="16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5878CE4B-3E01-F536-B1D3-07339D5D280D}"/>
              </a:ext>
            </a:extLst>
          </p:cNvPr>
          <p:cNvSpPr/>
          <p:nvPr/>
        </p:nvSpPr>
        <p:spPr>
          <a:xfrm>
            <a:off x="4465320" y="18902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</a:rPr>
              <a:t>Inputs</a:t>
            </a:r>
            <a:endParaRPr lang="en-US" sz="15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A096DE0D-698B-7E20-46B0-7B6B3A78BF3D}"/>
              </a:ext>
            </a:extLst>
          </p:cNvPr>
          <p:cNvSpPr/>
          <p:nvPr/>
        </p:nvSpPr>
        <p:spPr>
          <a:xfrm>
            <a:off x="4465320" y="22743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Petal length, petal width</a:t>
            </a:r>
            <a:endParaRPr lang="en-US" sz="16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35959DAE-424B-5890-F71C-DC91537762A3}"/>
              </a:ext>
            </a:extLst>
          </p:cNvPr>
          <p:cNvSpPr/>
          <p:nvPr/>
        </p:nvSpPr>
        <p:spPr>
          <a:xfrm>
            <a:off x="8214360" y="18902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</a:rPr>
              <a:t>Units</a:t>
            </a:r>
            <a:endParaRPr lang="en-US" sz="15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FA23472B-A36B-EA61-145E-DB8B39FB4BAA}"/>
              </a:ext>
            </a:extLst>
          </p:cNvPr>
          <p:cNvSpPr/>
          <p:nvPr/>
        </p:nvSpPr>
        <p:spPr>
          <a:xfrm>
            <a:off x="8214360" y="22743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Centimeters</a:t>
            </a:r>
            <a:endParaRPr lang="en-US" sz="16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49E5E6D9-C62B-53A2-B651-D1DF81677917}"/>
              </a:ext>
            </a:extLst>
          </p:cNvPr>
          <p:cNvSpPr/>
          <p:nvPr/>
        </p:nvSpPr>
        <p:spPr>
          <a:xfrm>
            <a:off x="716280" y="33533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</a:rPr>
              <a:t>Target</a:t>
            </a:r>
            <a:endParaRPr lang="en-US" sz="15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578926D4-0F03-9991-56A5-6CC46ECA2FB9}"/>
              </a:ext>
            </a:extLst>
          </p:cNvPr>
          <p:cNvSpPr/>
          <p:nvPr/>
        </p:nvSpPr>
        <p:spPr>
          <a:xfrm>
            <a:off x="716280" y="37373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Species</a:t>
            </a:r>
            <a:endParaRPr lang="en-US" sz="16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4B9D31F8-AC9D-FE2A-E087-40E130EBC469}"/>
              </a:ext>
            </a:extLst>
          </p:cNvPr>
          <p:cNvSpPr/>
          <p:nvPr/>
        </p:nvSpPr>
        <p:spPr>
          <a:xfrm>
            <a:off x="4465320" y="33533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Task</a:t>
            </a:r>
            <a:endParaRPr lang="en-US" sz="15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9344AFA2-1C5B-B16A-B9DB-7CE3DABF719E}"/>
              </a:ext>
            </a:extLst>
          </p:cNvPr>
          <p:cNvSpPr/>
          <p:nvPr/>
        </p:nvSpPr>
        <p:spPr>
          <a:xfrm>
            <a:off x="4465320" y="37373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Multiclass classification</a:t>
            </a:r>
            <a:endParaRPr lang="en-US" sz="16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6D79D0B4-0143-F411-E00E-D30DB7C1741E}"/>
              </a:ext>
            </a:extLst>
          </p:cNvPr>
          <p:cNvSpPr/>
          <p:nvPr/>
        </p:nvSpPr>
        <p:spPr>
          <a:xfrm>
            <a:off x="8214360" y="33533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Metric</a:t>
            </a:r>
            <a:endParaRPr lang="en-US" sz="150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FF24522B-CA98-7257-3C68-776AF9E5B151}"/>
              </a:ext>
            </a:extLst>
          </p:cNvPr>
          <p:cNvSpPr/>
          <p:nvPr/>
        </p:nvSpPr>
        <p:spPr>
          <a:xfrm>
            <a:off x="8214360" y="37373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Accuracy</a:t>
            </a:r>
            <a:endParaRPr lang="en-US" sz="160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4B429EA5-61BE-5FAA-AF13-7777EAD8DA5F}"/>
              </a:ext>
            </a:extLst>
          </p:cNvPr>
          <p:cNvSpPr/>
          <p:nvPr/>
        </p:nvSpPr>
        <p:spPr>
          <a:xfrm>
            <a:off x="762000" y="5136388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79AA7409-083D-E4B7-D353-302AC71CBDFC}"/>
              </a:ext>
            </a:extLst>
          </p:cNvPr>
          <p:cNvSpPr/>
          <p:nvPr/>
        </p:nvSpPr>
        <p:spPr>
          <a:xfrm>
            <a:off x="926592" y="5264404"/>
            <a:ext cx="49286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input_columns = ["PetalLength_cm", "PetalWidth_cm"]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target_column = "Species"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df[input_columns]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 = df[target_column]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98265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Applied AI design begins with problem formulation, not model selection.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96926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dirty="0">
                <a:solidFill>
                  <a:srgbClr val="1F2937"/>
                </a:solidFill>
              </a:rPr>
              <a:t>Define the prediction objective in decision-relevant language.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96926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dirty="0">
                <a:solidFill>
                  <a:srgbClr val="1F2937"/>
                </a:solidFill>
              </a:rPr>
              <a:t>Separate inputs, target, output, and unit of observation.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337560"/>
            <a:ext cx="96926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dirty="0">
                <a:solidFill>
                  <a:srgbClr val="1F2937"/>
                </a:solidFill>
              </a:rPr>
              <a:t>Select the ML task based on the question being asked.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96926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dirty="0">
                <a:solidFill>
                  <a:srgbClr val="1F2937"/>
                </a:solidFill>
              </a:rPr>
              <a:t>Use baselines and metrics to avoid vague claims of “good performance.”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4526280"/>
            <a:ext cx="96926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dirty="0">
                <a:solidFill>
                  <a:srgbClr val="1F2937"/>
                </a:solidFill>
              </a:rPr>
              <a:t>Check data availability, leakage, labels, and error consequences early.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120" y="5715000"/>
            <a:ext cx="10195560" cy="512064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24712" y="5861304"/>
            <a:ext cx="9866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</a:rPr>
              <a:t>Next: Classic machine learning overview — matching framed problems to model families.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1734</Words>
  <Application>Microsoft Office PowerPoint</Application>
  <PresentationFormat>Widescreen</PresentationFormat>
  <Paragraphs>372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Engineering or Disciplinary Problem to Machine Learning Problem</dc:title>
  <dc:subject>Session 1 Applied AI Design Workshop</dc:subject>
  <dc:creator>Fred Livingston</dc:creator>
  <cp:lastModifiedBy>Fred Livingston</cp:lastModifiedBy>
  <cp:revision>8</cp:revision>
  <dcterms:created xsi:type="dcterms:W3CDTF">2026-07-14T20:12:12Z</dcterms:created>
  <dcterms:modified xsi:type="dcterms:W3CDTF">2026-07-15T05:46:48Z</dcterms:modified>
</cp:coreProperties>
</file>