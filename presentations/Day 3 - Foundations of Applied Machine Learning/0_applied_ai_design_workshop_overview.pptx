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6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2632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C State Engineering -- ANS / Conferences / 2021 Student Conference">
            <a:extLst>
              <a:ext uri="{FF2B5EF4-FFF2-40B4-BE49-F238E27FC236}">
                <a16:creationId xmlns:a16="http://schemas.microsoft.com/office/drawing/2014/main" id="{241F08B9-0DD1-8CF1-9C46-16966AC0E8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87169" y="306759"/>
            <a:ext cx="1551223" cy="4324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Workshop, Livingston 2026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pic>
        <p:nvPicPr>
          <p:cNvPr id="4" name="Picture 3" descr="NC State Engineering -- ANS / Conferences / 2021 Student Conference">
            <a:extLst>
              <a:ext uri="{FF2B5EF4-FFF2-40B4-BE49-F238E27FC236}">
                <a16:creationId xmlns:a16="http://schemas.microsoft.com/office/drawing/2014/main" id="{62CF8C9A-1167-E04E-B636-707C007825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24123" y="275445"/>
            <a:ext cx="1551223" cy="43240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Applied AI Design Workshop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49808" y="217226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Classic machine learning foundations for faculty-centered AI design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Fred Livingston (fjliving@ncsu.edu)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Fitts Wollard Department of Industrial and System Engineering, NCSU</a:t>
            </a:r>
          </a:p>
        </p:txBody>
      </p:sp>
      <p:sp>
        <p:nvSpPr>
          <p:cNvPr id="4" name="Text 2"/>
          <p:cNvSpPr/>
          <p:nvPr/>
        </p:nvSpPr>
        <p:spPr>
          <a:xfrm>
            <a:off x="749808" y="35404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Workshop overview • Schedule • Learning activities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9808" y="4089120"/>
            <a:ext cx="530352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4454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D4ED8"/>
                </a:solidFill>
              </a:rPr>
              <a:t>Day 3 → Day 4 → Day 5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49808" y="49120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</a:rPr>
              <a:t>Problem framing, data preparation, model development, evaluation, interpretation, and error analysis.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Workshop Outcomes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What you should leave prepared to do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73152" cy="1234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453896"/>
            <a:ext cx="30632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 applied AI problems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801368"/>
            <a:ext cx="3063240" cy="6675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disciplinary questions into prediction tasks with clear inputs, targets, units of observation, baselines, and success criteria.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132588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34840" y="1325880"/>
            <a:ext cx="73152" cy="1234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1453896"/>
            <a:ext cx="30632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useful data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1801368"/>
            <a:ext cx="3063240" cy="6675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data-quality issues, create meaningful features, prevent leakage, and structure data for model development.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83880" y="132588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183880" y="1325880"/>
            <a:ext cx="73152" cy="12344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12480" y="1453896"/>
            <a:ext cx="30632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and evaluate models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0" y="1801368"/>
            <a:ext cx="3063240" cy="6675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metrics, compare models against baselines, interpret outputs, and diagnose model errors.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560320" y="306324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60320" y="3063240"/>
            <a:ext cx="73152" cy="12344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88920" y="3191256"/>
            <a:ext cx="30632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 results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788920" y="3538728"/>
            <a:ext cx="3063240" cy="6675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residuals, confusion matrices, feature importance, and error patterns to connect model behavior to disciplinary meaning.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09360" y="306324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09360" y="3063240"/>
            <a:ext cx="73152" cy="123444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37960" y="3191256"/>
            <a:ext cx="30632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in teaching &amp; research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3538728"/>
            <a:ext cx="3063240" cy="6675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feasible classroom activities and research workflows for classical ML and applied AI adoption.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68680" y="4983480"/>
            <a:ext cx="105156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path: problem formulation → data/features → model development → validation → interpretation → improvement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Consolidated Workshop Schedule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Three-day consolidation of classic ML topics and invited presentations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234440"/>
            <a:ext cx="12801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926080" y="1234440"/>
            <a:ext cx="24688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Theme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89320" y="1234440"/>
            <a:ext cx="30175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Classic ML Topics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72600" y="1234440"/>
            <a:ext cx="20116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Invited Presentation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143000"/>
            <a:ext cx="10972800" cy="438912"/>
          </a:xfrm>
          <a:prstGeom prst="roundRect">
            <a:avLst>
              <a:gd name="adj" fmla="val 833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10972800" cy="7315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1938528"/>
            <a:ext cx="12801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14600" y="1938528"/>
            <a:ext cx="2194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810512"/>
            <a:ext cx="35204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formulation, regression, classification, and baseline modeling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281160" y="1938528"/>
            <a:ext cx="1965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DK Xu — 30 min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2651760"/>
            <a:ext cx="1097280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2852928"/>
            <a:ext cx="12801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14600" y="2852928"/>
            <a:ext cx="2194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and Features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83480" y="2724912"/>
            <a:ext cx="35204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preparation, time-series features, clustering, and PCA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281160" y="2852928"/>
            <a:ext cx="1965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Andrew Petersen — 30 min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" y="3566160"/>
            <a:ext cx="10972800" cy="7315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6350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3767328"/>
            <a:ext cx="12801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514600" y="3767328"/>
            <a:ext cx="2194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and Interpretation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83480" y="3639312"/>
            <a:ext cx="35204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Validation, tree-based models, feature selection, model comparison, and error analysis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281160" y="3767328"/>
            <a:ext cx="1965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Vijay Shah — 30 min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2960" y="4892040"/>
            <a:ext cx="105156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principle: each day builds toward a faculty-ready applied AI workflow.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Activities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How you will engage with the material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73152" cy="1143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362456"/>
            <a:ext cx="29260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Mini-lectures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1709928"/>
            <a:ext cx="2926080" cy="5760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Concise conceptual framing with applied examples.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80560" y="123444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80560" y="1234440"/>
            <a:ext cx="73152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09160" y="1362456"/>
            <a:ext cx="29260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sorting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9160" y="1709928"/>
            <a:ext cx="2926080" cy="5760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disciplinary problems to ML task types.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123444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0" y="1234440"/>
            <a:ext cx="73152" cy="11430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58200" y="1362456"/>
            <a:ext cx="29260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walkthroughs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58200" y="1709928"/>
            <a:ext cx="2926080" cy="5760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Inspect, clean, split, and model small tabular datasets.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283464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1520" y="2834640"/>
            <a:ext cx="73152" cy="11430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0120" y="2962656"/>
            <a:ext cx="29260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interpretation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3310128"/>
            <a:ext cx="2926080" cy="5760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residuals and confusion matrices to reason about model quality.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480560" y="283464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480560" y="2834640"/>
            <a:ext cx="73152" cy="11430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09160" y="2962656"/>
            <a:ext cx="29260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discussion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09160" y="3310128"/>
            <a:ext cx="2926080" cy="5760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models using accuracy, error patterns, interpretability, and usefulness.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29600" y="283464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229600" y="2834640"/>
            <a:ext cx="73152" cy="11430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458200" y="2962656"/>
            <a:ext cx="29260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Brainstorming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58200" y="3310128"/>
            <a:ext cx="2926080" cy="5760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questions, disciplinary translation issues, and follow-up topics.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05840" y="4983480"/>
            <a:ext cx="101498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Activities emphasize “design judgment” rather than just running a tool.</a:t>
            </a:r>
            <a:endParaRPr lang="en-US" sz="18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3 — Foundations of Applied Machine Learning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Problem formulation, regression, classification, and baseline modeling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152144"/>
            <a:ext cx="10972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88920" y="1152144"/>
            <a:ext cx="68580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 / Activity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12680" y="1152144"/>
            <a:ext cx="11887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17320"/>
            <a:ext cx="1097280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9808" y="1517904"/>
            <a:ext cx="9144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88920" y="1481328"/>
            <a:ext cx="68122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Engineering or Disciplinary Problem to Machine Learning Problem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1984248"/>
            <a:ext cx="1097280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808" y="2084832"/>
            <a:ext cx="9144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88920" y="2048256"/>
            <a:ext cx="68122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 Machine Learning Overview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" y="2551176"/>
            <a:ext cx="10972800" cy="438912"/>
          </a:xfrm>
          <a:prstGeom prst="roundRect">
            <a:avLst>
              <a:gd name="adj" fmla="val 8333"/>
            </a:avLst>
          </a:prstGeom>
          <a:solidFill>
            <a:srgbClr val="DBEAFE"/>
          </a:solidFill>
          <a:ln w="6350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9808" y="2651760"/>
            <a:ext cx="9144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Invited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88920" y="2615184"/>
            <a:ext cx="68122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Prompts to Agents: Scalable, Efficient, and Grounded Agentic AI for Engineering Workflows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012680" y="2651760"/>
            <a:ext cx="12344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DK Xu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" y="3118104"/>
            <a:ext cx="10972800" cy="438912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6350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49808" y="3218688"/>
            <a:ext cx="9144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88920" y="3182112"/>
            <a:ext cx="68122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4360" y="3685032"/>
            <a:ext cx="1097280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49808" y="3785616"/>
            <a:ext cx="9144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88920" y="3749040"/>
            <a:ext cx="68122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 Fundamentals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94360" y="4251960"/>
            <a:ext cx="1097280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49808" y="4352544"/>
            <a:ext cx="9144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88920" y="4315968"/>
            <a:ext cx="68122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 Fundamentals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94360" y="4818888"/>
            <a:ext cx="1097280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49808" y="4919472"/>
            <a:ext cx="9144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788920" y="4882896"/>
            <a:ext cx="68122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Hands-On Activity: Building a Baseline ML Model</a:t>
            </a:r>
            <a:endParaRPr lang="en-US" sz="105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3 Learning Outcomes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By the end of Day 3, you should be able to: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05840" y="1325880"/>
            <a:ext cx="9966960" cy="3291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100" dirty="0">
                <a:solidFill>
                  <a:srgbClr val="374151"/>
                </a:solidFill>
              </a:rPr>
              <a:t>Translate a disciplinary problem into a suitable ML task.</a:t>
            </a:r>
            <a:endParaRPr lang="en-US" sz="2100" dirty="0"/>
          </a:p>
          <a:p>
            <a:r>
              <a:rPr lang="en-US" sz="2100" dirty="0">
                <a:solidFill>
                  <a:srgbClr val="374151"/>
                </a:solidFill>
              </a:rPr>
              <a:t>Distinguish regression, classification, clustering, and forecasting problems.</a:t>
            </a:r>
            <a:endParaRPr lang="en-US" sz="2100" dirty="0"/>
          </a:p>
          <a:p>
            <a:r>
              <a:rPr lang="en-US" sz="2100" dirty="0">
                <a:solidFill>
                  <a:srgbClr val="374151"/>
                </a:solidFill>
              </a:rPr>
              <a:t>Establish an appropriate baseline model.</a:t>
            </a:r>
            <a:endParaRPr lang="en-US" sz="2100" dirty="0"/>
          </a:p>
          <a:p>
            <a:r>
              <a:rPr lang="en-US" sz="2100" dirty="0">
                <a:solidFill>
                  <a:srgbClr val="374151"/>
                </a:solidFill>
              </a:rPr>
              <a:t>Select initial metrics for evaluating model performance.</a:t>
            </a:r>
            <a:endParaRPr lang="en-US" sz="2100" dirty="0"/>
          </a:p>
          <a:p>
            <a:r>
              <a:rPr lang="en-US" sz="2100" dirty="0">
                <a:solidFill>
                  <a:srgbClr val="374151"/>
                </a:solidFill>
              </a:rPr>
              <a:t>Explain how classic machine learning differs from generative and agentic AI.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005840" y="5029200"/>
            <a:ext cx="10149840" cy="640080"/>
          </a:xfrm>
          <a:prstGeom prst="roundRect">
            <a:avLst>
              <a:gd name="adj" fmla="val 8571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5157216"/>
            <a:ext cx="97840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3 anchors the workshop: clear problem framing makes every downstream AI decision more defensible.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4 — Data Preparation, Feature Engineering, 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 Model Development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3817" y="86868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Data preparation, time-series features, clustering, and PCA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152144"/>
            <a:ext cx="10972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88920" y="1152144"/>
            <a:ext cx="68580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 / Activity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12680" y="1152144"/>
            <a:ext cx="11887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417320"/>
            <a:ext cx="1097280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1517904"/>
            <a:ext cx="9144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88920" y="1481328"/>
            <a:ext cx="68122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Preparation and Feature Engineering for Applied AI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1929384"/>
            <a:ext cx="1097280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" y="2029968"/>
            <a:ext cx="9144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88920" y="1993392"/>
            <a:ext cx="68122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Time-Series Feature Engineering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2441448"/>
            <a:ext cx="10972800" cy="438912"/>
          </a:xfrm>
          <a:prstGeom prst="roundRect">
            <a:avLst>
              <a:gd name="adj" fmla="val 8333"/>
            </a:avLst>
          </a:prstGeom>
          <a:solidFill>
            <a:srgbClr val="CCFBF1"/>
          </a:solidFill>
          <a:ln w="6350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9808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Invited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88920" y="2505456"/>
            <a:ext cx="68122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and AI Workflows on NCSU’s Hazel HPC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012680" y="2542032"/>
            <a:ext cx="12344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Andrew Petersen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" y="2953512"/>
            <a:ext cx="10972800" cy="438912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 w="6350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49808" y="3054096"/>
            <a:ext cx="9144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88920" y="3017520"/>
            <a:ext cx="68122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4360" y="3465576"/>
            <a:ext cx="1097280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49808" y="3566160"/>
            <a:ext cx="9144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 Topic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88920" y="3529584"/>
            <a:ext cx="68122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Faculty-Selected Applied AI Topic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012680" y="3566160"/>
            <a:ext cx="12344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Facilitated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94360" y="3977640"/>
            <a:ext cx="1097280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49808" y="4078224"/>
            <a:ext cx="9144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88920" y="4041648"/>
            <a:ext cx="68122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Unsupervised Learning for Discovery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94360" y="4489704"/>
            <a:ext cx="1097280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49808" y="4590288"/>
            <a:ext cx="9144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788920" y="4553712"/>
            <a:ext cx="68122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Dimensionality Reduction and Visualization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94360" y="5001768"/>
            <a:ext cx="1097280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49808" y="5102352"/>
            <a:ext cx="9144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Brainstorming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788920" y="5065776"/>
            <a:ext cx="68122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impressions, unresolved questions, and topics requiring discussion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0012680" y="5102352"/>
            <a:ext cx="12344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Facilitated</a:t>
            </a:r>
            <a:endParaRPr lang="en-US" sz="105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4 Learning Outcomes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You should be able to: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05840" y="1170432"/>
            <a:ext cx="9966960" cy="4023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900" dirty="0">
                <a:solidFill>
                  <a:srgbClr val="374151"/>
                </a:solidFill>
              </a:rPr>
              <a:t>Identify common data-quality problems before model development.</a:t>
            </a:r>
            <a:endParaRPr lang="en-US" sz="1900" dirty="0"/>
          </a:p>
          <a:p>
            <a:r>
              <a:rPr lang="en-US" sz="1900" dirty="0">
                <a:solidFill>
                  <a:srgbClr val="374151"/>
                </a:solidFill>
              </a:rPr>
              <a:t>Prevent data leakage during preprocessing.</a:t>
            </a:r>
            <a:endParaRPr lang="en-US" sz="1900" dirty="0"/>
          </a:p>
          <a:p>
            <a:r>
              <a:rPr lang="en-US" sz="1900" dirty="0">
                <a:solidFill>
                  <a:srgbClr val="374151"/>
                </a:solidFill>
              </a:rPr>
              <a:t>Create meaningful features from engineering, scientific, and time-series data.</a:t>
            </a:r>
            <a:endParaRPr lang="en-US" sz="1900" dirty="0"/>
          </a:p>
          <a:p>
            <a:r>
              <a:rPr lang="en-US" sz="1900" dirty="0">
                <a:solidFill>
                  <a:srgbClr val="374151"/>
                </a:solidFill>
              </a:rPr>
              <a:t>Apply clustering to unlabeled datasets.</a:t>
            </a:r>
            <a:endParaRPr lang="en-US" sz="1900" dirty="0"/>
          </a:p>
          <a:p>
            <a:r>
              <a:rPr lang="en-US" sz="1900" dirty="0">
                <a:solidFill>
                  <a:srgbClr val="374151"/>
                </a:solidFill>
              </a:rPr>
              <a:t>Use PCA to visualize and simplify high-dimensional data.</a:t>
            </a:r>
            <a:endParaRPr lang="en-US" sz="1900" dirty="0"/>
          </a:p>
          <a:p>
            <a:r>
              <a:rPr lang="en-US" sz="1900" dirty="0">
                <a:solidFill>
                  <a:srgbClr val="374151"/>
                </a:solidFill>
              </a:rPr>
              <a:t>Identify computing needs for larger AI and LLM workflows.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005840" y="5577840"/>
            <a:ext cx="10149840" cy="475488"/>
          </a:xfrm>
          <a:prstGeom prst="roundRect">
            <a:avLst>
              <a:gd name="adj" fmla="val 11538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5669280"/>
            <a:ext cx="97840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4 emphasizes the data work that determines whether models learn meaningful patterns.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5 — Model Evaluation, Interpretation, and Selection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Validation, tree-based models, feature selection, model comparison, and error analysis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77240" y="1152144"/>
            <a:ext cx="10972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88920" y="1152144"/>
            <a:ext cx="68580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 / Activity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12680" y="1152144"/>
            <a:ext cx="11887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463040"/>
            <a:ext cx="1097280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1563624"/>
            <a:ext cx="9144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29968" y="1563624"/>
            <a:ext cx="548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88920" y="1527048"/>
            <a:ext cx="68122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Evaluation and Experimental Design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2084832"/>
            <a:ext cx="1097280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" y="2185416"/>
            <a:ext cx="9144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29968" y="2185416"/>
            <a:ext cx="548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88920" y="2148840"/>
            <a:ext cx="68122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Tree-Based Models and Feature Importance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2706624"/>
            <a:ext cx="10972800" cy="438912"/>
          </a:xfrm>
          <a:prstGeom prst="roundRect">
            <a:avLst>
              <a:gd name="adj" fmla="val 8333"/>
            </a:avLst>
          </a:prstGeom>
          <a:solidFill>
            <a:srgbClr val="EDE9FE"/>
          </a:solidFill>
          <a:ln w="6350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9808" y="2807208"/>
            <a:ext cx="9144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Invited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29968" y="2807208"/>
            <a:ext cx="548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88920" y="2770632"/>
            <a:ext cx="68122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NeuralSmith: An Automated AI/ML Engineering Co-Pilot for Domain Scientists and Engineers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012680" y="2807208"/>
            <a:ext cx="12344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Vijay Shah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" y="3328416"/>
            <a:ext cx="1097280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49808" y="3429000"/>
            <a:ext cx="9144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29968" y="3429000"/>
            <a:ext cx="548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788920" y="3392424"/>
            <a:ext cx="68122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Selection and Model Simplification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4360" y="3950208"/>
            <a:ext cx="1097280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49808" y="4050792"/>
            <a:ext cx="9144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029968" y="4050792"/>
            <a:ext cx="548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88920" y="4014216"/>
            <a:ext cx="68122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Case Study: Selecting and Evaluating an ML Model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94360" y="4572000"/>
            <a:ext cx="1097280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6D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49808" y="4672584"/>
            <a:ext cx="9144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029968" y="4672584"/>
            <a:ext cx="548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788920" y="4636008"/>
            <a:ext cx="68122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Analysis and Model Improvement Activity</a:t>
            </a:r>
            <a:endParaRPr lang="en-US" sz="10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5 Learning Outcomes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You should be able to: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05840" y="1170432"/>
            <a:ext cx="9966960" cy="4023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900" dirty="0">
                <a:solidFill>
                  <a:srgbClr val="374151"/>
                </a:solidFill>
              </a:rPr>
              <a:t>Design an appropriate validation strategy.</a:t>
            </a:r>
            <a:endParaRPr lang="en-US" sz="1900" dirty="0"/>
          </a:p>
          <a:p>
            <a:r>
              <a:rPr lang="en-US" sz="1900" dirty="0">
                <a:solidFill>
                  <a:srgbClr val="374151"/>
                </a:solidFill>
              </a:rPr>
              <a:t>Select metrics based on the type of prediction problem.</a:t>
            </a:r>
            <a:endParaRPr lang="en-US" sz="1900" dirty="0"/>
          </a:p>
          <a:p>
            <a:r>
              <a:rPr lang="en-US" sz="1900" dirty="0">
                <a:solidFill>
                  <a:srgbClr val="374151"/>
                </a:solidFill>
              </a:rPr>
              <a:t>Interpret tree-based models and feature-importance results.</a:t>
            </a:r>
            <a:endParaRPr lang="en-US" sz="1900" dirty="0"/>
          </a:p>
          <a:p>
            <a:r>
              <a:rPr lang="en-US" sz="1900" dirty="0">
                <a:solidFill>
                  <a:srgbClr val="374151"/>
                </a:solidFill>
              </a:rPr>
              <a:t>Reduce model complexity through feature selection.</a:t>
            </a:r>
            <a:endParaRPr lang="en-US" sz="1900" dirty="0"/>
          </a:p>
          <a:p>
            <a:r>
              <a:rPr lang="en-US" sz="1900" dirty="0">
                <a:solidFill>
                  <a:srgbClr val="374151"/>
                </a:solidFill>
              </a:rPr>
              <a:t>Compare models based on performance, interpretability, and disciplinary usefulness.</a:t>
            </a:r>
            <a:endParaRPr lang="en-US" sz="1900" dirty="0"/>
          </a:p>
          <a:p>
            <a:r>
              <a:rPr lang="en-US" sz="1900" dirty="0">
                <a:solidFill>
                  <a:srgbClr val="374151"/>
                </a:solidFill>
              </a:rPr>
              <a:t>Diagnose underfitting, overfitting, systematic errors, and poorly represented cases.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005840" y="5577840"/>
            <a:ext cx="10149840" cy="475488"/>
          </a:xfrm>
          <a:prstGeom prst="roundRect">
            <a:avLst>
              <a:gd name="adj" fmla="val 11538"/>
            </a:avLst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5669280"/>
            <a:ext cx="97840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5 turns model outputs into defensible decisions about model quality and usefulness.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Workshop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A practical sequence for applied AI design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658368" cy="65836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23544" y="1975104"/>
            <a:ext cx="2743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536192" y="1993392"/>
            <a:ext cx="411480" cy="32004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2697480"/>
            <a:ext cx="9144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3035808"/>
            <a:ext cx="13258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objective, target, unit, baseline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78608" y="1828800"/>
            <a:ext cx="658368" cy="65836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70632" y="1975104"/>
            <a:ext cx="2743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83280" y="1993392"/>
            <a:ext cx="411480" cy="32004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41448" y="2697480"/>
            <a:ext cx="9144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58568" y="3035808"/>
            <a:ext cx="13258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Prepare, clean, encode, and inspect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25696" y="1828800"/>
            <a:ext cx="658368" cy="65836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17720" y="1975104"/>
            <a:ext cx="2743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230368" y="1993392"/>
            <a:ext cx="411480" cy="32004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88536" y="2697480"/>
            <a:ext cx="9144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05656" y="3035808"/>
            <a:ext cx="13258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domain-informed and time-series features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72784" y="1828800"/>
            <a:ext cx="658368" cy="658368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64808" y="1975104"/>
            <a:ext cx="2743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077456" y="1993392"/>
            <a:ext cx="411480" cy="32004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35624" y="2697480"/>
            <a:ext cx="9144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52744" y="3035808"/>
            <a:ext cx="13258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regression, classification, clustering, and tree-based models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19872" y="1828800"/>
            <a:ext cx="658368" cy="65836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311896" y="1975104"/>
            <a:ext cx="2743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924544" y="1993392"/>
            <a:ext cx="411480" cy="32004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982712" y="2697480"/>
            <a:ext cx="9144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99832" y="3035808"/>
            <a:ext cx="13258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metrics, validation, and error analysis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966960" y="1828800"/>
            <a:ext cx="658368" cy="658368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158984" y="1975104"/>
            <a:ext cx="2743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829800" y="2697480"/>
            <a:ext cx="9144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46920" y="3035808"/>
            <a:ext cx="13258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model behavior to disciplinary usefulness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05840" y="4983480"/>
            <a:ext cx="101498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will</a:t>
            </a:r>
            <a:r>
              <a:rPr lang="en-US" sz="18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leave with a repeatable structure for evaluating whether an AI idea is well-framed, data-ready, and model-ready.</a:t>
            </a:r>
            <a:endParaRPr lang="en-US" sz="18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Workshop Outputs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What participants can take back to their courses, labs, and programs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68680" y="128016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280160"/>
            <a:ext cx="73152" cy="1143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408176"/>
            <a:ext cx="29718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framing template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755648"/>
            <a:ext cx="2971800" cy="5760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structured way to define inputs, outputs, targets, baselines, and success criteria.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128016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34840" y="1280160"/>
            <a:ext cx="73152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1408176"/>
            <a:ext cx="29718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activity pattern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1755648"/>
            <a:ext cx="2971800" cy="5760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reusable exercises for inspection, cleaning, feature creation, modeling, and interpretation.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01000" y="128016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001000" y="1280160"/>
            <a:ext cx="73152" cy="11430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0" y="1408176"/>
            <a:ext cx="29718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checklist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0" y="1755648"/>
            <a:ext cx="2971800" cy="5760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for metrics, splitting, leakage, baselines, and model comparison.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651760" y="297180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651760" y="2971800"/>
            <a:ext cx="73152" cy="11430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880360" y="3099816"/>
            <a:ext cx="29718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Teaching examples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880360" y="3447288"/>
            <a:ext cx="2971800" cy="5760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Cross-disciplinary examples for regression, classification, clustering, PCA, and error analysis.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297180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17920" y="2971800"/>
            <a:ext cx="73152" cy="11430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46520" y="3099816"/>
            <a:ext cx="29718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roadmap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3447288"/>
            <a:ext cx="2971800" cy="5760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shared language for faculty AI adoption across teaching, research, and engineering workflows.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51560" y="5166360"/>
            <a:ext cx="10149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step: adapt one session activity to a course module, research workflow, or faculty development exercise.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17</TotalTime>
  <Words>1113</Words>
  <Application>Microsoft Office PowerPoint</Application>
  <PresentationFormat>Widescreen</PresentationFormat>
  <Paragraphs>201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NC State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Applied AI Design Workshop Overview</dc:title>
  <dc:subject>Applied AI Design Workshop Overview</dc:subject>
  <dc:creator>OpenAI</dc:creator>
  <cp:lastModifiedBy>Fred Livingston</cp:lastModifiedBy>
  <cp:revision>5</cp:revision>
  <dcterms:created xsi:type="dcterms:W3CDTF">2026-07-15T00:52:12Z</dcterms:created>
  <dcterms:modified xsi:type="dcterms:W3CDTF">2026-07-15T03:41:23Z</dcterms:modified>
</cp:coreProperties>
</file>