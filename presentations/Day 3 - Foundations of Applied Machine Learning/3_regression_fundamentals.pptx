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9" autoAdjust="0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88" y="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82473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NC State Engineering -- ANS / Conferences / 2021 Student Conference">
            <a:extLst>
              <a:ext uri="{FF2B5EF4-FFF2-40B4-BE49-F238E27FC236}">
                <a16:creationId xmlns:a16="http://schemas.microsoft.com/office/drawing/2014/main" id="{097B6978-2476-5DBC-4B84-3A7786DB8B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189417" y="347248"/>
            <a:ext cx="1551223" cy="432403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jliving@ncsu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7132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</a:rPr>
              <a:t>SESSION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13232" y="123444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</a:rPr>
              <a:t>Regression Fundamentals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13232" y="2304288"/>
            <a:ext cx="6492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</a:rPr>
              <a:t>Linear models • Polynomial terms • Regularization • Residuals • Regression metrics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13232" y="294436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</a:rPr>
              <a:t>Applied AI Design Workshop for Faculty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" y="331012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Fred Livingston (</a:t>
            </a:r>
            <a:r>
              <a:rPr lang="en-US" sz="1200" dirty="0">
                <a:solidFill>
                  <a:srgbClr val="6B7280"/>
                </a:solidFill>
                <a:hlinkClick r:id="rId3"/>
              </a:rPr>
              <a:t>fjliving@ncsu.edu</a:t>
            </a:r>
            <a:r>
              <a:rPr lang="en-US" sz="1200" dirty="0">
                <a:solidFill>
                  <a:srgbClr val="6B7280"/>
                </a:solidFill>
              </a:rPr>
              <a:t>)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730752"/>
            <a:ext cx="5852160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60920" y="96012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525512" y="1078992"/>
            <a:ext cx="355701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Goal: build intuition for predicting continuous outcomes and judging model error.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60920" y="2331720"/>
            <a:ext cx="388620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525512" y="2450592"/>
            <a:ext cx="3557016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Session focus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Regression problem framing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Baselines and model fit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Linear vs. nonlinear terms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Regularization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• Residuals and metrics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737360" y="123444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From engineering problem to ML problem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162763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737360" y="187452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Classic ML overview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226771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37360" y="251460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Invited presentation: From Prompts to Agents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290779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737360" y="315468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Break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354787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737360" y="379476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Regression fundamentals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31520" y="418795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37360" y="443484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Classification fundamentals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482803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737360" y="5074920"/>
            <a:ext cx="76809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Hands-on baseline model activity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68112"/>
            <a:ext cx="996696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784080" y="1143000"/>
            <a:ext cx="1508760" cy="251460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948672" y="1261872"/>
            <a:ext cx="1179576" cy="2313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Earlier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Problem framing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</a:rPr>
              <a:t>Task choice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84080" y="3730752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948672" y="3849624"/>
            <a:ext cx="117957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Now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784080" y="4370832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948672" y="4489704"/>
            <a:ext cx="117957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</a:rPr>
              <a:t>Next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784080" y="5010912"/>
            <a:ext cx="15087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948672" y="5129784"/>
            <a:ext cx="117957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</a:rPr>
              <a:t>Practice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3 learning outcomes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783080"/>
            <a:ext cx="1901952" cy="20574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901952"/>
            <a:ext cx="1572768" cy="1856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</a:rPr>
              <a:t>Define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</a:rPr>
              <a:t>Recognize when a continuous target makes regression appropriate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26080" y="1783080"/>
            <a:ext cx="1901952" cy="2057400"/>
          </a:xfrm>
          <a:prstGeom prst="roundRect">
            <a:avLst>
              <a:gd name="adj" fmla="val 3846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090672" y="1901952"/>
            <a:ext cx="1572768" cy="1856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</a:rPr>
              <a:t>Model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</a:rPr>
              <a:t>Explain linear, polynomial, and regularized regression at a conceptual level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193792" y="1783080"/>
            <a:ext cx="1901952" cy="20574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58384" y="1901952"/>
            <a:ext cx="1572768" cy="1856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</a:rPr>
              <a:t>Evaluate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</a:rPr>
              <a:t>Compare model performance to a simple baseline using common metrics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461504" y="1783080"/>
            <a:ext cx="1901952" cy="2057400"/>
          </a:xfrm>
          <a:prstGeom prst="roundRect">
            <a:avLst>
              <a:gd name="adj" fmla="val 3846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626096" y="1901952"/>
            <a:ext cx="1572768" cy="1856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</a:rPr>
              <a:t>Diagnose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</a:rPr>
              <a:t>Use residuals to identify bias, outliers, nonlinearity, or heteroscedasticity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729216" y="1783080"/>
            <a:ext cx="1901952" cy="20574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893808" y="1901952"/>
            <a:ext cx="1572768" cy="1856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</a:rPr>
              <a:t>Discuss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</a:rPr>
              <a:t>Decide when more complex models are justified for disciplinary use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0120" y="4983480"/>
            <a:ext cx="1005840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102E"/>
                </a:solidFill>
              </a:rPr>
              <a:t>Participant output: a regression problem statement, a baseline choice, an initial metric, and one diagnostic question about model error.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makes a problem a regression problem?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34440"/>
            <a:ext cx="10424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F2937"/>
                </a:solidFill>
              </a:rPr>
              <a:t>Regression predicts a continuous numerical outcome. The model is judged by how far predictions are from observed values.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77240" y="1828800"/>
            <a:ext cx="3246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41832" y="1947672"/>
            <a:ext cx="2916936" cy="1901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Use regression when asking: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How much?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How many?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What value?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What final measurement?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What future quantity?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4840" y="1828800"/>
            <a:ext cx="3246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99432" y="1947672"/>
            <a:ext cx="2916936" cy="1901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Typical targets: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Strength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Energy use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Cycle time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Yield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Temperature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Score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Remaining life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2440" y="1828800"/>
            <a:ext cx="3246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57032" y="1947672"/>
            <a:ext cx="2916936" cy="1901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Not regression when: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Target is a class label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Goal is discovering groups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Output is open-ended text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• The main goal is causal proof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C8102E"/>
                </a:solidFill>
              </a:rPr>
              <a:t>Key discipline question: What error magnitude is acceptable for this application?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Activity: write a regression problem statement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5156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Use the template to convert a disciplinary problem into a regression task.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10378440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8992" y="1993392"/>
            <a:ext cx="100492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102E"/>
                </a:solidFill>
              </a:rPr>
              <a:t>Using __________ as inputs, develop a regression model to predict __________ for each __________, with performance evaluated using __________.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14400" y="34290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78992" y="3547872"/>
            <a:ext cx="1819656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Inputs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Variables available before prediction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520440" y="34290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85032" y="3547872"/>
            <a:ext cx="1819656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Target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Continuous outcome to predict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26480" y="34290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91072" y="3547872"/>
            <a:ext cx="1819656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Unit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Run, sample, student, machine cycle, patient, day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732520" y="34290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897112" y="3547872"/>
            <a:ext cx="1819656" cy="9418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Metric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2937"/>
                </a:solidFill>
              </a:rPr>
              <a:t>MAE, RMSE, R², or domain threshold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00584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Quick check: are all input variables available at the time the prediction must be made?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Example: predicting material strength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A regression dataset pairs process and material conditions with a continuous measured outcome.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Run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87452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Temp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036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Pressure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8620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Time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Cooling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89788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102E"/>
                </a:solidFill>
              </a:rPr>
              <a:t>Strength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2267712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74520" y="2267712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185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267712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86200" y="2267712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28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2267712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Slow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97880" y="2267712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72.4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2542032"/>
            <a:ext cx="598932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8680" y="2688336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74520" y="2688336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190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80360" y="2688336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86200" y="2688336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30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92040" y="2688336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Fast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97880" y="2688336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75.8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2962656"/>
            <a:ext cx="598932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68680" y="310896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874520" y="310896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175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880360" y="310896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39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886200" y="310896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24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92040" y="310896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Slow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897880" y="310896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65.1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2960" y="3383280"/>
            <a:ext cx="598932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68680" y="3529584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874520" y="3529584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205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880360" y="3529584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886200" y="3529584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35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92040" y="3529584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Fast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897880" y="3529584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82.6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22960" y="3803904"/>
            <a:ext cx="598932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868680" y="3950208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874520" y="3950208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198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880360" y="3950208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44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3886200" y="3950208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31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892040" y="3950208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Slow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897880" y="3950208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</a:rPr>
              <a:t>79.3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22960" y="4224528"/>
            <a:ext cx="5989320" cy="0"/>
          </a:xfrm>
          <a:prstGeom prst="line">
            <a:avLst/>
          </a:prstGeom>
          <a:noFill/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7406640" y="1737360"/>
            <a:ext cx="37033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7571232" y="1856232"/>
            <a:ext cx="33741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Prediction objective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Estimate final strength before destructive testing.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406640" y="3063240"/>
            <a:ext cx="37033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571232" y="3182112"/>
            <a:ext cx="33741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Baseline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Predict the mean training-set strength for every run.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406640" y="4389120"/>
            <a:ext cx="37033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7571232" y="4507992"/>
            <a:ext cx="33741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Metric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Use MAE when errors are easy to interpret in original units.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a baseline before training a model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16152"/>
            <a:ext cx="103327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F2937"/>
                </a:solidFill>
              </a:rPr>
              <a:t>A baseline is the simplest prediction that a machine learning model must improve upon.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1874520"/>
            <a:ext cx="32004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87552" y="1993392"/>
            <a:ext cx="2871216" cy="2176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Mean baseline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Predict the average training target for every new case.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Useful when squared error or RMSE is central.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2004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45152" y="1993392"/>
            <a:ext cx="2871216" cy="2176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Median baseline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Predict the median training target for every new case.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Useful when outliers may distort the mean.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38160" y="1874520"/>
            <a:ext cx="32004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302752" y="1993392"/>
            <a:ext cx="2871216" cy="2176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Domain baseline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Compare to current practice, heuristic, lookup table, or physics estimate.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Often the most persuasive baseline.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394960"/>
            <a:ext cx="10332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102E"/>
                </a:solidFill>
              </a:rPr>
              <a:t>Discussion prompt: Is “better than the mean” enough, or must the model beat current disciplinary practice?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Linear regression: a first interpretable model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170432"/>
            <a:ext cx="10424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Linear regression estimates how the target changes with input features, assuming an approximately linear relationship.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4892040"/>
            <a:ext cx="4937760" cy="0"/>
          </a:xfrm>
          <a:prstGeom prst="line">
            <a:avLst/>
          </a:prstGeom>
          <a:noFill/>
          <a:ln w="1524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4892040"/>
            <a:ext cx="0" cy="0"/>
          </a:xfrm>
          <a:prstGeom prst="line">
            <a:avLst/>
          </a:prstGeom>
          <a:noFill/>
          <a:ln w="1524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8680" y="4806616"/>
            <a:ext cx="4937760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13816" y="466632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362456" y="4392970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911096" y="4085443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459736" y="3641237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008376" y="350455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557016" y="3094522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105656" y="2855334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54296" y="247946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202936" y="2035262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751576" y="1864413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423160" y="5166360"/>
            <a:ext cx="15544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Feature value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28600" y="306324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Target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92240" y="178308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56832" y="1901952"/>
            <a:ext cx="43342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2937"/>
                </a:solidFill>
              </a:rPr>
              <a:t>Model form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1F2937"/>
                </a:solidFill>
              </a:rPr>
              <a:t>ŷ = β₀ + β₁x₁ + β₂x₂ + ... + βₚxₚ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6492240" y="310896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56832" y="3227832"/>
            <a:ext cx="43342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Interpretation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A coefficient estimates average target change when one feature changes, holding others constant.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92240" y="443484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656832" y="4553712"/>
            <a:ext cx="433425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Caution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Interpretation depends on data quality, feature scaling, correlation, and study design.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Polynomial terms: capturing simple nonlinearity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4241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Polynomial regression still uses linear regression machinery, but adds transformed features such as x².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4846320"/>
            <a:ext cx="4937760" cy="0"/>
          </a:xfrm>
          <a:prstGeom prst="line">
            <a:avLst/>
          </a:prstGeom>
          <a:noFill/>
          <a:ln w="1524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4846320"/>
            <a:ext cx="0" cy="0"/>
          </a:xfrm>
          <a:prstGeom prst="line">
            <a:avLst/>
          </a:prstGeom>
          <a:noFill/>
          <a:ln w="1524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8680" y="4617720"/>
            <a:ext cx="594360" cy="111026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463040" y="4728746"/>
            <a:ext cx="594360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57400" y="4612562"/>
            <a:ext cx="594360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651760" y="4257766"/>
            <a:ext cx="594360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46120" y="3793516"/>
            <a:ext cx="594360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840480" y="3370789"/>
            <a:ext cx="594360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34840" y="3023570"/>
            <a:ext cx="594360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29200" y="2637607"/>
            <a:ext cx="594360" cy="0"/>
          </a:xfrm>
          <a:prstGeom prst="line">
            <a:avLst/>
          </a:prstGeom>
          <a:noFill/>
          <a:ln w="279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13816" y="4754880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002536" y="4749722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191256" y="3930676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379976" y="3160730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568696" y="2192614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583680" y="1600200"/>
            <a:ext cx="4434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748272" y="1719072"/>
            <a:ext cx="410565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Example model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</a:rPr>
              <a:t>ŷ = β₀ + β₁x + β₂x²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583680" y="2880360"/>
            <a:ext cx="4434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748272" y="2999232"/>
            <a:ext cx="41056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When useful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Residuals show curved patterns, but the underlying relationship remains smooth and low-dimensional.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583680" y="4343400"/>
            <a:ext cx="44348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748272" y="4462272"/>
            <a:ext cx="41056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Risk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High-degree polynomials can chase noise and perform poorly on new data.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Regularization: controlling overly flexible models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16152"/>
            <a:ext cx="104241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Regularization adds a penalty for large coefficients to reduce overfitting and improve generalization.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32461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3272" y="1993392"/>
            <a:ext cx="2916936" cy="2176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Ridge regression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Shrinks coefficients toward zero.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Useful when many correlated features are present.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2461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45152" y="1993392"/>
            <a:ext cx="2916936" cy="2176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Lasso regression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Can shrink some coefficients exactly to zero.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Useful for feature selection and simpler models.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92440" y="1874520"/>
            <a:ext cx="32461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57032" y="1993392"/>
            <a:ext cx="2916936" cy="2176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Tradeoff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Slightly more bias may reduce variance.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</a:rPr>
              <a:t>The goal is lower error on new data, not perfect fit to training data.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394960"/>
            <a:ext cx="10332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102E"/>
                </a:solidFill>
              </a:rPr>
              <a:t>When would a smaller, more stable model be preferable to a slightly more accurate model?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Regression metrics: measure error in different ways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16152"/>
            <a:ext cx="104241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No single metric is universally best. Choose the metric based on the meaning and cost of prediction errors.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1828800"/>
            <a:ext cx="12801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C8102E"/>
                </a:solidFill>
              </a:rPr>
              <a:t>MAE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148840" y="1828800"/>
            <a:ext cx="3017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Average absolute error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94960" y="1828800"/>
            <a:ext cx="5257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</a:rPr>
              <a:t>Easy to interpret in target units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212848"/>
            <a:ext cx="1056132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697480"/>
            <a:ext cx="12801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C8102E"/>
                </a:solidFill>
              </a:rPr>
              <a:t>RMSE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148840" y="2697480"/>
            <a:ext cx="3017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Square root of average squared error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94960" y="2697480"/>
            <a:ext cx="5257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</a:rPr>
              <a:t>Penalizes large errors more strongly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" y="3081528"/>
            <a:ext cx="1056132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566160"/>
            <a:ext cx="12801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C8102E"/>
                </a:solidFill>
              </a:rPr>
              <a:t>R²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148840" y="3566160"/>
            <a:ext cx="3017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62500" lnSpcReduction="2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Fraction of variance explained relative to baseline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394960" y="3566160"/>
            <a:ext cx="5257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</a:rPr>
              <a:t>Useful summary but can hide large errors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3950208"/>
            <a:ext cx="1056132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8680" y="4434840"/>
            <a:ext cx="12801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C8102E"/>
                </a:solidFill>
              </a:rPr>
              <a:t>Domain threshold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148840" y="4434840"/>
            <a:ext cx="301752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62500" lnSpcReduction="2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Percent of predictions within an acceptable error band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94960" y="4434840"/>
            <a:ext cx="5257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</a:rPr>
              <a:t>Often most meaningful to stakeholders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22960" y="4818888"/>
            <a:ext cx="10561320" cy="0"/>
          </a:xfrm>
          <a:prstGeom prst="line">
            <a:avLst/>
          </a:prstGeom>
          <a:noFill/>
          <a:ln w="1016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60120" y="5486400"/>
            <a:ext cx="10195560" cy="502920"/>
          </a:xfrm>
          <a:prstGeom prst="roundRect">
            <a:avLst>
              <a:gd name="adj" fmla="val 14545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124712" y="5605272"/>
            <a:ext cx="986637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102E"/>
                </a:solidFill>
              </a:rPr>
              <a:t>Metric choice is an ethical and practical design choice: it determines which errors the model prioritizes.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Residuals: where the model is wrong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4241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A residual is observed value minus predicted value. Residual plots reveal patterns that a single metric can hide.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703320"/>
            <a:ext cx="4937760" cy="0"/>
          </a:xfrm>
          <a:prstGeom prst="line">
            <a:avLst/>
          </a:prstGeom>
          <a:noFill/>
          <a:ln w="1524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4892040"/>
            <a:ext cx="0" cy="0"/>
          </a:xfrm>
          <a:prstGeom prst="line">
            <a:avLst/>
          </a:prstGeom>
          <a:noFill/>
          <a:ln w="1524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8680" y="3703320"/>
            <a:ext cx="4937760" cy="0"/>
          </a:xfrm>
          <a:prstGeom prst="line">
            <a:avLst/>
          </a:prstGeom>
          <a:noFill/>
          <a:ln w="1524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55548" y="344728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458468" y="3570732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961388" y="3611880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464308" y="3323844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967228" y="3776472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70148" y="3570732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973068" y="3776472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475988" y="365302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978908" y="3364992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1828" y="3735324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240280" y="5138928"/>
            <a:ext cx="17373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Predicted value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1168" y="3429000"/>
            <a:ext cx="5486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Residual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92240" y="1691640"/>
            <a:ext cx="46634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56832" y="1810512"/>
            <a:ext cx="433425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Look for patterns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720840" y="2743200"/>
            <a:ext cx="4251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• Centered around zero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20840" y="3182112"/>
            <a:ext cx="4251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• Curved pattern → missing nonlinearity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720840" y="3621024"/>
            <a:ext cx="4251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• Fan shape → changing variance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720840" y="4059936"/>
            <a:ext cx="4251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• Large isolated points → possible outliers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720840" y="4498848"/>
            <a:ext cx="4251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F2937"/>
                </a:solidFill>
              </a:rPr>
              <a:t>• Groups of errors → missing feature or population shift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Activity: compare candidate regression models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207008"/>
            <a:ext cx="104241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</a:rPr>
              <a:t>Use a small dataset to compare a baseline, a linear model, and a polynomial or regularized model.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85800" y="187452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50392" y="1993392"/>
            <a:ext cx="108813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937"/>
                </a:solidFill>
              </a:rPr>
              <a:t>1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F2937"/>
                </a:solidFill>
              </a:rPr>
              <a:t>Choose target and inputs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103120" y="2359152"/>
            <a:ext cx="338328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60320" y="187452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24912" y="1993392"/>
            <a:ext cx="108813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937"/>
                </a:solidFill>
              </a:rPr>
              <a:t>2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F2937"/>
                </a:solidFill>
              </a:rPr>
              <a:t>Split training and test data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977640" y="2359152"/>
            <a:ext cx="338328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34840" y="187452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99432" y="1993392"/>
            <a:ext cx="108813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937"/>
                </a:solidFill>
              </a:rPr>
              <a:t>3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F2937"/>
                </a:solidFill>
              </a:rPr>
              <a:t>Fit baseline model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2359152"/>
            <a:ext cx="338328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309360" y="187452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73952" y="1993392"/>
            <a:ext cx="108813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937"/>
                </a:solidFill>
              </a:rPr>
              <a:t>4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F2937"/>
                </a:solidFill>
              </a:rPr>
              <a:t>Fit regression models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26680" y="2359152"/>
            <a:ext cx="338328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83880" y="187452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348472" y="1993392"/>
            <a:ext cx="108813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937"/>
                </a:solidFill>
              </a:rPr>
              <a:t>5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F2937"/>
                </a:solidFill>
              </a:rPr>
              <a:t>Compare metrics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601200" y="2359152"/>
            <a:ext cx="338328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058400" y="187452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222992" y="1993392"/>
            <a:ext cx="1088136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937"/>
                </a:solidFill>
              </a:rPr>
              <a:t>6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F2937"/>
                </a:solidFill>
              </a:rPr>
              <a:t>Inspect residuals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14400" y="38404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78992" y="3959352"/>
            <a:ext cx="277977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Model A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Mean baseline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MAE = 8.7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526280" y="38404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90872" y="3959352"/>
            <a:ext cx="277977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Model B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Linear regression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MAE = 5.1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138160" y="38404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02752" y="3959352"/>
            <a:ext cx="277977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Model C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Polynomial model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F2937"/>
                </a:solidFill>
              </a:rPr>
              <a:t>MAE = 4.8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14400" y="5577840"/>
            <a:ext cx="1033272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102E"/>
                </a:solidFill>
              </a:rPr>
              <a:t>Is the small gain from Model C worth the added complexity and lower interpretability?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 prompts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68680" y="1325880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33272" y="1444752"/>
            <a:ext cx="43799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When is a linear model sufficient?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82512" y="1444752"/>
            <a:ext cx="43799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What does an error of 5 units mean in the discipline?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68680" y="2532888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33272" y="2651760"/>
            <a:ext cx="43799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Should the model with the highest R² always be selected?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2532888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82512" y="2651760"/>
            <a:ext cx="43799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What residual pattern would make you distrust the model?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8680" y="3739896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33272" y="3858768"/>
            <a:ext cx="43799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Can regression results be interpreted as causal evidence?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17920" y="3739896"/>
            <a:ext cx="4709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82512" y="3858768"/>
            <a:ext cx="43799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F2937"/>
                </a:solidFill>
              </a:rPr>
              <a:t>What baseline represents current practice?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5715000"/>
            <a:ext cx="1033272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</a:rPr>
              <a:t>Discussion goal: connect numerical performance to disciplinary usefulness and limits.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3383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3 synthesis and transition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61320" y="420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</a:rPr>
              <a:t>Session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04241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</a:rPr>
              <a:t>Regression is useful when a faculty problem requires predicting a continuous outcome and evaluating the magnitude of error.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1828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Start simple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834640" y="1920240"/>
            <a:ext cx="7955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Use a mean, median, or disciplinary baseline.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487168"/>
            <a:ext cx="1828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Fit carefully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834640" y="2487168"/>
            <a:ext cx="7955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Compare simple, polynomial, and regularized models.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3054096"/>
            <a:ext cx="1828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Evaluate meaningfully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834640" y="3054096"/>
            <a:ext cx="7955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Choose metrics that match the cost of error.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3621024"/>
            <a:ext cx="1828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Diagnose error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834640" y="3621024"/>
            <a:ext cx="7955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Residuals reveal patterns hidden by averages.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4187952"/>
            <a:ext cx="1828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102E"/>
                </a:solidFill>
              </a:rPr>
              <a:t>Report limits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34640" y="4187952"/>
            <a:ext cx="79552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1F2937"/>
                </a:solidFill>
              </a:rPr>
              <a:t>Prediction is not the same as explanation or causation.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60120" y="5532120"/>
            <a:ext cx="10195560" cy="566928"/>
          </a:xfrm>
          <a:prstGeom prst="roundRect">
            <a:avLst>
              <a:gd name="adj" fmla="val 12903"/>
            </a:avLst>
          </a:prstGeom>
          <a:solidFill>
            <a:srgbClr val="FEF2F2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124712" y="5650992"/>
            <a:ext cx="986637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102E"/>
                </a:solidFill>
              </a:rPr>
              <a:t>Next: Classification fundamentals — predicting categories and interpreting confusion matrices.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539728" y="6446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CA3AF"/>
                </a:solidFill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1353</Words>
  <Application>Microsoft Office PowerPoint</Application>
  <PresentationFormat>Widescreen</PresentationFormat>
  <Paragraphs>301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NC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Regression Fundamentals</dc:title>
  <dc:subject>Session 3 Applied AI Design Workshop</dc:subject>
  <dc:creator>Fred Livingston</dc:creator>
  <cp:lastModifiedBy>Fred Livingston</cp:lastModifiedBy>
  <cp:revision>9</cp:revision>
  <dcterms:created xsi:type="dcterms:W3CDTF">2026-07-14T20:46:05Z</dcterms:created>
  <dcterms:modified xsi:type="dcterms:W3CDTF">2026-07-15T03:45:16Z</dcterms:modified>
</cp:coreProperties>
</file>