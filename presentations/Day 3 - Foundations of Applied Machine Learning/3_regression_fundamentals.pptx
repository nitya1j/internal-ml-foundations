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78" r:id="rId11"/>
    <p:sldId id="275" r:id="rId12"/>
    <p:sldId id="276" r:id="rId13"/>
    <p:sldId id="279" r:id="rId14"/>
    <p:sldId id="277" r:id="rId15"/>
    <p:sldId id="281" r:id="rId16"/>
    <p:sldId id="280" r:id="rId17"/>
    <p:sldId id="283" r:id="rId18"/>
    <p:sldId id="285" r:id="rId19"/>
    <p:sldId id="282" r:id="rId20"/>
    <p:sldId id="264" r:id="rId21"/>
    <p:sldId id="265" r:id="rId22"/>
    <p:sldId id="266" r:id="rId23"/>
    <p:sldId id="267" r:id="rId24"/>
    <p:sldId id="268" r:id="rId25"/>
    <p:sldId id="270" r:id="rId26"/>
    <p:sldId id="273" r:id="rId27"/>
    <p:sldId id="272" r:id="rId28"/>
    <p:sldId id="271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6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247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F50B5-A70F-3FEF-776A-C2AD90BB3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3540E3-BFB3-1155-F3EC-658E975AB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389C4D-F72C-8BDF-8FE4-EDEE575DB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17001-0850-8199-0197-FF53E35B72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0394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2A337-E24E-124B-B12E-71A95CFD0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F5783-8AA5-88AB-FF0C-C080578E3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19EF44-C05A-1A7C-CDCD-FB428BDE8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CCCFA-C97E-1741-2561-08FEA960D2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37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C5931-CFBF-BC35-EF6C-2BF70BA62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4E43C-F8BF-67EF-B01B-AB37391F7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1FA604-CD4A-E629-9EB2-F153B83C1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0C22C-CF6B-1ED4-13EB-D55CA358B0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493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C1812-6031-6964-8E4B-CB5DEC927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A07F0-466B-3B06-D4F6-BB7AD2E51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62F05C-B893-5710-4CFA-51EC96BA0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8D2E9-1DD3-0964-ABC3-D632BA0FA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0296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511C9-594F-7F9A-3BDD-5E500C735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07583B-450C-02D6-8EB4-E594A273E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6C1EE-A9C9-CAFF-3B87-D81035D42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E9717-A569-A51A-3E9D-F27107727D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8502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E347D-7B95-8B22-5E0F-296C358B0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2BF08-72ED-8CA9-4B0A-D2233E6E4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955078-8282-E946-F11A-52193C898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46DB6-44D1-4ACC-7459-AB6A63FC93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1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08567-ACFC-10A9-1FC9-AF34268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923E47-62BB-FBD1-EA5E-5ABDA13459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B57211-2470-0B53-769C-772181326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864BE-B32C-04FD-B55D-9676CD685F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6691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7C87F-6B4E-C9CF-C35E-9FB635CD3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999628-F95C-DB86-A806-07DC39D86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5C020-9D3B-7556-4AD0-3F042828A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6B75C-290C-C810-A2FB-47B615CF25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842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3553F-F609-E5C5-A0EE-19F794AE1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9556D-43F0-5A21-7C14-58D631D6B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609CCD-557B-669A-1CC0-BE666AF7BB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988E8-A49E-6AD7-7356-4BE583B62C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4821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0F750-72F1-B48D-EC92-4F0B911B9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D57601-B404-D0DA-9DEA-0EA2044925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420554-E8B4-1495-A81F-40FB03990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137BA-6494-FF32-E51A-01D6A477DE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591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D2C14-C385-B4F6-71A1-2278B501C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4FD2B3-1C8C-1551-BD3F-5B574035C9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F612C9-D7AA-FC2E-ECE8-9164185C4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3CACD-1589-46D5-F0EB-F29E62555B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265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8014F-EEEA-2DC8-3CD3-F0B33DE2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9BE350-34B3-F38A-52FB-1EE1BA8B6F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C07ED8-32C4-C096-7379-876AA438C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B5733-3860-048C-EAF5-78BBEE79E9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3697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4C0FE-DB75-BE22-0AC9-34E94BB21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3CBB3C-B42E-41DE-4FDF-F96F7EF0A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A1018D-57A7-62EE-662A-532F5BFE1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14634-46B8-1D33-7E6F-EA608E04CF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0920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C State Engineering -- ANS / Conferences / 2021 Student Conference">
            <a:extLst>
              <a:ext uri="{FF2B5EF4-FFF2-40B4-BE49-F238E27FC236}">
                <a16:creationId xmlns:a16="http://schemas.microsoft.com/office/drawing/2014/main" id="{097B6978-2476-5DBC-4B84-3A7786DB8B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89417" y="347248"/>
            <a:ext cx="1551223" cy="43240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jliving@ncsu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713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</a:rPr>
              <a:t>SESSION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3232" y="12344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</a:rPr>
              <a:t>Regression Fundamentals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3232" y="2304288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Linear models • Polynomial terms • Regularization • Residuals • Regression metrics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29443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Applied AI Design Workshop for Faculty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33101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Fred Livingston (</a:t>
            </a:r>
            <a:r>
              <a:rPr lang="en-US" sz="1200" dirty="0">
                <a:solidFill>
                  <a:srgbClr val="6B7280"/>
                </a:solidFill>
                <a:hlinkClick r:id="rId3"/>
              </a:rPr>
              <a:t>fjliving@ncsu.edu</a:t>
            </a:r>
            <a:r>
              <a:rPr lang="en-US" sz="1200" dirty="0">
                <a:solidFill>
                  <a:srgbClr val="6B7280"/>
                </a:solidFill>
              </a:rPr>
              <a:t>)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730752"/>
            <a:ext cx="5852160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60920" y="960120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25512" y="1078992"/>
            <a:ext cx="35570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Goal: build intuition for predicting continuous outcomes and judging model error.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60920" y="2331720"/>
            <a:ext cx="38862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25512" y="2450592"/>
            <a:ext cx="3557016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Session focus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Regression problem framing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Baselines and model fit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Linear vs. nonlinear terms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Regularization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Residuals and metrics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123444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</a:rPr>
              <a:t>From engineering problem to ML problem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62763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37360" y="187452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</a:rPr>
              <a:t>Classic ML overview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26771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37360" y="251460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</a:rPr>
              <a:t>Invited presentation: From Prompts to Agents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290779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37360" y="315468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</a:rPr>
              <a:t>Break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54787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37360" y="379476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Regression fundamentals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18795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737360" y="443484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</a:rPr>
              <a:t>Classification fundamentals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1520" y="482803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737360" y="507492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</a:rPr>
              <a:t>Hands-on baseline model activity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1520" y="546811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784080" y="1143000"/>
            <a:ext cx="1508760" cy="25146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948672" y="1261872"/>
            <a:ext cx="1179576" cy="2313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Earlier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Problem framing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Task choice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784080" y="3730752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948672" y="3849624"/>
            <a:ext cx="11795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Now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784080" y="4370832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948672" y="4489704"/>
            <a:ext cx="11795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Next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784080" y="5010912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948672" y="5129784"/>
            <a:ext cx="11795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Practice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3 learning outcomes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1901952" cy="20574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901952"/>
            <a:ext cx="1572768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Define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Recognize when a continuous target makes regression appropriate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0" y="1783080"/>
            <a:ext cx="1901952" cy="2057400"/>
          </a:xfrm>
          <a:prstGeom prst="roundRect">
            <a:avLst>
              <a:gd name="adj" fmla="val 384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90672" y="1901952"/>
            <a:ext cx="1572768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Explain linear, polynomial, and regularized regression at a conceptual level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93792" y="1783080"/>
            <a:ext cx="1901952" cy="20574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58384" y="1901952"/>
            <a:ext cx="1572768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Evaluate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Compare model performance to a simple baseline using common metrics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61504" y="1783080"/>
            <a:ext cx="1901952" cy="2057400"/>
          </a:xfrm>
          <a:prstGeom prst="roundRect">
            <a:avLst>
              <a:gd name="adj" fmla="val 384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26096" y="1901952"/>
            <a:ext cx="1572768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Diagnose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Use residuals to identify bias, outliers, nonlinearity, or heteroscedasticity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729216" y="1783080"/>
            <a:ext cx="1901952" cy="20574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893808" y="1901952"/>
            <a:ext cx="1572768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Discuss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Decide when more complex models are justified for disciplinary use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983480"/>
            <a:ext cx="10058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8102E"/>
                </a:solidFill>
              </a:rPr>
              <a:t>Participant output: a regression problem statement, a baseline choice, an initial metric, and one diagnostic question about model error.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a problem a regression problem?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10424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2937"/>
                </a:solidFill>
              </a:rPr>
              <a:t>Regression predicts a continuous numerical outcome. The model is judged by how far predictions are from observed values.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1828800"/>
            <a:ext cx="3246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1947672"/>
            <a:ext cx="2916936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Use regression when asking: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How much?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How many?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What value?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What final measurement?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What future quantity?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246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99432" y="1947672"/>
            <a:ext cx="2916936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Typical targets: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Strength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Energy use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Cycle time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Yield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Temperature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Score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Remaining life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92440" y="1828800"/>
            <a:ext cx="3246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57032" y="1947672"/>
            <a:ext cx="2916936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Not regression when: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Target is a class label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Goal is discovering groups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Output is open-ended text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The main goal is causal proof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8102E"/>
                </a:solidFill>
              </a:rPr>
              <a:t>Key discipline question: What error magnitude is acceptable for this application?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Activity: write a regression problem statement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Use the template to convert a disciplinary problem into a regression task.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1037844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8992" y="1993392"/>
            <a:ext cx="10049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</a:rPr>
              <a:t>Using __________ as inputs, develop a regression model to predict __________ for each __________, with performance evaluated using __________.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342900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78992" y="3547872"/>
            <a:ext cx="181965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Inputs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Variables available before prediction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520440" y="342900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85032" y="3547872"/>
            <a:ext cx="181965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Target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Continuous outcome to predict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6480" y="342900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91072" y="3547872"/>
            <a:ext cx="181965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Unit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Run, sample, student, machine cycle, patient, day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732520" y="342900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97112" y="3547872"/>
            <a:ext cx="181965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Metric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MAE, RMSE, R², or domain threshold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0584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Quick check: are all input variables available at the time the prediction must be made?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predicting material strength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A regression dataset pairs process and material conditions with a continuous measured outcome.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Run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74520" y="182880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Temp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182880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Pressure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86200" y="182880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82880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Cooling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182880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Strength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74520" y="2267712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185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2267712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86200" y="2267712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28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267712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Slow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97880" y="2267712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72.4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2542032"/>
            <a:ext cx="598932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2688336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74520" y="2688336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190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80360" y="2688336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86200" y="2688336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30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2688336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Fast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97880" y="2688336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75.8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2962656"/>
            <a:ext cx="598932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8680" y="310896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874520" y="310896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175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80360" y="310896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39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86200" y="310896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24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310896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Slow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97880" y="310896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65.1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3383280"/>
            <a:ext cx="598932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68680" y="3529584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874520" y="3529584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205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880360" y="3529584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886200" y="3529584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35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92040" y="3529584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Fast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897880" y="3529584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82.6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22960" y="3803904"/>
            <a:ext cx="598932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68680" y="3950208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874520" y="3950208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198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880360" y="3950208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886200" y="3950208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31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92040" y="3950208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Slow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897880" y="3950208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79.3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22960" y="4224528"/>
            <a:ext cx="598932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406640" y="173736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571232" y="1856232"/>
            <a:ext cx="337413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Prediction objective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Estimate final strength before destructive testing.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406640" y="306324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571232" y="3182112"/>
            <a:ext cx="337413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Baseline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Predict the mean training-set strength for every run.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406640" y="4389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571232" y="4507992"/>
            <a:ext cx="337413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Metric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Use MAE when errors are easy to interpret in original units.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a baseline before training a model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16152"/>
            <a:ext cx="10332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2937"/>
                </a:solidFill>
              </a:rPr>
              <a:t>A baseline is the simplest prediction that a machine learning model must improve upon.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7552" y="1993392"/>
            <a:ext cx="2871216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Mean baseline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Predict the average training target for every new case.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Useful when squared error or RMSE is central.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80560" y="187452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45152" y="1993392"/>
            <a:ext cx="2871216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Median baseline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Predict the median training target for every new case.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Useful when outliers may distort the mean.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38160" y="187452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02752" y="1993392"/>
            <a:ext cx="2871216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Domain baseline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Compare to current practice, heuristic, lookup table, or physics estimate.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Often the most persuasive baseline.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394960"/>
            <a:ext cx="10332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</a:rPr>
              <a:t>Discussion prompt: Is “better than the mean” enough, or must the model beat current disciplinary practice?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regression: a first interpretable model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170432"/>
            <a:ext cx="10424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Linear regression estimates how the target changes with input features, assuming an approximately linear relationship.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4892040"/>
            <a:ext cx="4937760" cy="0"/>
          </a:xfrm>
          <a:prstGeom prst="line">
            <a:avLst/>
          </a:prstGeom>
          <a:noFill/>
          <a:ln w="1524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4892040"/>
            <a:ext cx="0" cy="0"/>
          </a:xfrm>
          <a:prstGeom prst="line">
            <a:avLst/>
          </a:prstGeom>
          <a:noFill/>
          <a:ln w="1524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4806616"/>
            <a:ext cx="4937760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13816" y="466632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62456" y="439297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11096" y="4085443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59736" y="3641237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008376" y="350455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557016" y="309452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05656" y="285533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54296" y="247946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202936" y="203526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51576" y="1864413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23160" y="5166360"/>
            <a:ext cx="15544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Feature value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" y="3063240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Target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178308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56832" y="1901952"/>
            <a:ext cx="4334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2937"/>
                </a:solidFill>
              </a:rPr>
              <a:t>Model form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F2937"/>
                </a:solidFill>
              </a:rPr>
              <a:t>ŷ = β₀ + β₁x₁ + β₂x₂ + ... + βₚxₚ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492240" y="310896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56832" y="3227832"/>
            <a:ext cx="4334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Interpretation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A coefficient estimates average target change when one feature changes, holding others constant.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92240" y="443484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56832" y="4553712"/>
            <a:ext cx="4334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Caution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Interpretation depends on data quality, feature scaling, correlation, and study design.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5F52CA-CECD-E655-98AE-B21A6767E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FAD762-DC20-5985-D5C9-55415A6E7818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FED3940-CDB2-5C46-8496-7EDCBBAD4438}"/>
              </a:ext>
            </a:extLst>
          </p:cNvPr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7DA93CE-DC7F-678D-D1C5-2EBCB2F44DA8}"/>
              </a:ext>
            </a:extLst>
          </p:cNvPr>
          <p:cNvSpPr/>
          <p:nvPr/>
        </p:nvSpPr>
        <p:spPr>
          <a:xfrm>
            <a:off x="502920" y="62179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regression: a first interpretable model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5B099ED-8539-4438-5B34-B03F4024ABAA}"/>
              </a:ext>
            </a:extLst>
          </p:cNvPr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5935974-F1E9-B316-68D8-9FB1BCC7D11D}"/>
              </a:ext>
            </a:extLst>
          </p:cNvPr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8</a:t>
            </a:r>
            <a:endParaRPr lang="en-US" sz="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06CCA0-1B40-15F4-904F-323519DB04BD}"/>
              </a:ext>
            </a:extLst>
          </p:cNvPr>
          <p:cNvSpPr txBox="1"/>
          <p:nvPr/>
        </p:nvSpPr>
        <p:spPr>
          <a:xfrm>
            <a:off x="503766" y="1859339"/>
            <a:ext cx="10820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In ML, we write the equation for a linear regression model as follows:</a:t>
            </a:r>
          </a:p>
          <a:p>
            <a:pPr algn="ctr"/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y′=b+w1x1</a:t>
            </a: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where: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y′ </a:t>
            </a: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is the predicted label—the output.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b</a:t>
            </a: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 is the </a:t>
            </a:r>
            <a:r>
              <a:rPr lang="en-US" b="1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bias</a:t>
            </a: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 of the model. Bias is the same concept as the y-intercept in the algebraic equation for a line. In ML, bias is sometimes referred to as w0. Bias is a </a:t>
            </a:r>
            <a:r>
              <a:rPr lang="en-US" b="1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parameter</a:t>
            </a: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 of the model and is calculated during training.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w1</a:t>
            </a: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 is the </a:t>
            </a:r>
            <a:r>
              <a:rPr lang="en-US" b="1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weight</a:t>
            </a: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 of the feature. Weight is the same concept as the slope m in the algebraic equation for a line. Weight is a </a:t>
            </a:r>
            <a:r>
              <a:rPr lang="en-US" b="1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parameter</a:t>
            </a: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 of the model and is calculated during training.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x1</a:t>
            </a: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 is a </a:t>
            </a:r>
            <a:r>
              <a:rPr lang="en-US" b="1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feature</a:t>
            </a: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—the input.</a:t>
            </a:r>
          </a:p>
        </p:txBody>
      </p:sp>
    </p:spTree>
    <p:extLst>
      <p:ext uri="{BB962C8B-B14F-4D97-AF65-F5344CB8AC3E}">
        <p14:creationId xmlns:p14="http://schemas.microsoft.com/office/powerpoint/2010/main" val="1320812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15FD92-383C-57E8-B131-562CCD0A6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64826E-EBAD-5C0C-B044-92983FDC61F2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18154B3-13C8-5DC6-284C-9F4B6CF1FC1B}"/>
              </a:ext>
            </a:extLst>
          </p:cNvPr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21180C7-BF65-D58B-9E52-DA455025E3BB}"/>
              </a:ext>
            </a:extLst>
          </p:cNvPr>
          <p:cNvSpPr/>
          <p:nvPr/>
        </p:nvSpPr>
        <p:spPr>
          <a:xfrm>
            <a:off x="502920" y="62179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regression: Training Model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2B0AABC-4091-1649-7A12-7BE6D4C1A529}"/>
              </a:ext>
            </a:extLst>
          </p:cNvPr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D6A03AC-59E8-363F-916B-4BED9E2CCBFE}"/>
              </a:ext>
            </a:extLst>
          </p:cNvPr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8</a:t>
            </a:r>
            <a:endParaRPr lang="en-US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AE3813-FC7E-1C37-6CB7-137186501AA5}"/>
              </a:ext>
            </a:extLst>
          </p:cNvPr>
          <p:cNvSpPr txBox="1"/>
          <p:nvPr/>
        </p:nvSpPr>
        <p:spPr>
          <a:xfrm>
            <a:off x="949154" y="1546278"/>
            <a:ext cx="105905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02124"/>
                </a:solidFill>
                <a:latin typeface="Roboto" panose="02000000000000000000" pitchFamily="2" charset="0"/>
              </a:rPr>
              <a:t>In our example, we'd calculate the weight and bias from the line we drew. The bias is 30 (where the line intersects the y-axis), and the weight is -3.6 (the slope of the line). The model would be defined as y’=30 + (-3.6)(x1), and we could use it to make predictions. For instance, using this model, a 4,000-pound car would have a predicted fuel efficiency of 15.6 miles per gallon.</a:t>
            </a:r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DC9B35-00E3-0590-E954-FB9FD3B7B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525" y="2646436"/>
            <a:ext cx="8773749" cy="36104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3E962DA-A1EA-D5EE-7EAE-AE20FE415F32}"/>
              </a:ext>
            </a:extLst>
          </p:cNvPr>
          <p:cNvSpPr txBox="1"/>
          <p:nvPr/>
        </p:nvSpPr>
        <p:spPr>
          <a:xfrm>
            <a:off x="609600" y="6147900"/>
            <a:ext cx="107094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Using the model, a 4,000-pound car has a predicted fuel efficiency of 15.6 miles per gallon.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356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15D0FE-2CCE-8944-89DE-3AFCA48C2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0D95A1-EB02-968E-E30B-81C1F5912C8D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3012098-D3D4-6361-03DB-633F49D30232}"/>
              </a:ext>
            </a:extLst>
          </p:cNvPr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C7A9F76-8523-0386-CD01-835CC45F0076}"/>
              </a:ext>
            </a:extLst>
          </p:cNvPr>
          <p:cNvSpPr/>
          <p:nvPr/>
        </p:nvSpPr>
        <p:spPr>
          <a:xfrm>
            <a:off x="502920" y="62179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regression: a first interpretable model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FCCE06A-C693-3380-29C1-F0885A148AF9}"/>
              </a:ext>
            </a:extLst>
          </p:cNvPr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95A4DC9-73A2-272D-8165-DEA2F7429ED4}"/>
              </a:ext>
            </a:extLst>
          </p:cNvPr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8</a:t>
            </a:r>
            <a:endParaRPr lang="en-US" sz="800" dirty="0"/>
          </a:p>
        </p:txBody>
      </p:sp>
      <p:sp>
        <p:nvSpPr>
          <p:cNvPr id="40" name="object 2">
            <a:extLst>
              <a:ext uri="{FF2B5EF4-FFF2-40B4-BE49-F238E27FC236}">
                <a16:creationId xmlns:a16="http://schemas.microsoft.com/office/drawing/2014/main" id="{EBF2BC56-E5C3-8067-DC5C-18A7C024A022}"/>
              </a:ext>
            </a:extLst>
          </p:cNvPr>
          <p:cNvSpPr txBox="1"/>
          <p:nvPr/>
        </p:nvSpPr>
        <p:spPr>
          <a:xfrm>
            <a:off x="370813" y="2624247"/>
            <a:ext cx="3028918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 defTabSz="554492">
              <a:spcBef>
                <a:spcPts val="73"/>
              </a:spcBef>
            </a:pPr>
            <a:r>
              <a:rPr sz="2486" kern="0" spc="-276" dirty="0">
                <a:solidFill>
                  <a:srgbClr val="929292"/>
                </a:solidFill>
                <a:latin typeface="Tahoma"/>
                <a:cs typeface="Tahoma"/>
              </a:rPr>
              <a:t>1.</a:t>
            </a:r>
            <a:r>
              <a:rPr sz="2486" kern="0" spc="-124" dirty="0">
                <a:solidFill>
                  <a:srgbClr val="929292"/>
                </a:solidFill>
                <a:latin typeface="Tahoma"/>
                <a:cs typeface="Tahoma"/>
              </a:rPr>
              <a:t> </a:t>
            </a:r>
            <a:r>
              <a:rPr sz="2486" kern="0" spc="97" dirty="0">
                <a:solidFill>
                  <a:srgbClr val="929292"/>
                </a:solidFill>
                <a:latin typeface="Tahoma"/>
                <a:cs typeface="Tahoma"/>
              </a:rPr>
              <a:t>Define</a:t>
            </a:r>
            <a:r>
              <a:rPr sz="2486" kern="0" spc="-124" dirty="0">
                <a:solidFill>
                  <a:srgbClr val="929292"/>
                </a:solidFill>
                <a:latin typeface="Tahoma"/>
                <a:cs typeface="Tahoma"/>
              </a:rPr>
              <a:t> </a:t>
            </a:r>
            <a:r>
              <a:rPr sz="2486" kern="0" spc="73" dirty="0">
                <a:solidFill>
                  <a:srgbClr val="929292"/>
                </a:solidFill>
                <a:latin typeface="Tahoma"/>
                <a:cs typeface="Tahoma"/>
              </a:rPr>
              <a:t>training</a:t>
            </a:r>
            <a:r>
              <a:rPr sz="2486" kern="0" spc="-124" dirty="0">
                <a:solidFill>
                  <a:srgbClr val="929292"/>
                </a:solidFill>
                <a:latin typeface="Tahoma"/>
                <a:cs typeface="Tahoma"/>
              </a:rPr>
              <a:t> </a:t>
            </a:r>
            <a:r>
              <a:rPr sz="2486" kern="0" spc="91" dirty="0">
                <a:solidFill>
                  <a:srgbClr val="929292"/>
                </a:solidFill>
                <a:latin typeface="Tahoma"/>
                <a:cs typeface="Tahoma"/>
              </a:rPr>
              <a:t>set</a:t>
            </a:r>
            <a:endParaRPr sz="2486" kern="0" dirty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sp>
        <p:nvSpPr>
          <p:cNvPr id="41" name="object 3">
            <a:extLst>
              <a:ext uri="{FF2B5EF4-FFF2-40B4-BE49-F238E27FC236}">
                <a16:creationId xmlns:a16="http://schemas.microsoft.com/office/drawing/2014/main" id="{DCE68625-3487-6AA1-3ECA-CB56BE2A330F}"/>
              </a:ext>
            </a:extLst>
          </p:cNvPr>
          <p:cNvSpPr txBox="1"/>
          <p:nvPr/>
        </p:nvSpPr>
        <p:spPr>
          <a:xfrm>
            <a:off x="370813" y="2986859"/>
            <a:ext cx="6310438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 defTabSz="554492">
              <a:spcBef>
                <a:spcPts val="73"/>
              </a:spcBef>
            </a:pPr>
            <a:r>
              <a:rPr sz="2486" kern="0" spc="-45" dirty="0">
                <a:solidFill>
                  <a:sysClr val="windowText" lastClr="000000"/>
                </a:solidFill>
                <a:latin typeface="Tahoma"/>
                <a:cs typeface="Tahoma"/>
              </a:rPr>
              <a:t>2.</a:t>
            </a:r>
            <a:r>
              <a:rPr sz="2486" kern="0" spc="-127" dirty="0">
                <a:solidFill>
                  <a:sysClr val="windowText" lastClr="000000"/>
                </a:solidFill>
                <a:latin typeface="Tahoma"/>
                <a:cs typeface="Tahoma"/>
              </a:rPr>
              <a:t> </a:t>
            </a:r>
            <a:r>
              <a:rPr sz="2486" kern="0" spc="39" dirty="0">
                <a:solidFill>
                  <a:sysClr val="windowText" lastClr="000000"/>
                </a:solidFill>
                <a:latin typeface="Tahoma"/>
                <a:cs typeface="Tahoma"/>
              </a:rPr>
              <a:t>Initialize</a:t>
            </a:r>
            <a:r>
              <a:rPr sz="2486" kern="0" spc="-124" dirty="0">
                <a:solidFill>
                  <a:sysClr val="windowText" lastClr="000000"/>
                </a:solidFill>
                <a:latin typeface="Tahoma"/>
                <a:cs typeface="Tahoma"/>
              </a:rPr>
              <a:t> </a:t>
            </a:r>
            <a:r>
              <a:rPr sz="2486" kern="0" spc="143" dirty="0">
                <a:solidFill>
                  <a:sysClr val="windowText" lastClr="000000"/>
                </a:solidFill>
                <a:latin typeface="Tahoma"/>
                <a:cs typeface="Tahoma"/>
              </a:rPr>
              <a:t>model</a:t>
            </a:r>
            <a:r>
              <a:rPr sz="2486" kern="0" spc="-127" dirty="0">
                <a:solidFill>
                  <a:sysClr val="windowText" lastClr="000000"/>
                </a:solidFill>
                <a:latin typeface="Tahoma"/>
                <a:cs typeface="Tahoma"/>
              </a:rPr>
              <a:t> </a:t>
            </a:r>
            <a:r>
              <a:rPr sz="2486" kern="0" spc="121" dirty="0">
                <a:solidFill>
                  <a:sysClr val="windowText" lastClr="000000"/>
                </a:solidFill>
                <a:latin typeface="Tahoma"/>
                <a:cs typeface="Tahoma"/>
              </a:rPr>
              <a:t>weights</a:t>
            </a:r>
            <a:r>
              <a:rPr sz="2486" kern="0" spc="-124" dirty="0">
                <a:solidFill>
                  <a:sysClr val="windowText" lastClr="000000"/>
                </a:solidFill>
                <a:latin typeface="Tahoma"/>
                <a:cs typeface="Tahoma"/>
              </a:rPr>
              <a:t> </a:t>
            </a:r>
            <a:r>
              <a:rPr sz="2486" kern="0" spc="121" dirty="0">
                <a:solidFill>
                  <a:sysClr val="windowText" lastClr="000000"/>
                </a:solidFill>
                <a:latin typeface="Tahoma"/>
                <a:cs typeface="Tahoma"/>
              </a:rPr>
              <a:t>and</a:t>
            </a:r>
            <a:r>
              <a:rPr sz="2486" kern="0" spc="-127" dirty="0">
                <a:solidFill>
                  <a:sysClr val="windowText" lastClr="000000"/>
                </a:solidFill>
                <a:latin typeface="Tahoma"/>
                <a:cs typeface="Tahoma"/>
              </a:rPr>
              <a:t> </a:t>
            </a:r>
            <a:r>
              <a:rPr sz="2486" kern="0" spc="118" dirty="0">
                <a:solidFill>
                  <a:sysClr val="windowText" lastClr="000000"/>
                </a:solidFill>
                <a:latin typeface="Tahoma"/>
                <a:cs typeface="Tahoma"/>
              </a:rPr>
              <a:t>bias</a:t>
            </a:r>
            <a:r>
              <a:rPr sz="2486" kern="0" spc="-124" dirty="0">
                <a:solidFill>
                  <a:sysClr val="windowText" lastClr="000000"/>
                </a:solidFill>
                <a:latin typeface="Tahoma"/>
                <a:cs typeface="Tahoma"/>
              </a:rPr>
              <a:t> </a:t>
            </a:r>
            <a:r>
              <a:rPr sz="2486" kern="0" spc="79" dirty="0">
                <a:solidFill>
                  <a:sysClr val="windowText" lastClr="000000"/>
                </a:solidFill>
                <a:latin typeface="Tahoma"/>
                <a:cs typeface="Tahoma"/>
              </a:rPr>
              <a:t>to</a:t>
            </a:r>
            <a:r>
              <a:rPr sz="2486" kern="0" spc="-127" dirty="0">
                <a:solidFill>
                  <a:sysClr val="windowText" lastClr="000000"/>
                </a:solidFill>
                <a:latin typeface="Tahoma"/>
                <a:cs typeface="Tahoma"/>
              </a:rPr>
              <a:t> </a:t>
            </a:r>
            <a:r>
              <a:rPr sz="2486" kern="0" spc="69" dirty="0">
                <a:solidFill>
                  <a:sysClr val="windowText" lastClr="000000"/>
                </a:solidFill>
                <a:latin typeface="Tahoma"/>
                <a:cs typeface="Tahoma"/>
              </a:rPr>
              <a:t>zero</a:t>
            </a:r>
            <a:endParaRPr sz="2486" kern="0" dirty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sp>
        <p:nvSpPr>
          <p:cNvPr id="42" name="object 4">
            <a:extLst>
              <a:ext uri="{FF2B5EF4-FFF2-40B4-BE49-F238E27FC236}">
                <a16:creationId xmlns:a16="http://schemas.microsoft.com/office/drawing/2014/main" id="{0A49A9A9-D151-CB02-2FD7-B296CFAF9C8C}"/>
              </a:ext>
            </a:extLst>
          </p:cNvPr>
          <p:cNvSpPr/>
          <p:nvPr/>
        </p:nvSpPr>
        <p:spPr>
          <a:xfrm>
            <a:off x="2622093" y="4377144"/>
            <a:ext cx="800549" cy="762043"/>
          </a:xfrm>
          <a:custGeom>
            <a:avLst/>
            <a:gdLst/>
            <a:ahLst/>
            <a:cxnLst/>
            <a:rect l="l" t="t" r="r" b="b"/>
            <a:pathLst>
              <a:path w="1320164" h="1256665">
                <a:moveTo>
                  <a:pt x="1126783" y="183957"/>
                </a:moveTo>
                <a:lnTo>
                  <a:pt x="1160335" y="218319"/>
                </a:lnTo>
                <a:lnTo>
                  <a:pt x="1190692" y="254400"/>
                </a:lnTo>
                <a:lnTo>
                  <a:pt x="1217854" y="292026"/>
                </a:lnTo>
                <a:lnTo>
                  <a:pt x="1241820" y="331025"/>
                </a:lnTo>
                <a:lnTo>
                  <a:pt x="1262590" y="371227"/>
                </a:lnTo>
                <a:lnTo>
                  <a:pt x="1280165" y="412460"/>
                </a:lnTo>
                <a:lnTo>
                  <a:pt x="1294545" y="454551"/>
                </a:lnTo>
                <a:lnTo>
                  <a:pt x="1305729" y="497329"/>
                </a:lnTo>
                <a:lnTo>
                  <a:pt x="1313717" y="540623"/>
                </a:lnTo>
                <a:lnTo>
                  <a:pt x="1318511" y="584260"/>
                </a:lnTo>
                <a:lnTo>
                  <a:pt x="1320108" y="628069"/>
                </a:lnTo>
                <a:lnTo>
                  <a:pt x="1318511" y="671877"/>
                </a:lnTo>
                <a:lnTo>
                  <a:pt x="1313717" y="715514"/>
                </a:lnTo>
                <a:lnTo>
                  <a:pt x="1305729" y="758808"/>
                </a:lnTo>
                <a:lnTo>
                  <a:pt x="1294545" y="801586"/>
                </a:lnTo>
                <a:lnTo>
                  <a:pt x="1280165" y="843677"/>
                </a:lnTo>
                <a:lnTo>
                  <a:pt x="1262590" y="884910"/>
                </a:lnTo>
                <a:lnTo>
                  <a:pt x="1241820" y="925112"/>
                </a:lnTo>
                <a:lnTo>
                  <a:pt x="1217854" y="964112"/>
                </a:lnTo>
                <a:lnTo>
                  <a:pt x="1190692" y="1001738"/>
                </a:lnTo>
                <a:lnTo>
                  <a:pt x="1160335" y="1037818"/>
                </a:lnTo>
                <a:lnTo>
                  <a:pt x="1126783" y="1072180"/>
                </a:lnTo>
                <a:lnTo>
                  <a:pt x="1090670" y="1104107"/>
                </a:lnTo>
                <a:lnTo>
                  <a:pt x="1052753" y="1132993"/>
                </a:lnTo>
                <a:lnTo>
                  <a:pt x="1013211" y="1158838"/>
                </a:lnTo>
                <a:lnTo>
                  <a:pt x="972225" y="1181643"/>
                </a:lnTo>
                <a:lnTo>
                  <a:pt x="929975" y="1201407"/>
                </a:lnTo>
                <a:lnTo>
                  <a:pt x="886643" y="1218130"/>
                </a:lnTo>
                <a:lnTo>
                  <a:pt x="842408" y="1231813"/>
                </a:lnTo>
                <a:lnTo>
                  <a:pt x="797451" y="1242455"/>
                </a:lnTo>
                <a:lnTo>
                  <a:pt x="751953" y="1250056"/>
                </a:lnTo>
                <a:lnTo>
                  <a:pt x="706094" y="1254617"/>
                </a:lnTo>
                <a:lnTo>
                  <a:pt x="660054" y="1256138"/>
                </a:lnTo>
                <a:lnTo>
                  <a:pt x="614014" y="1254617"/>
                </a:lnTo>
                <a:lnTo>
                  <a:pt x="568155" y="1250056"/>
                </a:lnTo>
                <a:lnTo>
                  <a:pt x="522657" y="1242455"/>
                </a:lnTo>
                <a:lnTo>
                  <a:pt x="477700" y="1231813"/>
                </a:lnTo>
                <a:lnTo>
                  <a:pt x="433465" y="1218130"/>
                </a:lnTo>
                <a:lnTo>
                  <a:pt x="390133" y="1201407"/>
                </a:lnTo>
                <a:lnTo>
                  <a:pt x="347883" y="1181643"/>
                </a:lnTo>
                <a:lnTo>
                  <a:pt x="306897" y="1158838"/>
                </a:lnTo>
                <a:lnTo>
                  <a:pt x="267355" y="1132993"/>
                </a:lnTo>
                <a:lnTo>
                  <a:pt x="229438" y="1104107"/>
                </a:lnTo>
                <a:lnTo>
                  <a:pt x="193325" y="1072180"/>
                </a:lnTo>
                <a:lnTo>
                  <a:pt x="159773" y="1037818"/>
                </a:lnTo>
                <a:lnTo>
                  <a:pt x="129416" y="1001738"/>
                </a:lnTo>
                <a:lnTo>
                  <a:pt x="102254" y="964112"/>
                </a:lnTo>
                <a:lnTo>
                  <a:pt x="78288" y="925112"/>
                </a:lnTo>
                <a:lnTo>
                  <a:pt x="57518" y="884910"/>
                </a:lnTo>
                <a:lnTo>
                  <a:pt x="39943" y="843677"/>
                </a:lnTo>
                <a:lnTo>
                  <a:pt x="25563" y="801586"/>
                </a:lnTo>
                <a:lnTo>
                  <a:pt x="14379" y="758808"/>
                </a:lnTo>
                <a:lnTo>
                  <a:pt x="6390" y="715514"/>
                </a:lnTo>
                <a:lnTo>
                  <a:pt x="1597" y="671877"/>
                </a:lnTo>
                <a:lnTo>
                  <a:pt x="0" y="628069"/>
                </a:lnTo>
                <a:lnTo>
                  <a:pt x="1597" y="584260"/>
                </a:lnTo>
                <a:lnTo>
                  <a:pt x="6390" y="540623"/>
                </a:lnTo>
                <a:lnTo>
                  <a:pt x="14379" y="497329"/>
                </a:lnTo>
                <a:lnTo>
                  <a:pt x="25563" y="454551"/>
                </a:lnTo>
                <a:lnTo>
                  <a:pt x="39943" y="412460"/>
                </a:lnTo>
                <a:lnTo>
                  <a:pt x="57518" y="371227"/>
                </a:lnTo>
                <a:lnTo>
                  <a:pt x="78288" y="331025"/>
                </a:lnTo>
                <a:lnTo>
                  <a:pt x="102254" y="292026"/>
                </a:lnTo>
                <a:lnTo>
                  <a:pt x="129416" y="254400"/>
                </a:lnTo>
                <a:lnTo>
                  <a:pt x="159773" y="218319"/>
                </a:lnTo>
                <a:lnTo>
                  <a:pt x="193325" y="183957"/>
                </a:lnTo>
                <a:lnTo>
                  <a:pt x="229438" y="152030"/>
                </a:lnTo>
                <a:lnTo>
                  <a:pt x="267355" y="123144"/>
                </a:lnTo>
                <a:lnTo>
                  <a:pt x="306897" y="97299"/>
                </a:lnTo>
                <a:lnTo>
                  <a:pt x="347883" y="74495"/>
                </a:lnTo>
                <a:lnTo>
                  <a:pt x="390133" y="54731"/>
                </a:lnTo>
                <a:lnTo>
                  <a:pt x="433465" y="38007"/>
                </a:lnTo>
                <a:lnTo>
                  <a:pt x="477700" y="24324"/>
                </a:lnTo>
                <a:lnTo>
                  <a:pt x="522657" y="13682"/>
                </a:lnTo>
                <a:lnTo>
                  <a:pt x="568155" y="6081"/>
                </a:lnTo>
                <a:lnTo>
                  <a:pt x="614014" y="1520"/>
                </a:lnTo>
                <a:lnTo>
                  <a:pt x="660054" y="0"/>
                </a:lnTo>
                <a:lnTo>
                  <a:pt x="706094" y="1520"/>
                </a:lnTo>
                <a:lnTo>
                  <a:pt x="751953" y="6081"/>
                </a:lnTo>
                <a:lnTo>
                  <a:pt x="797451" y="13682"/>
                </a:lnTo>
                <a:lnTo>
                  <a:pt x="842408" y="24324"/>
                </a:lnTo>
                <a:lnTo>
                  <a:pt x="886643" y="38007"/>
                </a:lnTo>
                <a:lnTo>
                  <a:pt x="929975" y="54731"/>
                </a:lnTo>
                <a:lnTo>
                  <a:pt x="972225" y="74495"/>
                </a:lnTo>
                <a:lnTo>
                  <a:pt x="1013211" y="97299"/>
                </a:lnTo>
                <a:lnTo>
                  <a:pt x="1052753" y="123144"/>
                </a:lnTo>
                <a:lnTo>
                  <a:pt x="1090670" y="152030"/>
                </a:lnTo>
                <a:lnTo>
                  <a:pt x="1126783" y="183957"/>
                </a:lnTo>
                <a:close/>
              </a:path>
            </a:pathLst>
          </a:custGeom>
          <a:ln w="732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43" name="object 5">
            <a:extLst>
              <a:ext uri="{FF2B5EF4-FFF2-40B4-BE49-F238E27FC236}">
                <a16:creationId xmlns:a16="http://schemas.microsoft.com/office/drawing/2014/main" id="{FCB5FF90-0C1E-48AF-A644-84C151DA33FC}"/>
              </a:ext>
            </a:extLst>
          </p:cNvPr>
          <p:cNvSpPr/>
          <p:nvPr/>
        </p:nvSpPr>
        <p:spPr>
          <a:xfrm>
            <a:off x="2644238" y="5808889"/>
            <a:ext cx="800549" cy="762043"/>
          </a:xfrm>
          <a:custGeom>
            <a:avLst/>
            <a:gdLst/>
            <a:ahLst/>
            <a:cxnLst/>
            <a:rect l="l" t="t" r="r" b="b"/>
            <a:pathLst>
              <a:path w="1320164" h="1256665">
                <a:moveTo>
                  <a:pt x="1126783" y="183957"/>
                </a:moveTo>
                <a:lnTo>
                  <a:pt x="1160335" y="218319"/>
                </a:lnTo>
                <a:lnTo>
                  <a:pt x="1190692" y="254400"/>
                </a:lnTo>
                <a:lnTo>
                  <a:pt x="1217854" y="292026"/>
                </a:lnTo>
                <a:lnTo>
                  <a:pt x="1241820" y="331025"/>
                </a:lnTo>
                <a:lnTo>
                  <a:pt x="1262590" y="371227"/>
                </a:lnTo>
                <a:lnTo>
                  <a:pt x="1280165" y="412460"/>
                </a:lnTo>
                <a:lnTo>
                  <a:pt x="1294545" y="454551"/>
                </a:lnTo>
                <a:lnTo>
                  <a:pt x="1305729" y="497329"/>
                </a:lnTo>
                <a:lnTo>
                  <a:pt x="1313717" y="540623"/>
                </a:lnTo>
                <a:lnTo>
                  <a:pt x="1318511" y="584260"/>
                </a:lnTo>
                <a:lnTo>
                  <a:pt x="1320108" y="628069"/>
                </a:lnTo>
                <a:lnTo>
                  <a:pt x="1318511" y="671877"/>
                </a:lnTo>
                <a:lnTo>
                  <a:pt x="1313717" y="715514"/>
                </a:lnTo>
                <a:lnTo>
                  <a:pt x="1305729" y="758808"/>
                </a:lnTo>
                <a:lnTo>
                  <a:pt x="1294545" y="801586"/>
                </a:lnTo>
                <a:lnTo>
                  <a:pt x="1280165" y="843677"/>
                </a:lnTo>
                <a:lnTo>
                  <a:pt x="1262590" y="884910"/>
                </a:lnTo>
                <a:lnTo>
                  <a:pt x="1241820" y="925112"/>
                </a:lnTo>
                <a:lnTo>
                  <a:pt x="1217854" y="964112"/>
                </a:lnTo>
                <a:lnTo>
                  <a:pt x="1190692" y="1001738"/>
                </a:lnTo>
                <a:lnTo>
                  <a:pt x="1160335" y="1037818"/>
                </a:lnTo>
                <a:lnTo>
                  <a:pt x="1126783" y="1072180"/>
                </a:lnTo>
                <a:lnTo>
                  <a:pt x="1090670" y="1104107"/>
                </a:lnTo>
                <a:lnTo>
                  <a:pt x="1052753" y="1132993"/>
                </a:lnTo>
                <a:lnTo>
                  <a:pt x="1013211" y="1158838"/>
                </a:lnTo>
                <a:lnTo>
                  <a:pt x="972225" y="1181643"/>
                </a:lnTo>
                <a:lnTo>
                  <a:pt x="929975" y="1201407"/>
                </a:lnTo>
                <a:lnTo>
                  <a:pt x="886643" y="1218130"/>
                </a:lnTo>
                <a:lnTo>
                  <a:pt x="842408" y="1231813"/>
                </a:lnTo>
                <a:lnTo>
                  <a:pt x="797451" y="1242455"/>
                </a:lnTo>
                <a:lnTo>
                  <a:pt x="751953" y="1250056"/>
                </a:lnTo>
                <a:lnTo>
                  <a:pt x="706094" y="1254617"/>
                </a:lnTo>
                <a:lnTo>
                  <a:pt x="660054" y="1256138"/>
                </a:lnTo>
                <a:lnTo>
                  <a:pt x="614014" y="1254617"/>
                </a:lnTo>
                <a:lnTo>
                  <a:pt x="568155" y="1250056"/>
                </a:lnTo>
                <a:lnTo>
                  <a:pt x="522657" y="1242455"/>
                </a:lnTo>
                <a:lnTo>
                  <a:pt x="477700" y="1231813"/>
                </a:lnTo>
                <a:lnTo>
                  <a:pt x="433465" y="1218130"/>
                </a:lnTo>
                <a:lnTo>
                  <a:pt x="390133" y="1201407"/>
                </a:lnTo>
                <a:lnTo>
                  <a:pt x="347883" y="1181643"/>
                </a:lnTo>
                <a:lnTo>
                  <a:pt x="306897" y="1158838"/>
                </a:lnTo>
                <a:lnTo>
                  <a:pt x="267355" y="1132993"/>
                </a:lnTo>
                <a:lnTo>
                  <a:pt x="229438" y="1104107"/>
                </a:lnTo>
                <a:lnTo>
                  <a:pt x="193325" y="1072180"/>
                </a:lnTo>
                <a:lnTo>
                  <a:pt x="159773" y="1037818"/>
                </a:lnTo>
                <a:lnTo>
                  <a:pt x="129416" y="1001738"/>
                </a:lnTo>
                <a:lnTo>
                  <a:pt x="102254" y="964112"/>
                </a:lnTo>
                <a:lnTo>
                  <a:pt x="78288" y="925112"/>
                </a:lnTo>
                <a:lnTo>
                  <a:pt x="57518" y="884910"/>
                </a:lnTo>
                <a:lnTo>
                  <a:pt x="39943" y="843677"/>
                </a:lnTo>
                <a:lnTo>
                  <a:pt x="25563" y="801586"/>
                </a:lnTo>
                <a:lnTo>
                  <a:pt x="14379" y="758808"/>
                </a:lnTo>
                <a:lnTo>
                  <a:pt x="6390" y="715514"/>
                </a:lnTo>
                <a:lnTo>
                  <a:pt x="1597" y="671877"/>
                </a:lnTo>
                <a:lnTo>
                  <a:pt x="0" y="628069"/>
                </a:lnTo>
                <a:lnTo>
                  <a:pt x="1597" y="584260"/>
                </a:lnTo>
                <a:lnTo>
                  <a:pt x="6390" y="540623"/>
                </a:lnTo>
                <a:lnTo>
                  <a:pt x="14379" y="497329"/>
                </a:lnTo>
                <a:lnTo>
                  <a:pt x="25563" y="454551"/>
                </a:lnTo>
                <a:lnTo>
                  <a:pt x="39943" y="412460"/>
                </a:lnTo>
                <a:lnTo>
                  <a:pt x="57518" y="371227"/>
                </a:lnTo>
                <a:lnTo>
                  <a:pt x="78288" y="331025"/>
                </a:lnTo>
                <a:lnTo>
                  <a:pt x="102254" y="292026"/>
                </a:lnTo>
                <a:lnTo>
                  <a:pt x="129416" y="254400"/>
                </a:lnTo>
                <a:lnTo>
                  <a:pt x="159773" y="218319"/>
                </a:lnTo>
                <a:lnTo>
                  <a:pt x="193325" y="183957"/>
                </a:lnTo>
                <a:lnTo>
                  <a:pt x="229438" y="152030"/>
                </a:lnTo>
                <a:lnTo>
                  <a:pt x="267355" y="123144"/>
                </a:lnTo>
                <a:lnTo>
                  <a:pt x="306897" y="97299"/>
                </a:lnTo>
                <a:lnTo>
                  <a:pt x="347883" y="74495"/>
                </a:lnTo>
                <a:lnTo>
                  <a:pt x="390133" y="54731"/>
                </a:lnTo>
                <a:lnTo>
                  <a:pt x="433465" y="38007"/>
                </a:lnTo>
                <a:lnTo>
                  <a:pt x="477700" y="24324"/>
                </a:lnTo>
                <a:lnTo>
                  <a:pt x="522657" y="13682"/>
                </a:lnTo>
                <a:lnTo>
                  <a:pt x="568155" y="6081"/>
                </a:lnTo>
                <a:lnTo>
                  <a:pt x="614014" y="1520"/>
                </a:lnTo>
                <a:lnTo>
                  <a:pt x="660054" y="0"/>
                </a:lnTo>
                <a:lnTo>
                  <a:pt x="706094" y="1520"/>
                </a:lnTo>
                <a:lnTo>
                  <a:pt x="751953" y="6081"/>
                </a:lnTo>
                <a:lnTo>
                  <a:pt x="797451" y="13682"/>
                </a:lnTo>
                <a:lnTo>
                  <a:pt x="842408" y="24324"/>
                </a:lnTo>
                <a:lnTo>
                  <a:pt x="886643" y="38007"/>
                </a:lnTo>
                <a:lnTo>
                  <a:pt x="929975" y="54731"/>
                </a:lnTo>
                <a:lnTo>
                  <a:pt x="972225" y="74495"/>
                </a:lnTo>
                <a:lnTo>
                  <a:pt x="1013211" y="97299"/>
                </a:lnTo>
                <a:lnTo>
                  <a:pt x="1052753" y="123144"/>
                </a:lnTo>
                <a:lnTo>
                  <a:pt x="1090670" y="152030"/>
                </a:lnTo>
                <a:lnTo>
                  <a:pt x="1126783" y="183957"/>
                </a:lnTo>
                <a:close/>
              </a:path>
            </a:pathLst>
          </a:custGeom>
          <a:ln w="732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44" name="object 7">
            <a:extLst>
              <a:ext uri="{FF2B5EF4-FFF2-40B4-BE49-F238E27FC236}">
                <a16:creationId xmlns:a16="http://schemas.microsoft.com/office/drawing/2014/main" id="{0C687902-E662-1A05-E1F5-27B87405C921}"/>
              </a:ext>
            </a:extLst>
          </p:cNvPr>
          <p:cNvSpPr/>
          <p:nvPr/>
        </p:nvSpPr>
        <p:spPr>
          <a:xfrm>
            <a:off x="5863069" y="4955836"/>
            <a:ext cx="2525253" cy="1248379"/>
          </a:xfrm>
          <a:custGeom>
            <a:avLst/>
            <a:gdLst/>
            <a:ahLst/>
            <a:cxnLst/>
            <a:rect l="l" t="t" r="r" b="b"/>
            <a:pathLst>
              <a:path w="4164330" h="2058670">
                <a:moveTo>
                  <a:pt x="4163813" y="0"/>
                </a:moveTo>
                <a:lnTo>
                  <a:pt x="0" y="0"/>
                </a:lnTo>
                <a:lnTo>
                  <a:pt x="0" y="2058592"/>
                </a:lnTo>
                <a:lnTo>
                  <a:pt x="4163813" y="2058592"/>
                </a:lnTo>
                <a:lnTo>
                  <a:pt x="41638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 dirty="0">
              <a:solidFill>
                <a:sysClr val="windowText" lastClr="000000"/>
              </a:solidFill>
            </a:endParaRPr>
          </a:p>
        </p:txBody>
      </p:sp>
      <p:sp>
        <p:nvSpPr>
          <p:cNvPr id="45" name="object 9">
            <a:extLst>
              <a:ext uri="{FF2B5EF4-FFF2-40B4-BE49-F238E27FC236}">
                <a16:creationId xmlns:a16="http://schemas.microsoft.com/office/drawing/2014/main" id="{7D2EFF6E-715F-B1FC-AD3C-0C72EF36DCF3}"/>
              </a:ext>
            </a:extLst>
          </p:cNvPr>
          <p:cNvSpPr/>
          <p:nvPr/>
        </p:nvSpPr>
        <p:spPr>
          <a:xfrm>
            <a:off x="6108211" y="3518594"/>
            <a:ext cx="1733561" cy="679639"/>
          </a:xfrm>
          <a:custGeom>
            <a:avLst/>
            <a:gdLst/>
            <a:ahLst/>
            <a:cxnLst/>
            <a:rect l="l" t="t" r="r" b="b"/>
            <a:pathLst>
              <a:path w="2858769" h="1120775">
                <a:moveTo>
                  <a:pt x="2613292" y="0"/>
                </a:moveTo>
                <a:lnTo>
                  <a:pt x="245479" y="0"/>
                </a:lnTo>
                <a:lnTo>
                  <a:pt x="196627" y="187"/>
                </a:lnTo>
                <a:lnTo>
                  <a:pt x="157230" y="1503"/>
                </a:lnTo>
                <a:lnTo>
                  <a:pt x="101400" y="12030"/>
                </a:lnTo>
                <a:lnTo>
                  <a:pt x="46803" y="46811"/>
                </a:lnTo>
                <a:lnTo>
                  <a:pt x="12020" y="101408"/>
                </a:lnTo>
                <a:lnTo>
                  <a:pt x="1502" y="157236"/>
                </a:lnTo>
                <a:lnTo>
                  <a:pt x="187" y="196631"/>
                </a:lnTo>
                <a:lnTo>
                  <a:pt x="0" y="245480"/>
                </a:lnTo>
                <a:lnTo>
                  <a:pt x="0" y="874695"/>
                </a:lnTo>
                <a:lnTo>
                  <a:pt x="187" y="923545"/>
                </a:lnTo>
                <a:lnTo>
                  <a:pt x="1502" y="962940"/>
                </a:lnTo>
                <a:lnTo>
                  <a:pt x="12020" y="1018768"/>
                </a:lnTo>
                <a:lnTo>
                  <a:pt x="46803" y="1073365"/>
                </a:lnTo>
                <a:lnTo>
                  <a:pt x="101400" y="1108147"/>
                </a:lnTo>
                <a:lnTo>
                  <a:pt x="157230" y="1118673"/>
                </a:lnTo>
                <a:lnTo>
                  <a:pt x="196627" y="1119989"/>
                </a:lnTo>
                <a:lnTo>
                  <a:pt x="245479" y="1120177"/>
                </a:lnTo>
                <a:lnTo>
                  <a:pt x="2613292" y="1120177"/>
                </a:lnTo>
                <a:lnTo>
                  <a:pt x="2662144" y="1119989"/>
                </a:lnTo>
                <a:lnTo>
                  <a:pt x="2701540" y="1118673"/>
                </a:lnTo>
                <a:lnTo>
                  <a:pt x="2757371" y="1108147"/>
                </a:lnTo>
                <a:lnTo>
                  <a:pt x="2811968" y="1073365"/>
                </a:lnTo>
                <a:lnTo>
                  <a:pt x="2846751" y="1018768"/>
                </a:lnTo>
                <a:lnTo>
                  <a:pt x="2857269" y="962940"/>
                </a:lnTo>
                <a:lnTo>
                  <a:pt x="2858583" y="923545"/>
                </a:lnTo>
                <a:lnTo>
                  <a:pt x="2858771" y="874695"/>
                </a:lnTo>
                <a:lnTo>
                  <a:pt x="2858771" y="245480"/>
                </a:lnTo>
                <a:lnTo>
                  <a:pt x="2858583" y="196631"/>
                </a:lnTo>
                <a:lnTo>
                  <a:pt x="2857269" y="157236"/>
                </a:lnTo>
                <a:lnTo>
                  <a:pt x="2846751" y="101408"/>
                </a:lnTo>
                <a:lnTo>
                  <a:pt x="2811968" y="46811"/>
                </a:lnTo>
                <a:lnTo>
                  <a:pt x="2757371" y="12030"/>
                </a:lnTo>
                <a:lnTo>
                  <a:pt x="2701540" y="1503"/>
                </a:lnTo>
                <a:lnTo>
                  <a:pt x="2662144" y="187"/>
                </a:lnTo>
                <a:lnTo>
                  <a:pt x="2613292" y="0"/>
                </a:lnTo>
                <a:close/>
              </a:path>
            </a:pathLst>
          </a:custGeom>
          <a:solidFill>
            <a:srgbClr val="FF95CA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grpSp>
        <p:nvGrpSpPr>
          <p:cNvPr id="46" name="object 10">
            <a:extLst>
              <a:ext uri="{FF2B5EF4-FFF2-40B4-BE49-F238E27FC236}">
                <a16:creationId xmlns:a16="http://schemas.microsoft.com/office/drawing/2014/main" id="{B2AA1B0D-5174-9182-5514-2CB3855E6344}"/>
              </a:ext>
            </a:extLst>
          </p:cNvPr>
          <p:cNvGrpSpPr/>
          <p:nvPr/>
        </p:nvGrpSpPr>
        <p:grpSpPr>
          <a:xfrm>
            <a:off x="3506098" y="4785542"/>
            <a:ext cx="2278042" cy="679639"/>
            <a:chOff x="6400449" y="6516416"/>
            <a:chExt cx="3756660" cy="1120775"/>
          </a:xfrm>
        </p:grpSpPr>
        <p:sp>
          <p:nvSpPr>
            <p:cNvPr id="47" name="object 11">
              <a:extLst>
                <a:ext uri="{FF2B5EF4-FFF2-40B4-BE49-F238E27FC236}">
                  <a16:creationId xmlns:a16="http://schemas.microsoft.com/office/drawing/2014/main" id="{B8B89F4A-F15D-584E-5625-346B51FC9396}"/>
                </a:ext>
              </a:extLst>
            </p:cNvPr>
            <p:cNvSpPr/>
            <p:nvPr/>
          </p:nvSpPr>
          <p:spPr>
            <a:xfrm>
              <a:off x="6437097" y="6561178"/>
              <a:ext cx="3473450" cy="767080"/>
            </a:xfrm>
            <a:custGeom>
              <a:avLst/>
              <a:gdLst/>
              <a:ahLst/>
              <a:cxnLst/>
              <a:rect l="l" t="t" r="r" b="b"/>
              <a:pathLst>
                <a:path w="3473450" h="767079">
                  <a:moveTo>
                    <a:pt x="0" y="0"/>
                  </a:moveTo>
                  <a:lnTo>
                    <a:pt x="3437404" y="758904"/>
                  </a:lnTo>
                  <a:lnTo>
                    <a:pt x="3473191" y="766805"/>
                  </a:lnTo>
                </a:path>
              </a:pathLst>
            </a:custGeom>
            <a:ln w="7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object 12">
              <a:extLst>
                <a:ext uri="{FF2B5EF4-FFF2-40B4-BE49-F238E27FC236}">
                  <a16:creationId xmlns:a16="http://schemas.microsoft.com/office/drawing/2014/main" id="{D9C4A7D3-1DB6-2490-ADCA-57B95AE03077}"/>
                </a:ext>
              </a:extLst>
            </p:cNvPr>
            <p:cNvSpPr/>
            <p:nvPr/>
          </p:nvSpPr>
          <p:spPr>
            <a:xfrm>
              <a:off x="9843349" y="7178982"/>
              <a:ext cx="313690" cy="282575"/>
            </a:xfrm>
            <a:custGeom>
              <a:avLst/>
              <a:gdLst/>
              <a:ahLst/>
              <a:cxnLst/>
              <a:rect l="l" t="t" r="r" b="b"/>
              <a:pathLst>
                <a:path w="313690" h="282575">
                  <a:moveTo>
                    <a:pt x="62303" y="0"/>
                  </a:moveTo>
                  <a:lnTo>
                    <a:pt x="0" y="282200"/>
                  </a:lnTo>
                  <a:lnTo>
                    <a:pt x="313352" y="203404"/>
                  </a:lnTo>
                  <a:lnTo>
                    <a:pt x="623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object 13">
              <a:extLst>
                <a:ext uri="{FF2B5EF4-FFF2-40B4-BE49-F238E27FC236}">
                  <a16:creationId xmlns:a16="http://schemas.microsoft.com/office/drawing/2014/main" id="{913A5A9D-C11E-21D9-1056-F2A60F6FA628}"/>
                </a:ext>
              </a:extLst>
            </p:cNvPr>
            <p:cNvSpPr/>
            <p:nvPr/>
          </p:nvSpPr>
          <p:spPr>
            <a:xfrm>
              <a:off x="6870755" y="6516416"/>
              <a:ext cx="2797175" cy="1120775"/>
            </a:xfrm>
            <a:custGeom>
              <a:avLst/>
              <a:gdLst/>
              <a:ahLst/>
              <a:cxnLst/>
              <a:rect l="l" t="t" r="r" b="b"/>
              <a:pathLst>
                <a:path w="2797175" h="1120775">
                  <a:moveTo>
                    <a:pt x="2551569" y="0"/>
                  </a:moveTo>
                  <a:lnTo>
                    <a:pt x="245481" y="0"/>
                  </a:lnTo>
                  <a:lnTo>
                    <a:pt x="196631" y="187"/>
                  </a:lnTo>
                  <a:lnTo>
                    <a:pt x="157236" y="1503"/>
                  </a:lnTo>
                  <a:lnTo>
                    <a:pt x="101408" y="12030"/>
                  </a:lnTo>
                  <a:lnTo>
                    <a:pt x="46812" y="46812"/>
                  </a:lnTo>
                  <a:lnTo>
                    <a:pt x="12030" y="101409"/>
                  </a:lnTo>
                  <a:lnTo>
                    <a:pt x="1503" y="157236"/>
                  </a:lnTo>
                  <a:lnTo>
                    <a:pt x="187" y="196631"/>
                  </a:lnTo>
                  <a:lnTo>
                    <a:pt x="0" y="245481"/>
                  </a:lnTo>
                  <a:lnTo>
                    <a:pt x="0" y="874696"/>
                  </a:lnTo>
                  <a:lnTo>
                    <a:pt x="187" y="923546"/>
                  </a:lnTo>
                  <a:lnTo>
                    <a:pt x="1503" y="962940"/>
                  </a:lnTo>
                  <a:lnTo>
                    <a:pt x="12030" y="1018768"/>
                  </a:lnTo>
                  <a:lnTo>
                    <a:pt x="46812" y="1073366"/>
                  </a:lnTo>
                  <a:lnTo>
                    <a:pt x="101408" y="1108148"/>
                  </a:lnTo>
                  <a:lnTo>
                    <a:pt x="157236" y="1118673"/>
                  </a:lnTo>
                  <a:lnTo>
                    <a:pt x="196631" y="1119989"/>
                  </a:lnTo>
                  <a:lnTo>
                    <a:pt x="245481" y="1120177"/>
                  </a:lnTo>
                  <a:lnTo>
                    <a:pt x="2551569" y="1120177"/>
                  </a:lnTo>
                  <a:lnTo>
                    <a:pt x="2600419" y="1119989"/>
                  </a:lnTo>
                  <a:lnTo>
                    <a:pt x="2639813" y="1118673"/>
                  </a:lnTo>
                  <a:lnTo>
                    <a:pt x="2695641" y="1108148"/>
                  </a:lnTo>
                  <a:lnTo>
                    <a:pt x="2750238" y="1073366"/>
                  </a:lnTo>
                  <a:lnTo>
                    <a:pt x="2785020" y="1018768"/>
                  </a:lnTo>
                  <a:lnTo>
                    <a:pt x="2795547" y="962940"/>
                  </a:lnTo>
                  <a:lnTo>
                    <a:pt x="2796862" y="923546"/>
                  </a:lnTo>
                  <a:lnTo>
                    <a:pt x="2797050" y="874696"/>
                  </a:lnTo>
                  <a:lnTo>
                    <a:pt x="2797050" y="245481"/>
                  </a:lnTo>
                  <a:lnTo>
                    <a:pt x="2796862" y="196631"/>
                  </a:lnTo>
                  <a:lnTo>
                    <a:pt x="2795547" y="157236"/>
                  </a:lnTo>
                  <a:lnTo>
                    <a:pt x="2785020" y="101409"/>
                  </a:lnTo>
                  <a:lnTo>
                    <a:pt x="2750238" y="46812"/>
                  </a:lnTo>
                  <a:lnTo>
                    <a:pt x="2695641" y="12030"/>
                  </a:lnTo>
                  <a:lnTo>
                    <a:pt x="2639813" y="1503"/>
                  </a:lnTo>
                  <a:lnTo>
                    <a:pt x="2600419" y="187"/>
                  </a:lnTo>
                  <a:lnTo>
                    <a:pt x="2551569" y="0"/>
                  </a:lnTo>
                  <a:close/>
                </a:path>
              </a:pathLst>
            </a:custGeom>
            <a:solidFill>
              <a:srgbClr val="FF95CA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50" name="object 14">
            <a:extLst>
              <a:ext uri="{FF2B5EF4-FFF2-40B4-BE49-F238E27FC236}">
                <a16:creationId xmlns:a16="http://schemas.microsoft.com/office/drawing/2014/main" id="{D22C5213-1F61-CCB6-2ECD-6687612A4F03}"/>
              </a:ext>
            </a:extLst>
          </p:cNvPr>
          <p:cNvGrpSpPr/>
          <p:nvPr/>
        </p:nvGrpSpPr>
        <p:grpSpPr>
          <a:xfrm>
            <a:off x="3503809" y="5618730"/>
            <a:ext cx="2302686" cy="679639"/>
            <a:chOff x="6396674" y="7890405"/>
            <a:chExt cx="3797300" cy="1120775"/>
          </a:xfrm>
        </p:grpSpPr>
        <p:sp>
          <p:nvSpPr>
            <p:cNvPr id="51" name="object 15">
              <a:extLst>
                <a:ext uri="{FF2B5EF4-FFF2-40B4-BE49-F238E27FC236}">
                  <a16:creationId xmlns:a16="http://schemas.microsoft.com/office/drawing/2014/main" id="{879EA9F2-3EBA-A0DB-AA51-EC85121AFFA0}"/>
                </a:ext>
              </a:extLst>
            </p:cNvPr>
            <p:cNvSpPr/>
            <p:nvPr/>
          </p:nvSpPr>
          <p:spPr>
            <a:xfrm>
              <a:off x="6433322" y="8312258"/>
              <a:ext cx="3509645" cy="380365"/>
            </a:xfrm>
            <a:custGeom>
              <a:avLst/>
              <a:gdLst/>
              <a:ahLst/>
              <a:cxnLst/>
              <a:rect l="l" t="t" r="r" b="b"/>
              <a:pathLst>
                <a:path w="3509645" h="380365">
                  <a:moveTo>
                    <a:pt x="0" y="379754"/>
                  </a:moveTo>
                  <a:lnTo>
                    <a:pt x="3473038" y="3942"/>
                  </a:lnTo>
                  <a:lnTo>
                    <a:pt x="3509474" y="0"/>
                  </a:lnTo>
                </a:path>
              </a:pathLst>
            </a:custGeom>
            <a:ln w="7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bject 16">
              <a:extLst>
                <a:ext uri="{FF2B5EF4-FFF2-40B4-BE49-F238E27FC236}">
                  <a16:creationId xmlns:a16="http://schemas.microsoft.com/office/drawing/2014/main" id="{8929D071-C23C-4FCA-CC5F-E0B2A75E852B}"/>
                </a:ext>
              </a:extLst>
            </p:cNvPr>
            <p:cNvSpPr/>
            <p:nvPr/>
          </p:nvSpPr>
          <p:spPr>
            <a:xfrm>
              <a:off x="9890816" y="8172540"/>
              <a:ext cx="302895" cy="287655"/>
            </a:xfrm>
            <a:custGeom>
              <a:avLst/>
              <a:gdLst/>
              <a:ahLst/>
              <a:cxnLst/>
              <a:rect l="l" t="t" r="r" b="b"/>
              <a:pathLst>
                <a:path w="302895" h="287654">
                  <a:moveTo>
                    <a:pt x="0" y="0"/>
                  </a:moveTo>
                  <a:lnTo>
                    <a:pt x="31090" y="287320"/>
                  </a:lnTo>
                  <a:lnTo>
                    <a:pt x="302864" y="1125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object 17">
              <a:extLst>
                <a:ext uri="{FF2B5EF4-FFF2-40B4-BE49-F238E27FC236}">
                  <a16:creationId xmlns:a16="http://schemas.microsoft.com/office/drawing/2014/main" id="{E50755F7-B59E-C905-2C9E-7CF48AD09A3D}"/>
                </a:ext>
              </a:extLst>
            </p:cNvPr>
            <p:cNvSpPr/>
            <p:nvPr/>
          </p:nvSpPr>
          <p:spPr>
            <a:xfrm>
              <a:off x="6870755" y="7890405"/>
              <a:ext cx="2797175" cy="1120775"/>
            </a:xfrm>
            <a:custGeom>
              <a:avLst/>
              <a:gdLst/>
              <a:ahLst/>
              <a:cxnLst/>
              <a:rect l="l" t="t" r="r" b="b"/>
              <a:pathLst>
                <a:path w="2797175" h="1120775">
                  <a:moveTo>
                    <a:pt x="2551569" y="0"/>
                  </a:moveTo>
                  <a:lnTo>
                    <a:pt x="245481" y="0"/>
                  </a:lnTo>
                  <a:lnTo>
                    <a:pt x="196631" y="187"/>
                  </a:lnTo>
                  <a:lnTo>
                    <a:pt x="157236" y="1503"/>
                  </a:lnTo>
                  <a:lnTo>
                    <a:pt x="101408" y="12030"/>
                  </a:lnTo>
                  <a:lnTo>
                    <a:pt x="46812" y="46812"/>
                  </a:lnTo>
                  <a:lnTo>
                    <a:pt x="12030" y="101408"/>
                  </a:lnTo>
                  <a:lnTo>
                    <a:pt x="1503" y="157236"/>
                  </a:lnTo>
                  <a:lnTo>
                    <a:pt x="187" y="196631"/>
                  </a:lnTo>
                  <a:lnTo>
                    <a:pt x="0" y="245481"/>
                  </a:lnTo>
                  <a:lnTo>
                    <a:pt x="0" y="874695"/>
                  </a:lnTo>
                  <a:lnTo>
                    <a:pt x="187" y="923545"/>
                  </a:lnTo>
                  <a:lnTo>
                    <a:pt x="1503" y="962940"/>
                  </a:lnTo>
                  <a:lnTo>
                    <a:pt x="12030" y="1018768"/>
                  </a:lnTo>
                  <a:lnTo>
                    <a:pt x="46812" y="1073365"/>
                  </a:lnTo>
                  <a:lnTo>
                    <a:pt x="101408" y="1108147"/>
                  </a:lnTo>
                  <a:lnTo>
                    <a:pt x="157236" y="1118673"/>
                  </a:lnTo>
                  <a:lnTo>
                    <a:pt x="196631" y="1119989"/>
                  </a:lnTo>
                  <a:lnTo>
                    <a:pt x="245481" y="1120177"/>
                  </a:lnTo>
                  <a:lnTo>
                    <a:pt x="2551569" y="1120177"/>
                  </a:lnTo>
                  <a:lnTo>
                    <a:pt x="2600419" y="1119989"/>
                  </a:lnTo>
                  <a:lnTo>
                    <a:pt x="2639813" y="1118673"/>
                  </a:lnTo>
                  <a:lnTo>
                    <a:pt x="2695641" y="1108147"/>
                  </a:lnTo>
                  <a:lnTo>
                    <a:pt x="2750238" y="1073365"/>
                  </a:lnTo>
                  <a:lnTo>
                    <a:pt x="2785020" y="1018768"/>
                  </a:lnTo>
                  <a:lnTo>
                    <a:pt x="2795547" y="962940"/>
                  </a:lnTo>
                  <a:lnTo>
                    <a:pt x="2796862" y="923545"/>
                  </a:lnTo>
                  <a:lnTo>
                    <a:pt x="2797050" y="874695"/>
                  </a:lnTo>
                  <a:lnTo>
                    <a:pt x="2797050" y="245481"/>
                  </a:lnTo>
                  <a:lnTo>
                    <a:pt x="2796862" y="196631"/>
                  </a:lnTo>
                  <a:lnTo>
                    <a:pt x="2795547" y="157236"/>
                  </a:lnTo>
                  <a:lnTo>
                    <a:pt x="2785020" y="101408"/>
                  </a:lnTo>
                  <a:lnTo>
                    <a:pt x="2750238" y="46812"/>
                  </a:lnTo>
                  <a:lnTo>
                    <a:pt x="2695641" y="12030"/>
                  </a:lnTo>
                  <a:lnTo>
                    <a:pt x="2639813" y="1503"/>
                  </a:lnTo>
                  <a:lnTo>
                    <a:pt x="2600419" y="187"/>
                  </a:lnTo>
                  <a:lnTo>
                    <a:pt x="2551569" y="0"/>
                  </a:lnTo>
                  <a:close/>
                </a:path>
              </a:pathLst>
            </a:custGeom>
            <a:solidFill>
              <a:srgbClr val="FF95CA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4" name="object 18">
            <a:extLst>
              <a:ext uri="{FF2B5EF4-FFF2-40B4-BE49-F238E27FC236}">
                <a16:creationId xmlns:a16="http://schemas.microsoft.com/office/drawing/2014/main" id="{A64F7859-1AD1-9682-D0B8-7F4B70BDF7D0}"/>
              </a:ext>
            </a:extLst>
          </p:cNvPr>
          <p:cNvSpPr txBox="1"/>
          <p:nvPr/>
        </p:nvSpPr>
        <p:spPr>
          <a:xfrm>
            <a:off x="2889611" y="5767871"/>
            <a:ext cx="232579" cy="59998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defTabSz="554492">
              <a:spcBef>
                <a:spcPts val="58"/>
              </a:spcBef>
            </a:pPr>
            <a:r>
              <a:rPr sz="3851" i="1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x</a:t>
            </a:r>
            <a:endParaRPr sz="3851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5" name="object 19">
            <a:extLst>
              <a:ext uri="{FF2B5EF4-FFF2-40B4-BE49-F238E27FC236}">
                <a16:creationId xmlns:a16="http://schemas.microsoft.com/office/drawing/2014/main" id="{BC4DD496-B1C4-A96E-CE99-D0EA77E0A7B9}"/>
              </a:ext>
            </a:extLst>
          </p:cNvPr>
          <p:cNvSpPr txBox="1"/>
          <p:nvPr/>
        </p:nvSpPr>
        <p:spPr>
          <a:xfrm>
            <a:off x="3089512" y="6031884"/>
            <a:ext cx="189067" cy="428152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 defTabSz="554492">
              <a:spcBef>
                <a:spcPts val="64"/>
              </a:spcBef>
            </a:pPr>
            <a:r>
              <a:rPr sz="2729" kern="0" spc="-30" dirty="0">
                <a:solidFill>
                  <a:sysClr val="windowText" lastClr="000000"/>
                </a:solidFill>
                <a:latin typeface="Book Antiqua"/>
                <a:cs typeface="Book Antiqua"/>
              </a:rPr>
              <a:t>2</a:t>
            </a:r>
            <a:endParaRPr sz="2729" kern="0">
              <a:solidFill>
                <a:sysClr val="windowText" lastClr="000000"/>
              </a:solidFill>
              <a:latin typeface="Book Antiqua"/>
              <a:cs typeface="Book Antiqua"/>
            </a:endParaRPr>
          </a:p>
        </p:txBody>
      </p:sp>
      <p:sp>
        <p:nvSpPr>
          <p:cNvPr id="56" name="object 20">
            <a:extLst>
              <a:ext uri="{FF2B5EF4-FFF2-40B4-BE49-F238E27FC236}">
                <a16:creationId xmlns:a16="http://schemas.microsoft.com/office/drawing/2014/main" id="{08FE5328-28E7-B5F6-C7A7-A61AF1E8D69C}"/>
              </a:ext>
            </a:extLst>
          </p:cNvPr>
          <p:cNvSpPr txBox="1"/>
          <p:nvPr/>
        </p:nvSpPr>
        <p:spPr>
          <a:xfrm>
            <a:off x="2837512" y="4313664"/>
            <a:ext cx="419720" cy="59998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23104" defTabSz="554492">
              <a:spcBef>
                <a:spcPts val="58"/>
              </a:spcBef>
            </a:pPr>
            <a:r>
              <a:rPr sz="3851" i="1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x</a:t>
            </a:r>
            <a:r>
              <a:rPr sz="4093" kern="0" spc="-22" baseline="-19753" dirty="0">
                <a:solidFill>
                  <a:sysClr val="windowText" lastClr="000000"/>
                </a:solidFill>
                <a:latin typeface="Book Antiqua"/>
                <a:cs typeface="Book Antiqua"/>
              </a:rPr>
              <a:t>1</a:t>
            </a:r>
            <a:endParaRPr sz="4093" kern="0" baseline="-19753">
              <a:solidFill>
                <a:sysClr val="windowText" lastClr="000000"/>
              </a:solidFill>
              <a:latin typeface="Book Antiqua"/>
              <a:cs typeface="Book Antiqua"/>
            </a:endParaRPr>
          </a:p>
        </p:txBody>
      </p:sp>
      <p:sp>
        <p:nvSpPr>
          <p:cNvPr id="57" name="object 21">
            <a:extLst>
              <a:ext uri="{FF2B5EF4-FFF2-40B4-BE49-F238E27FC236}">
                <a16:creationId xmlns:a16="http://schemas.microsoft.com/office/drawing/2014/main" id="{ED97B207-7A9A-4648-9B68-21609011050A}"/>
              </a:ext>
            </a:extLst>
          </p:cNvPr>
          <p:cNvSpPr txBox="1"/>
          <p:nvPr/>
        </p:nvSpPr>
        <p:spPr>
          <a:xfrm>
            <a:off x="4222387" y="4996716"/>
            <a:ext cx="189067" cy="428152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 defTabSz="554492">
              <a:spcBef>
                <a:spcPts val="64"/>
              </a:spcBef>
            </a:pPr>
            <a:r>
              <a:rPr sz="2729" kern="0" spc="-30" dirty="0">
                <a:solidFill>
                  <a:sysClr val="windowText" lastClr="000000"/>
                </a:solidFill>
                <a:latin typeface="Book Antiqua"/>
                <a:cs typeface="Book Antiqua"/>
              </a:rPr>
              <a:t>1</a:t>
            </a:r>
            <a:endParaRPr sz="2729" kern="0">
              <a:solidFill>
                <a:sysClr val="windowText" lastClr="000000"/>
              </a:solidFill>
              <a:latin typeface="Book Antiqua"/>
              <a:cs typeface="Book Antiqua"/>
            </a:endParaRPr>
          </a:p>
        </p:txBody>
      </p:sp>
      <p:sp>
        <p:nvSpPr>
          <p:cNvPr id="58" name="object 22">
            <a:extLst>
              <a:ext uri="{FF2B5EF4-FFF2-40B4-BE49-F238E27FC236}">
                <a16:creationId xmlns:a16="http://schemas.microsoft.com/office/drawing/2014/main" id="{890324E9-0508-0C15-ED03-064B01CDDE68}"/>
              </a:ext>
            </a:extLst>
          </p:cNvPr>
          <p:cNvSpPr txBox="1"/>
          <p:nvPr/>
        </p:nvSpPr>
        <p:spPr>
          <a:xfrm>
            <a:off x="3913458" y="4732702"/>
            <a:ext cx="1485194" cy="59998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defTabSz="554492">
              <a:spcBef>
                <a:spcPts val="58"/>
              </a:spcBef>
              <a:tabLst>
                <a:tab pos="625729" algn="l"/>
              </a:tabLst>
            </a:pPr>
            <a:r>
              <a:rPr sz="3851" i="1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3851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3851" kern="0" spc="191" dirty="0">
                <a:solidFill>
                  <a:sysClr val="windowText" lastClr="000000"/>
                </a:solidFill>
                <a:latin typeface="Book Antiqua"/>
                <a:cs typeface="Book Antiqua"/>
              </a:rPr>
              <a:t>:=</a:t>
            </a:r>
            <a:r>
              <a:rPr sz="3851" kern="0" spc="109" dirty="0">
                <a:solidFill>
                  <a:sysClr val="windowText" lastClr="000000"/>
                </a:solidFill>
                <a:latin typeface="Book Antiqua"/>
                <a:cs typeface="Book Antiqua"/>
              </a:rPr>
              <a:t> </a:t>
            </a:r>
            <a:r>
              <a:rPr sz="3851" kern="0" spc="-30" dirty="0">
                <a:solidFill>
                  <a:sysClr val="windowText" lastClr="000000"/>
                </a:solidFill>
                <a:latin typeface="Book Antiqua"/>
                <a:cs typeface="Book Antiqua"/>
              </a:rPr>
              <a:t>0</a:t>
            </a:r>
            <a:endParaRPr sz="3851" kern="0">
              <a:solidFill>
                <a:sysClr val="windowText" lastClr="000000"/>
              </a:solidFill>
              <a:latin typeface="Book Antiqua"/>
              <a:cs typeface="Book Antiqua"/>
            </a:endParaRPr>
          </a:p>
        </p:txBody>
      </p:sp>
      <p:sp>
        <p:nvSpPr>
          <p:cNvPr id="59" name="object 23">
            <a:extLst>
              <a:ext uri="{FF2B5EF4-FFF2-40B4-BE49-F238E27FC236}">
                <a16:creationId xmlns:a16="http://schemas.microsoft.com/office/drawing/2014/main" id="{E2C558B9-7F87-D5D3-B14C-8F2ACCFEFCAD}"/>
              </a:ext>
            </a:extLst>
          </p:cNvPr>
          <p:cNvSpPr txBox="1">
            <a:spLocks/>
          </p:cNvSpPr>
          <p:nvPr/>
        </p:nvSpPr>
        <p:spPr>
          <a:xfrm>
            <a:off x="6351800" y="3586591"/>
            <a:ext cx="1733560" cy="493418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>
              <a:spcBef>
                <a:spcPts val="58"/>
              </a:spcBef>
            </a:pPr>
            <a:r>
              <a:rPr lang="en-US" sz="3851" i="1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r>
              <a:rPr lang="en-US" sz="3851" i="1" spc="9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851" spc="191">
                <a:solidFill>
                  <a:srgbClr val="000000"/>
                </a:solidFill>
                <a:latin typeface="Book Antiqua"/>
                <a:cs typeface="Book Antiqua"/>
              </a:rPr>
              <a:t>:=</a:t>
            </a:r>
            <a:r>
              <a:rPr lang="en-US" sz="3851" spc="97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lang="en-US" sz="3851" spc="-36">
                <a:solidFill>
                  <a:srgbClr val="000000"/>
                </a:solidFill>
                <a:latin typeface="Book Antiqua"/>
                <a:cs typeface="Book Antiqua"/>
              </a:rPr>
              <a:t>0</a:t>
            </a:r>
            <a:endParaRPr lang="en-US" sz="3851" dirty="0">
              <a:latin typeface="Book Antiqua"/>
              <a:cs typeface="Book Antiqua"/>
            </a:endParaRPr>
          </a:p>
        </p:txBody>
      </p:sp>
      <p:grpSp>
        <p:nvGrpSpPr>
          <p:cNvPr id="60" name="object 24">
            <a:extLst>
              <a:ext uri="{FF2B5EF4-FFF2-40B4-BE49-F238E27FC236}">
                <a16:creationId xmlns:a16="http://schemas.microsoft.com/office/drawing/2014/main" id="{ACAE8E5B-D7D5-BAFF-73CD-27AFC11B9241}"/>
              </a:ext>
            </a:extLst>
          </p:cNvPr>
          <p:cNvGrpSpPr/>
          <p:nvPr/>
        </p:nvGrpSpPr>
        <p:grpSpPr>
          <a:xfrm>
            <a:off x="6372150" y="4200717"/>
            <a:ext cx="175589" cy="806325"/>
            <a:chOff x="11126781" y="5551997"/>
            <a:chExt cx="289560" cy="1329690"/>
          </a:xfrm>
        </p:grpSpPr>
        <p:sp>
          <p:nvSpPr>
            <p:cNvPr id="61" name="object 25">
              <a:extLst>
                <a:ext uri="{FF2B5EF4-FFF2-40B4-BE49-F238E27FC236}">
                  <a16:creationId xmlns:a16="http://schemas.microsoft.com/office/drawing/2014/main" id="{C28AF2E9-E7D2-50F7-51A2-0F0965BA69A4}"/>
                </a:ext>
              </a:extLst>
            </p:cNvPr>
            <p:cNvSpPr/>
            <p:nvPr/>
          </p:nvSpPr>
          <p:spPr>
            <a:xfrm>
              <a:off x="11271279" y="5551997"/>
              <a:ext cx="0" cy="1077595"/>
            </a:xfrm>
            <a:custGeom>
              <a:avLst/>
              <a:gdLst/>
              <a:ahLst/>
              <a:cxnLst/>
              <a:rect l="l" t="t" r="r" b="b"/>
              <a:pathLst>
                <a:path h="1077595">
                  <a:moveTo>
                    <a:pt x="0" y="0"/>
                  </a:moveTo>
                  <a:lnTo>
                    <a:pt x="0" y="1040437"/>
                  </a:lnTo>
                  <a:lnTo>
                    <a:pt x="0" y="1077086"/>
                  </a:lnTo>
                </a:path>
              </a:pathLst>
            </a:custGeom>
            <a:ln w="7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2" name="object 26">
              <a:extLst>
                <a:ext uri="{FF2B5EF4-FFF2-40B4-BE49-F238E27FC236}">
                  <a16:creationId xmlns:a16="http://schemas.microsoft.com/office/drawing/2014/main" id="{F074866B-452B-D87A-4C4D-EDB409020ED9}"/>
                </a:ext>
              </a:extLst>
            </p:cNvPr>
            <p:cNvSpPr/>
            <p:nvPr/>
          </p:nvSpPr>
          <p:spPr>
            <a:xfrm>
              <a:off x="11126781" y="6592435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59">
                  <a:moveTo>
                    <a:pt x="288996" y="0"/>
                  </a:moveTo>
                  <a:lnTo>
                    <a:pt x="0" y="0"/>
                  </a:lnTo>
                  <a:lnTo>
                    <a:pt x="144498" y="288996"/>
                  </a:lnTo>
                  <a:lnTo>
                    <a:pt x="2889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3" name="object 27">
            <a:extLst>
              <a:ext uri="{FF2B5EF4-FFF2-40B4-BE49-F238E27FC236}">
                <a16:creationId xmlns:a16="http://schemas.microsoft.com/office/drawing/2014/main" id="{4437E8B9-2C64-C697-6C89-1D44BB0C952C}"/>
              </a:ext>
            </a:extLst>
          </p:cNvPr>
          <p:cNvSpPr txBox="1"/>
          <p:nvPr/>
        </p:nvSpPr>
        <p:spPr>
          <a:xfrm>
            <a:off x="4222387" y="5829905"/>
            <a:ext cx="189067" cy="428152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 defTabSz="554492">
              <a:spcBef>
                <a:spcPts val="64"/>
              </a:spcBef>
            </a:pPr>
            <a:r>
              <a:rPr sz="2729" kern="0" spc="-30" dirty="0">
                <a:solidFill>
                  <a:sysClr val="windowText" lastClr="000000"/>
                </a:solidFill>
                <a:latin typeface="Book Antiqua"/>
                <a:cs typeface="Book Antiqua"/>
              </a:rPr>
              <a:t>2</a:t>
            </a:r>
            <a:endParaRPr sz="2729" kern="0">
              <a:solidFill>
                <a:sysClr val="windowText" lastClr="000000"/>
              </a:solidFill>
              <a:latin typeface="Book Antiqua"/>
              <a:cs typeface="Book Antiqua"/>
            </a:endParaRPr>
          </a:p>
        </p:txBody>
      </p:sp>
      <p:sp>
        <p:nvSpPr>
          <p:cNvPr id="64" name="object 28">
            <a:extLst>
              <a:ext uri="{FF2B5EF4-FFF2-40B4-BE49-F238E27FC236}">
                <a16:creationId xmlns:a16="http://schemas.microsoft.com/office/drawing/2014/main" id="{752F8B6E-4728-E227-8137-C3EFF24703EE}"/>
              </a:ext>
            </a:extLst>
          </p:cNvPr>
          <p:cNvSpPr txBox="1"/>
          <p:nvPr/>
        </p:nvSpPr>
        <p:spPr>
          <a:xfrm>
            <a:off x="3913458" y="5565891"/>
            <a:ext cx="1485194" cy="59998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defTabSz="554492">
              <a:spcBef>
                <a:spcPts val="58"/>
              </a:spcBef>
              <a:tabLst>
                <a:tab pos="625729" algn="l"/>
              </a:tabLst>
            </a:pPr>
            <a:r>
              <a:rPr sz="3851" i="1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3851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3851" kern="0" spc="191" dirty="0">
                <a:solidFill>
                  <a:sysClr val="windowText" lastClr="000000"/>
                </a:solidFill>
                <a:latin typeface="Book Antiqua"/>
                <a:cs typeface="Book Antiqua"/>
              </a:rPr>
              <a:t>:=</a:t>
            </a:r>
            <a:r>
              <a:rPr sz="3851" kern="0" spc="109" dirty="0">
                <a:solidFill>
                  <a:sysClr val="windowText" lastClr="000000"/>
                </a:solidFill>
                <a:latin typeface="Book Antiqua"/>
                <a:cs typeface="Book Antiqua"/>
              </a:rPr>
              <a:t> </a:t>
            </a:r>
            <a:r>
              <a:rPr sz="3851" kern="0" spc="-30" dirty="0">
                <a:solidFill>
                  <a:sysClr val="windowText" lastClr="000000"/>
                </a:solidFill>
                <a:latin typeface="Book Antiqua"/>
                <a:cs typeface="Book Antiqua"/>
              </a:rPr>
              <a:t>0</a:t>
            </a:r>
            <a:endParaRPr sz="3851" kern="0">
              <a:solidFill>
                <a:sysClr val="windowText" lastClr="000000"/>
              </a:solidFill>
              <a:latin typeface="Book Antiqua"/>
              <a:cs typeface="Book Antiqua"/>
            </a:endParaRPr>
          </a:p>
        </p:txBody>
      </p:sp>
      <p:sp>
        <p:nvSpPr>
          <p:cNvPr id="65" name="object 29">
            <a:extLst>
              <a:ext uri="{FF2B5EF4-FFF2-40B4-BE49-F238E27FC236}">
                <a16:creationId xmlns:a16="http://schemas.microsoft.com/office/drawing/2014/main" id="{1A2C2E0D-62C9-405B-9540-3157E6AA473D}"/>
              </a:ext>
            </a:extLst>
          </p:cNvPr>
          <p:cNvSpPr txBox="1"/>
          <p:nvPr/>
        </p:nvSpPr>
        <p:spPr>
          <a:xfrm>
            <a:off x="5966178" y="5312657"/>
            <a:ext cx="1201045" cy="534736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254527" marR="3081" indent="-254912" defTabSz="554492">
              <a:lnSpc>
                <a:spcPts val="2049"/>
              </a:lnSpc>
              <a:spcBef>
                <a:spcPts val="170"/>
              </a:spcBef>
            </a:pPr>
            <a:r>
              <a:rPr sz="1600" kern="0" dirty="0">
                <a:solidFill>
                  <a:srgbClr val="FFFFFF"/>
                </a:solidFill>
                <a:latin typeface="Helvetica Neue"/>
                <a:cs typeface="Helvetica Neue"/>
              </a:rPr>
              <a:t>Weighted sum</a:t>
            </a:r>
            <a:endParaRPr sz="1600" kern="0" dirty="0">
              <a:solidFill>
                <a:sysClr val="windowText" lastClr="000000"/>
              </a:solidFill>
              <a:latin typeface="Helvetica Neue"/>
              <a:cs typeface="Helvetica Neue"/>
            </a:endParaRPr>
          </a:p>
        </p:txBody>
      </p:sp>
      <p:grpSp>
        <p:nvGrpSpPr>
          <p:cNvPr id="66" name="object 31">
            <a:extLst>
              <a:ext uri="{FF2B5EF4-FFF2-40B4-BE49-F238E27FC236}">
                <a16:creationId xmlns:a16="http://schemas.microsoft.com/office/drawing/2014/main" id="{1BE6A9AD-B4C6-C06A-22F1-3A42CE11462F}"/>
              </a:ext>
            </a:extLst>
          </p:cNvPr>
          <p:cNvGrpSpPr/>
          <p:nvPr/>
        </p:nvGrpSpPr>
        <p:grpSpPr>
          <a:xfrm>
            <a:off x="8434009" y="5517777"/>
            <a:ext cx="800549" cy="175589"/>
            <a:chOff x="14526939" y="7723926"/>
            <a:chExt cx="1320165" cy="289560"/>
          </a:xfrm>
        </p:grpSpPr>
        <p:sp>
          <p:nvSpPr>
            <p:cNvPr id="67" name="object 32">
              <a:extLst>
                <a:ext uri="{FF2B5EF4-FFF2-40B4-BE49-F238E27FC236}">
                  <a16:creationId xmlns:a16="http://schemas.microsoft.com/office/drawing/2014/main" id="{106AC5D6-A046-39E2-2D12-C6924B222711}"/>
                </a:ext>
              </a:extLst>
            </p:cNvPr>
            <p:cNvSpPr/>
            <p:nvPr/>
          </p:nvSpPr>
          <p:spPr>
            <a:xfrm>
              <a:off x="14526939" y="7868424"/>
              <a:ext cx="1068070" cy="0"/>
            </a:xfrm>
            <a:custGeom>
              <a:avLst/>
              <a:gdLst/>
              <a:ahLst/>
              <a:cxnLst/>
              <a:rect l="l" t="t" r="r" b="b"/>
              <a:pathLst>
                <a:path w="1068069">
                  <a:moveTo>
                    <a:pt x="0" y="0"/>
                  </a:moveTo>
                  <a:lnTo>
                    <a:pt x="1031112" y="0"/>
                  </a:lnTo>
                  <a:lnTo>
                    <a:pt x="1067760" y="0"/>
                  </a:lnTo>
                </a:path>
              </a:pathLst>
            </a:custGeom>
            <a:ln w="7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8" name="object 33">
              <a:extLst>
                <a:ext uri="{FF2B5EF4-FFF2-40B4-BE49-F238E27FC236}">
                  <a16:creationId xmlns:a16="http://schemas.microsoft.com/office/drawing/2014/main" id="{9BA50B91-F2D2-322E-F20D-65C6D5413BF3}"/>
                </a:ext>
              </a:extLst>
            </p:cNvPr>
            <p:cNvSpPr/>
            <p:nvPr/>
          </p:nvSpPr>
          <p:spPr>
            <a:xfrm>
              <a:off x="15558049" y="7723926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59">
                  <a:moveTo>
                    <a:pt x="0" y="0"/>
                  </a:moveTo>
                  <a:lnTo>
                    <a:pt x="0" y="288996"/>
                  </a:lnTo>
                  <a:lnTo>
                    <a:pt x="288996" y="14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9" name="object 23">
            <a:extLst>
              <a:ext uri="{FF2B5EF4-FFF2-40B4-BE49-F238E27FC236}">
                <a16:creationId xmlns:a16="http://schemas.microsoft.com/office/drawing/2014/main" id="{E790CC76-DC90-876F-9FD9-C9289F0C4840}"/>
              </a:ext>
            </a:extLst>
          </p:cNvPr>
          <p:cNvSpPr txBox="1">
            <a:spLocks/>
          </p:cNvSpPr>
          <p:nvPr/>
        </p:nvSpPr>
        <p:spPr>
          <a:xfrm>
            <a:off x="9530432" y="5381124"/>
            <a:ext cx="1733560" cy="493418"/>
          </a:xfrm>
          <a:prstGeom prst="rect">
            <a:avLst/>
          </a:prstGeom>
        </p:spPr>
        <p:txBody>
          <a:bodyPr vert="horz" wrap="square" lIns="0" tIns="7316" rIns="0" bIns="0" rtlCol="0" anchor="ctr">
            <a:sp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>
              <a:spcBef>
                <a:spcPts val="58"/>
              </a:spcBef>
            </a:pPr>
            <a:r>
              <a:rPr lang="en-US" sz="3851" i="1" dirty="0">
                <a:solidFill>
                  <a:srgbClr val="000000"/>
                </a:solidFill>
                <a:latin typeface="Times New Roman"/>
                <a:cs typeface="Times New Roman"/>
              </a:rPr>
              <a:t>Z=y’</a:t>
            </a:r>
            <a:endParaRPr lang="en-US" sz="3851" dirty="0">
              <a:latin typeface="Book Antiqua"/>
              <a:cs typeface="Book Antiqua"/>
            </a:endParaRPr>
          </a:p>
        </p:txBody>
      </p:sp>
      <p:sp>
        <p:nvSpPr>
          <p:cNvPr id="70" name="object 3">
            <a:extLst>
              <a:ext uri="{FF2B5EF4-FFF2-40B4-BE49-F238E27FC236}">
                <a16:creationId xmlns:a16="http://schemas.microsoft.com/office/drawing/2014/main" id="{BE624138-853F-0374-5BEB-5854E8F626EB}"/>
              </a:ext>
            </a:extLst>
          </p:cNvPr>
          <p:cNvSpPr txBox="1"/>
          <p:nvPr/>
        </p:nvSpPr>
        <p:spPr>
          <a:xfrm>
            <a:off x="8716968" y="4513667"/>
            <a:ext cx="2525253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 defTabSz="554492">
              <a:spcBef>
                <a:spcPts val="73"/>
              </a:spcBef>
            </a:pPr>
            <a:r>
              <a:rPr lang="en-US" sz="2486" kern="0" spc="-45" dirty="0">
                <a:solidFill>
                  <a:sysClr val="windowText" lastClr="000000"/>
                </a:solidFill>
                <a:latin typeface="Tahoma"/>
                <a:cs typeface="Tahoma"/>
              </a:rPr>
              <a:t>Make Prediction</a:t>
            </a:r>
            <a:endParaRPr sz="2486" kern="0" dirty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50548FC5-BFFD-3FE1-BE87-71FFE4292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012" y="893016"/>
            <a:ext cx="4220980" cy="253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085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97265C-5C58-E3AB-D96E-547C3AF67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123402-B935-29D3-3504-0F1CF3F75462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2ECD57-9849-28EE-2AEF-3EFE6208B550}"/>
              </a:ext>
            </a:extLst>
          </p:cNvPr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248A043-D791-D076-7782-83A89686A2BC}"/>
              </a:ext>
            </a:extLst>
          </p:cNvPr>
          <p:cNvSpPr/>
          <p:nvPr/>
        </p:nvSpPr>
        <p:spPr>
          <a:xfrm>
            <a:off x="502920" y="62179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regression: a first interpretable model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91C7125-7CE6-B639-15C5-5EF3613DEB23}"/>
              </a:ext>
            </a:extLst>
          </p:cNvPr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574884B-C5D0-5B65-79EE-1BF37B9BD59B}"/>
              </a:ext>
            </a:extLst>
          </p:cNvPr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8</a:t>
            </a:r>
            <a:endParaRPr lang="en-US" sz="800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E9AD329F-666B-78A1-D72D-D22A46FA01C0}"/>
              </a:ext>
            </a:extLst>
          </p:cNvPr>
          <p:cNvSpPr/>
          <p:nvPr/>
        </p:nvSpPr>
        <p:spPr>
          <a:xfrm>
            <a:off x="7549893" y="2819230"/>
            <a:ext cx="703128" cy="679639"/>
          </a:xfrm>
          <a:custGeom>
            <a:avLst/>
            <a:gdLst/>
            <a:ahLst/>
            <a:cxnLst/>
            <a:rect l="l" t="t" r="r" b="b"/>
            <a:pathLst>
              <a:path w="1159509" h="1120775">
                <a:moveTo>
                  <a:pt x="914024" y="0"/>
                </a:moveTo>
                <a:lnTo>
                  <a:pt x="245479" y="0"/>
                </a:lnTo>
                <a:lnTo>
                  <a:pt x="196627" y="187"/>
                </a:lnTo>
                <a:lnTo>
                  <a:pt x="157230" y="1503"/>
                </a:lnTo>
                <a:lnTo>
                  <a:pt x="101400" y="12030"/>
                </a:lnTo>
                <a:lnTo>
                  <a:pt x="46803" y="46812"/>
                </a:lnTo>
                <a:lnTo>
                  <a:pt x="12020" y="101408"/>
                </a:lnTo>
                <a:lnTo>
                  <a:pt x="1502" y="157236"/>
                </a:lnTo>
                <a:lnTo>
                  <a:pt x="187" y="196631"/>
                </a:lnTo>
                <a:lnTo>
                  <a:pt x="0" y="245481"/>
                </a:lnTo>
                <a:lnTo>
                  <a:pt x="0" y="874695"/>
                </a:lnTo>
                <a:lnTo>
                  <a:pt x="187" y="923545"/>
                </a:lnTo>
                <a:lnTo>
                  <a:pt x="1502" y="962940"/>
                </a:lnTo>
                <a:lnTo>
                  <a:pt x="12020" y="1018768"/>
                </a:lnTo>
                <a:lnTo>
                  <a:pt x="46803" y="1073365"/>
                </a:lnTo>
                <a:lnTo>
                  <a:pt x="101400" y="1108147"/>
                </a:lnTo>
                <a:lnTo>
                  <a:pt x="157230" y="1118673"/>
                </a:lnTo>
                <a:lnTo>
                  <a:pt x="196627" y="1119989"/>
                </a:lnTo>
                <a:lnTo>
                  <a:pt x="245479" y="1120177"/>
                </a:lnTo>
                <a:lnTo>
                  <a:pt x="914024" y="1120177"/>
                </a:lnTo>
                <a:lnTo>
                  <a:pt x="962870" y="1119989"/>
                </a:lnTo>
                <a:lnTo>
                  <a:pt x="1002263" y="1118673"/>
                </a:lnTo>
                <a:lnTo>
                  <a:pt x="1058093" y="1108147"/>
                </a:lnTo>
                <a:lnTo>
                  <a:pt x="1112689" y="1073365"/>
                </a:lnTo>
                <a:lnTo>
                  <a:pt x="1147472" y="1018768"/>
                </a:lnTo>
                <a:lnTo>
                  <a:pt x="1158000" y="962940"/>
                </a:lnTo>
                <a:lnTo>
                  <a:pt x="1159315" y="923545"/>
                </a:lnTo>
                <a:lnTo>
                  <a:pt x="1159503" y="874695"/>
                </a:lnTo>
                <a:lnTo>
                  <a:pt x="1159503" y="245481"/>
                </a:lnTo>
                <a:lnTo>
                  <a:pt x="1159315" y="196631"/>
                </a:lnTo>
                <a:lnTo>
                  <a:pt x="1158000" y="157236"/>
                </a:lnTo>
                <a:lnTo>
                  <a:pt x="1147472" y="101408"/>
                </a:lnTo>
                <a:lnTo>
                  <a:pt x="1112689" y="46812"/>
                </a:lnTo>
                <a:lnTo>
                  <a:pt x="1058093" y="12030"/>
                </a:lnTo>
                <a:lnTo>
                  <a:pt x="1002263" y="1503"/>
                </a:lnTo>
                <a:lnTo>
                  <a:pt x="962870" y="187"/>
                </a:lnTo>
                <a:lnTo>
                  <a:pt x="914024" y="0"/>
                </a:lnTo>
                <a:close/>
              </a:path>
            </a:pathLst>
          </a:custGeom>
          <a:solidFill>
            <a:srgbClr val="FF95CA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87F2814-3AAA-B0F2-E2DF-3EE6FED31D5A}"/>
              </a:ext>
            </a:extLst>
          </p:cNvPr>
          <p:cNvSpPr txBox="1"/>
          <p:nvPr/>
        </p:nvSpPr>
        <p:spPr>
          <a:xfrm>
            <a:off x="7793482" y="2833944"/>
            <a:ext cx="259919" cy="59998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defTabSz="554492">
              <a:spcBef>
                <a:spcPts val="58"/>
              </a:spcBef>
            </a:pPr>
            <a:r>
              <a:rPr sz="3851" i="1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b</a:t>
            </a:r>
            <a:endParaRPr sz="3851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951B2468-67D2-D54F-A674-255632B2BC98}"/>
              </a:ext>
            </a:extLst>
          </p:cNvPr>
          <p:cNvSpPr txBox="1"/>
          <p:nvPr/>
        </p:nvSpPr>
        <p:spPr>
          <a:xfrm>
            <a:off x="799106" y="1568704"/>
            <a:ext cx="9620380" cy="615195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 defTabSz="554492">
              <a:spcBef>
                <a:spcPts val="67"/>
              </a:spcBef>
            </a:pPr>
            <a:r>
              <a:rPr sz="3942" b="1" kern="0" dirty="0">
                <a:solidFill>
                  <a:sysClr val="windowText" lastClr="000000"/>
                </a:solidFill>
                <a:latin typeface="Tahoma"/>
                <a:cs typeface="Tahoma"/>
              </a:rPr>
              <a:t>Model parameters to compute value</a:t>
            </a:r>
            <a:endParaRPr sz="3942" kern="0" dirty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22BAC7DE-FE86-84F1-FB60-3AC8A93BE586}"/>
              </a:ext>
            </a:extLst>
          </p:cNvPr>
          <p:cNvSpPr/>
          <p:nvPr/>
        </p:nvSpPr>
        <p:spPr>
          <a:xfrm>
            <a:off x="1529972" y="2778007"/>
            <a:ext cx="800549" cy="762043"/>
          </a:xfrm>
          <a:custGeom>
            <a:avLst/>
            <a:gdLst/>
            <a:ahLst/>
            <a:cxnLst/>
            <a:rect l="l" t="t" r="r" b="b"/>
            <a:pathLst>
              <a:path w="1320164" h="1256664">
                <a:moveTo>
                  <a:pt x="1126783" y="183957"/>
                </a:moveTo>
                <a:lnTo>
                  <a:pt x="1160335" y="218319"/>
                </a:lnTo>
                <a:lnTo>
                  <a:pt x="1190692" y="254400"/>
                </a:lnTo>
                <a:lnTo>
                  <a:pt x="1217854" y="292026"/>
                </a:lnTo>
                <a:lnTo>
                  <a:pt x="1241820" y="331025"/>
                </a:lnTo>
                <a:lnTo>
                  <a:pt x="1262590" y="371227"/>
                </a:lnTo>
                <a:lnTo>
                  <a:pt x="1280165" y="412460"/>
                </a:lnTo>
                <a:lnTo>
                  <a:pt x="1294545" y="454551"/>
                </a:lnTo>
                <a:lnTo>
                  <a:pt x="1305729" y="497329"/>
                </a:lnTo>
                <a:lnTo>
                  <a:pt x="1313717" y="540623"/>
                </a:lnTo>
                <a:lnTo>
                  <a:pt x="1318511" y="584260"/>
                </a:lnTo>
                <a:lnTo>
                  <a:pt x="1320108" y="628069"/>
                </a:lnTo>
                <a:lnTo>
                  <a:pt x="1318511" y="671877"/>
                </a:lnTo>
                <a:lnTo>
                  <a:pt x="1313717" y="715514"/>
                </a:lnTo>
                <a:lnTo>
                  <a:pt x="1305729" y="758808"/>
                </a:lnTo>
                <a:lnTo>
                  <a:pt x="1294545" y="801586"/>
                </a:lnTo>
                <a:lnTo>
                  <a:pt x="1280165" y="843677"/>
                </a:lnTo>
                <a:lnTo>
                  <a:pt x="1262590" y="884910"/>
                </a:lnTo>
                <a:lnTo>
                  <a:pt x="1241820" y="925112"/>
                </a:lnTo>
                <a:lnTo>
                  <a:pt x="1217854" y="964112"/>
                </a:lnTo>
                <a:lnTo>
                  <a:pt x="1190692" y="1001738"/>
                </a:lnTo>
                <a:lnTo>
                  <a:pt x="1160335" y="1037818"/>
                </a:lnTo>
                <a:lnTo>
                  <a:pt x="1126783" y="1072180"/>
                </a:lnTo>
                <a:lnTo>
                  <a:pt x="1090670" y="1104107"/>
                </a:lnTo>
                <a:lnTo>
                  <a:pt x="1052753" y="1132993"/>
                </a:lnTo>
                <a:lnTo>
                  <a:pt x="1013211" y="1158838"/>
                </a:lnTo>
                <a:lnTo>
                  <a:pt x="972225" y="1181643"/>
                </a:lnTo>
                <a:lnTo>
                  <a:pt x="929975" y="1201407"/>
                </a:lnTo>
                <a:lnTo>
                  <a:pt x="886643" y="1218130"/>
                </a:lnTo>
                <a:lnTo>
                  <a:pt x="842408" y="1231813"/>
                </a:lnTo>
                <a:lnTo>
                  <a:pt x="797451" y="1242455"/>
                </a:lnTo>
                <a:lnTo>
                  <a:pt x="751953" y="1250056"/>
                </a:lnTo>
                <a:lnTo>
                  <a:pt x="706094" y="1254617"/>
                </a:lnTo>
                <a:lnTo>
                  <a:pt x="660054" y="1256138"/>
                </a:lnTo>
                <a:lnTo>
                  <a:pt x="614014" y="1254617"/>
                </a:lnTo>
                <a:lnTo>
                  <a:pt x="568155" y="1250056"/>
                </a:lnTo>
                <a:lnTo>
                  <a:pt x="522657" y="1242455"/>
                </a:lnTo>
                <a:lnTo>
                  <a:pt x="477700" y="1231813"/>
                </a:lnTo>
                <a:lnTo>
                  <a:pt x="433465" y="1218130"/>
                </a:lnTo>
                <a:lnTo>
                  <a:pt x="390133" y="1201407"/>
                </a:lnTo>
                <a:lnTo>
                  <a:pt x="347883" y="1181643"/>
                </a:lnTo>
                <a:lnTo>
                  <a:pt x="306897" y="1158838"/>
                </a:lnTo>
                <a:lnTo>
                  <a:pt x="267355" y="1132993"/>
                </a:lnTo>
                <a:lnTo>
                  <a:pt x="229438" y="1104107"/>
                </a:lnTo>
                <a:lnTo>
                  <a:pt x="193325" y="1072180"/>
                </a:lnTo>
                <a:lnTo>
                  <a:pt x="159773" y="1037818"/>
                </a:lnTo>
                <a:lnTo>
                  <a:pt x="129416" y="1001738"/>
                </a:lnTo>
                <a:lnTo>
                  <a:pt x="102254" y="964112"/>
                </a:lnTo>
                <a:lnTo>
                  <a:pt x="78288" y="925112"/>
                </a:lnTo>
                <a:lnTo>
                  <a:pt x="57518" y="884910"/>
                </a:lnTo>
                <a:lnTo>
                  <a:pt x="39943" y="843677"/>
                </a:lnTo>
                <a:lnTo>
                  <a:pt x="25563" y="801586"/>
                </a:lnTo>
                <a:lnTo>
                  <a:pt x="14379" y="758808"/>
                </a:lnTo>
                <a:lnTo>
                  <a:pt x="6390" y="715514"/>
                </a:lnTo>
                <a:lnTo>
                  <a:pt x="1597" y="671877"/>
                </a:lnTo>
                <a:lnTo>
                  <a:pt x="0" y="628069"/>
                </a:lnTo>
                <a:lnTo>
                  <a:pt x="1597" y="584260"/>
                </a:lnTo>
                <a:lnTo>
                  <a:pt x="6390" y="540623"/>
                </a:lnTo>
                <a:lnTo>
                  <a:pt x="14379" y="497329"/>
                </a:lnTo>
                <a:lnTo>
                  <a:pt x="25563" y="454551"/>
                </a:lnTo>
                <a:lnTo>
                  <a:pt x="39943" y="412460"/>
                </a:lnTo>
                <a:lnTo>
                  <a:pt x="57518" y="371227"/>
                </a:lnTo>
                <a:lnTo>
                  <a:pt x="78288" y="331025"/>
                </a:lnTo>
                <a:lnTo>
                  <a:pt x="102254" y="292026"/>
                </a:lnTo>
                <a:lnTo>
                  <a:pt x="129416" y="254400"/>
                </a:lnTo>
                <a:lnTo>
                  <a:pt x="159773" y="218319"/>
                </a:lnTo>
                <a:lnTo>
                  <a:pt x="193325" y="183957"/>
                </a:lnTo>
                <a:lnTo>
                  <a:pt x="229438" y="152030"/>
                </a:lnTo>
                <a:lnTo>
                  <a:pt x="267355" y="123144"/>
                </a:lnTo>
                <a:lnTo>
                  <a:pt x="306897" y="97299"/>
                </a:lnTo>
                <a:lnTo>
                  <a:pt x="347883" y="74495"/>
                </a:lnTo>
                <a:lnTo>
                  <a:pt x="390133" y="54731"/>
                </a:lnTo>
                <a:lnTo>
                  <a:pt x="433465" y="38007"/>
                </a:lnTo>
                <a:lnTo>
                  <a:pt x="477700" y="24324"/>
                </a:lnTo>
                <a:lnTo>
                  <a:pt x="522657" y="13682"/>
                </a:lnTo>
                <a:lnTo>
                  <a:pt x="568155" y="6081"/>
                </a:lnTo>
                <a:lnTo>
                  <a:pt x="614014" y="1520"/>
                </a:lnTo>
                <a:lnTo>
                  <a:pt x="660054" y="0"/>
                </a:lnTo>
                <a:lnTo>
                  <a:pt x="706094" y="1520"/>
                </a:lnTo>
                <a:lnTo>
                  <a:pt x="751953" y="6081"/>
                </a:lnTo>
                <a:lnTo>
                  <a:pt x="797451" y="13682"/>
                </a:lnTo>
                <a:lnTo>
                  <a:pt x="842408" y="24324"/>
                </a:lnTo>
                <a:lnTo>
                  <a:pt x="886643" y="38007"/>
                </a:lnTo>
                <a:lnTo>
                  <a:pt x="929975" y="54731"/>
                </a:lnTo>
                <a:lnTo>
                  <a:pt x="972225" y="74495"/>
                </a:lnTo>
                <a:lnTo>
                  <a:pt x="1013211" y="97299"/>
                </a:lnTo>
                <a:lnTo>
                  <a:pt x="1052753" y="123144"/>
                </a:lnTo>
                <a:lnTo>
                  <a:pt x="1090670" y="152030"/>
                </a:lnTo>
                <a:lnTo>
                  <a:pt x="1126783" y="183957"/>
                </a:lnTo>
                <a:close/>
              </a:path>
            </a:pathLst>
          </a:custGeom>
          <a:ln w="732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0001D35A-A5B2-59E1-CB05-4C408BBAE83C}"/>
              </a:ext>
            </a:extLst>
          </p:cNvPr>
          <p:cNvSpPr txBox="1"/>
          <p:nvPr/>
        </p:nvSpPr>
        <p:spPr>
          <a:xfrm>
            <a:off x="1745391" y="2714527"/>
            <a:ext cx="419720" cy="59998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23104" defTabSz="554492">
              <a:spcBef>
                <a:spcPts val="58"/>
              </a:spcBef>
            </a:pPr>
            <a:r>
              <a:rPr sz="3851" i="1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x</a:t>
            </a:r>
            <a:r>
              <a:rPr sz="4093" kern="0" spc="-22" baseline="-19753" dirty="0">
                <a:solidFill>
                  <a:sysClr val="windowText" lastClr="000000"/>
                </a:solidFill>
                <a:latin typeface="Garamond"/>
                <a:cs typeface="Garamond"/>
              </a:rPr>
              <a:t>1</a:t>
            </a:r>
            <a:endParaRPr sz="4093" kern="0" baseline="-19753">
              <a:solidFill>
                <a:sysClr val="windowText" lastClr="000000"/>
              </a:solidFill>
              <a:latin typeface="Garamond"/>
              <a:cs typeface="Garamond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0B866781-B888-6435-BF3D-E69FDAC308CC}"/>
              </a:ext>
            </a:extLst>
          </p:cNvPr>
          <p:cNvSpPr/>
          <p:nvPr/>
        </p:nvSpPr>
        <p:spPr>
          <a:xfrm>
            <a:off x="2915056" y="2824814"/>
            <a:ext cx="703128" cy="679639"/>
          </a:xfrm>
          <a:custGeom>
            <a:avLst/>
            <a:gdLst/>
            <a:ahLst/>
            <a:cxnLst/>
            <a:rect l="l" t="t" r="r" b="b"/>
            <a:pathLst>
              <a:path w="1159510" h="1120775">
                <a:moveTo>
                  <a:pt x="914024" y="0"/>
                </a:moveTo>
                <a:lnTo>
                  <a:pt x="245481" y="0"/>
                </a:lnTo>
                <a:lnTo>
                  <a:pt x="196631" y="187"/>
                </a:lnTo>
                <a:lnTo>
                  <a:pt x="157236" y="1503"/>
                </a:lnTo>
                <a:lnTo>
                  <a:pt x="101408" y="12030"/>
                </a:lnTo>
                <a:lnTo>
                  <a:pt x="46812" y="46812"/>
                </a:lnTo>
                <a:lnTo>
                  <a:pt x="12030" y="101409"/>
                </a:lnTo>
                <a:lnTo>
                  <a:pt x="1503" y="157236"/>
                </a:lnTo>
                <a:lnTo>
                  <a:pt x="187" y="196631"/>
                </a:lnTo>
                <a:lnTo>
                  <a:pt x="0" y="245481"/>
                </a:lnTo>
                <a:lnTo>
                  <a:pt x="0" y="874696"/>
                </a:lnTo>
                <a:lnTo>
                  <a:pt x="187" y="923546"/>
                </a:lnTo>
                <a:lnTo>
                  <a:pt x="1503" y="962940"/>
                </a:lnTo>
                <a:lnTo>
                  <a:pt x="12030" y="1018768"/>
                </a:lnTo>
                <a:lnTo>
                  <a:pt x="46812" y="1073366"/>
                </a:lnTo>
                <a:lnTo>
                  <a:pt x="101408" y="1108148"/>
                </a:lnTo>
                <a:lnTo>
                  <a:pt x="157236" y="1118673"/>
                </a:lnTo>
                <a:lnTo>
                  <a:pt x="196631" y="1119989"/>
                </a:lnTo>
                <a:lnTo>
                  <a:pt x="245481" y="1120177"/>
                </a:lnTo>
                <a:lnTo>
                  <a:pt x="914024" y="1120177"/>
                </a:lnTo>
                <a:lnTo>
                  <a:pt x="962873" y="1119989"/>
                </a:lnTo>
                <a:lnTo>
                  <a:pt x="1002268" y="1118673"/>
                </a:lnTo>
                <a:lnTo>
                  <a:pt x="1058096" y="1108148"/>
                </a:lnTo>
                <a:lnTo>
                  <a:pt x="1112693" y="1073366"/>
                </a:lnTo>
                <a:lnTo>
                  <a:pt x="1147476" y="1018768"/>
                </a:lnTo>
                <a:lnTo>
                  <a:pt x="1158001" y="962940"/>
                </a:lnTo>
                <a:lnTo>
                  <a:pt x="1159317" y="923546"/>
                </a:lnTo>
                <a:lnTo>
                  <a:pt x="1159505" y="874696"/>
                </a:lnTo>
                <a:lnTo>
                  <a:pt x="1159505" y="245481"/>
                </a:lnTo>
                <a:lnTo>
                  <a:pt x="1159317" y="196631"/>
                </a:lnTo>
                <a:lnTo>
                  <a:pt x="1158001" y="157236"/>
                </a:lnTo>
                <a:lnTo>
                  <a:pt x="1147476" y="101409"/>
                </a:lnTo>
                <a:lnTo>
                  <a:pt x="1112693" y="46812"/>
                </a:lnTo>
                <a:lnTo>
                  <a:pt x="1058096" y="12030"/>
                </a:lnTo>
                <a:lnTo>
                  <a:pt x="1002268" y="1503"/>
                </a:lnTo>
                <a:lnTo>
                  <a:pt x="962873" y="187"/>
                </a:lnTo>
                <a:lnTo>
                  <a:pt x="914024" y="0"/>
                </a:lnTo>
                <a:close/>
              </a:path>
            </a:pathLst>
          </a:custGeom>
          <a:solidFill>
            <a:srgbClr val="FF95CA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00B48EC2-91A1-6D82-0725-ADF75A2D98FF}"/>
              </a:ext>
            </a:extLst>
          </p:cNvPr>
          <p:cNvSpPr/>
          <p:nvPr/>
        </p:nvSpPr>
        <p:spPr>
          <a:xfrm>
            <a:off x="4616527" y="2778007"/>
            <a:ext cx="800549" cy="762043"/>
          </a:xfrm>
          <a:custGeom>
            <a:avLst/>
            <a:gdLst/>
            <a:ahLst/>
            <a:cxnLst/>
            <a:rect l="l" t="t" r="r" b="b"/>
            <a:pathLst>
              <a:path w="1320165" h="1256664">
                <a:moveTo>
                  <a:pt x="1126783" y="183957"/>
                </a:moveTo>
                <a:lnTo>
                  <a:pt x="1160335" y="218319"/>
                </a:lnTo>
                <a:lnTo>
                  <a:pt x="1190692" y="254400"/>
                </a:lnTo>
                <a:lnTo>
                  <a:pt x="1217854" y="292026"/>
                </a:lnTo>
                <a:lnTo>
                  <a:pt x="1241820" y="331025"/>
                </a:lnTo>
                <a:lnTo>
                  <a:pt x="1262590" y="371227"/>
                </a:lnTo>
                <a:lnTo>
                  <a:pt x="1280165" y="412460"/>
                </a:lnTo>
                <a:lnTo>
                  <a:pt x="1294545" y="454551"/>
                </a:lnTo>
                <a:lnTo>
                  <a:pt x="1305729" y="497329"/>
                </a:lnTo>
                <a:lnTo>
                  <a:pt x="1313717" y="540623"/>
                </a:lnTo>
                <a:lnTo>
                  <a:pt x="1318511" y="584260"/>
                </a:lnTo>
                <a:lnTo>
                  <a:pt x="1320108" y="628069"/>
                </a:lnTo>
                <a:lnTo>
                  <a:pt x="1318511" y="671877"/>
                </a:lnTo>
                <a:lnTo>
                  <a:pt x="1313717" y="715514"/>
                </a:lnTo>
                <a:lnTo>
                  <a:pt x="1305729" y="758808"/>
                </a:lnTo>
                <a:lnTo>
                  <a:pt x="1294545" y="801586"/>
                </a:lnTo>
                <a:lnTo>
                  <a:pt x="1280165" y="843677"/>
                </a:lnTo>
                <a:lnTo>
                  <a:pt x="1262590" y="884910"/>
                </a:lnTo>
                <a:lnTo>
                  <a:pt x="1241820" y="925112"/>
                </a:lnTo>
                <a:lnTo>
                  <a:pt x="1217854" y="964112"/>
                </a:lnTo>
                <a:lnTo>
                  <a:pt x="1190692" y="1001738"/>
                </a:lnTo>
                <a:lnTo>
                  <a:pt x="1160335" y="1037818"/>
                </a:lnTo>
                <a:lnTo>
                  <a:pt x="1126783" y="1072180"/>
                </a:lnTo>
                <a:lnTo>
                  <a:pt x="1090670" y="1104107"/>
                </a:lnTo>
                <a:lnTo>
                  <a:pt x="1052753" y="1132993"/>
                </a:lnTo>
                <a:lnTo>
                  <a:pt x="1013211" y="1158838"/>
                </a:lnTo>
                <a:lnTo>
                  <a:pt x="972225" y="1181643"/>
                </a:lnTo>
                <a:lnTo>
                  <a:pt x="929975" y="1201407"/>
                </a:lnTo>
                <a:lnTo>
                  <a:pt x="886643" y="1218130"/>
                </a:lnTo>
                <a:lnTo>
                  <a:pt x="842408" y="1231813"/>
                </a:lnTo>
                <a:lnTo>
                  <a:pt x="797451" y="1242455"/>
                </a:lnTo>
                <a:lnTo>
                  <a:pt x="751953" y="1250056"/>
                </a:lnTo>
                <a:lnTo>
                  <a:pt x="706094" y="1254617"/>
                </a:lnTo>
                <a:lnTo>
                  <a:pt x="660054" y="1256138"/>
                </a:lnTo>
                <a:lnTo>
                  <a:pt x="614014" y="1254617"/>
                </a:lnTo>
                <a:lnTo>
                  <a:pt x="568155" y="1250056"/>
                </a:lnTo>
                <a:lnTo>
                  <a:pt x="522657" y="1242455"/>
                </a:lnTo>
                <a:lnTo>
                  <a:pt x="477700" y="1231813"/>
                </a:lnTo>
                <a:lnTo>
                  <a:pt x="433465" y="1218130"/>
                </a:lnTo>
                <a:lnTo>
                  <a:pt x="390133" y="1201407"/>
                </a:lnTo>
                <a:lnTo>
                  <a:pt x="347883" y="1181643"/>
                </a:lnTo>
                <a:lnTo>
                  <a:pt x="306897" y="1158838"/>
                </a:lnTo>
                <a:lnTo>
                  <a:pt x="267355" y="1132993"/>
                </a:lnTo>
                <a:lnTo>
                  <a:pt x="229438" y="1104107"/>
                </a:lnTo>
                <a:lnTo>
                  <a:pt x="193325" y="1072180"/>
                </a:lnTo>
                <a:lnTo>
                  <a:pt x="159773" y="1037818"/>
                </a:lnTo>
                <a:lnTo>
                  <a:pt x="129416" y="1001738"/>
                </a:lnTo>
                <a:lnTo>
                  <a:pt x="102254" y="964112"/>
                </a:lnTo>
                <a:lnTo>
                  <a:pt x="78288" y="925112"/>
                </a:lnTo>
                <a:lnTo>
                  <a:pt x="57518" y="884910"/>
                </a:lnTo>
                <a:lnTo>
                  <a:pt x="39943" y="843677"/>
                </a:lnTo>
                <a:lnTo>
                  <a:pt x="25563" y="801586"/>
                </a:lnTo>
                <a:lnTo>
                  <a:pt x="14379" y="758808"/>
                </a:lnTo>
                <a:lnTo>
                  <a:pt x="6390" y="715514"/>
                </a:lnTo>
                <a:lnTo>
                  <a:pt x="1597" y="671877"/>
                </a:lnTo>
                <a:lnTo>
                  <a:pt x="0" y="628069"/>
                </a:lnTo>
                <a:lnTo>
                  <a:pt x="1597" y="584260"/>
                </a:lnTo>
                <a:lnTo>
                  <a:pt x="6390" y="540623"/>
                </a:lnTo>
                <a:lnTo>
                  <a:pt x="14379" y="497329"/>
                </a:lnTo>
                <a:lnTo>
                  <a:pt x="25563" y="454551"/>
                </a:lnTo>
                <a:lnTo>
                  <a:pt x="39943" y="412460"/>
                </a:lnTo>
                <a:lnTo>
                  <a:pt x="57518" y="371227"/>
                </a:lnTo>
                <a:lnTo>
                  <a:pt x="78288" y="331025"/>
                </a:lnTo>
                <a:lnTo>
                  <a:pt x="102254" y="292026"/>
                </a:lnTo>
                <a:lnTo>
                  <a:pt x="129416" y="254400"/>
                </a:lnTo>
                <a:lnTo>
                  <a:pt x="159773" y="218319"/>
                </a:lnTo>
                <a:lnTo>
                  <a:pt x="193325" y="183957"/>
                </a:lnTo>
                <a:lnTo>
                  <a:pt x="229438" y="152030"/>
                </a:lnTo>
                <a:lnTo>
                  <a:pt x="267355" y="123144"/>
                </a:lnTo>
                <a:lnTo>
                  <a:pt x="306897" y="97299"/>
                </a:lnTo>
                <a:lnTo>
                  <a:pt x="347883" y="74495"/>
                </a:lnTo>
                <a:lnTo>
                  <a:pt x="390133" y="54731"/>
                </a:lnTo>
                <a:lnTo>
                  <a:pt x="433465" y="38007"/>
                </a:lnTo>
                <a:lnTo>
                  <a:pt x="477700" y="24324"/>
                </a:lnTo>
                <a:lnTo>
                  <a:pt x="522657" y="13682"/>
                </a:lnTo>
                <a:lnTo>
                  <a:pt x="568155" y="6081"/>
                </a:lnTo>
                <a:lnTo>
                  <a:pt x="614014" y="1520"/>
                </a:lnTo>
                <a:lnTo>
                  <a:pt x="660054" y="0"/>
                </a:lnTo>
                <a:lnTo>
                  <a:pt x="706094" y="1520"/>
                </a:lnTo>
                <a:lnTo>
                  <a:pt x="751953" y="6081"/>
                </a:lnTo>
                <a:lnTo>
                  <a:pt x="797451" y="13682"/>
                </a:lnTo>
                <a:lnTo>
                  <a:pt x="842408" y="24324"/>
                </a:lnTo>
                <a:lnTo>
                  <a:pt x="886643" y="38007"/>
                </a:lnTo>
                <a:lnTo>
                  <a:pt x="929975" y="54731"/>
                </a:lnTo>
                <a:lnTo>
                  <a:pt x="972225" y="74495"/>
                </a:lnTo>
                <a:lnTo>
                  <a:pt x="1013211" y="97299"/>
                </a:lnTo>
                <a:lnTo>
                  <a:pt x="1052753" y="123144"/>
                </a:lnTo>
                <a:lnTo>
                  <a:pt x="1090670" y="152030"/>
                </a:lnTo>
                <a:lnTo>
                  <a:pt x="1126783" y="183957"/>
                </a:lnTo>
                <a:close/>
              </a:path>
              <a:path w="1320165" h="1256664">
                <a:moveTo>
                  <a:pt x="1126783" y="183957"/>
                </a:moveTo>
                <a:lnTo>
                  <a:pt x="1160335" y="218319"/>
                </a:lnTo>
                <a:lnTo>
                  <a:pt x="1190692" y="254400"/>
                </a:lnTo>
                <a:lnTo>
                  <a:pt x="1217854" y="292026"/>
                </a:lnTo>
                <a:lnTo>
                  <a:pt x="1241820" y="331025"/>
                </a:lnTo>
                <a:lnTo>
                  <a:pt x="1262590" y="371227"/>
                </a:lnTo>
                <a:lnTo>
                  <a:pt x="1280165" y="412460"/>
                </a:lnTo>
                <a:lnTo>
                  <a:pt x="1294545" y="454551"/>
                </a:lnTo>
                <a:lnTo>
                  <a:pt x="1305729" y="497329"/>
                </a:lnTo>
                <a:lnTo>
                  <a:pt x="1313717" y="540623"/>
                </a:lnTo>
                <a:lnTo>
                  <a:pt x="1318511" y="584260"/>
                </a:lnTo>
                <a:lnTo>
                  <a:pt x="1320108" y="628069"/>
                </a:lnTo>
                <a:lnTo>
                  <a:pt x="1318511" y="671877"/>
                </a:lnTo>
                <a:lnTo>
                  <a:pt x="1313717" y="715514"/>
                </a:lnTo>
                <a:lnTo>
                  <a:pt x="1305729" y="758808"/>
                </a:lnTo>
                <a:lnTo>
                  <a:pt x="1294545" y="801586"/>
                </a:lnTo>
                <a:lnTo>
                  <a:pt x="1280165" y="843677"/>
                </a:lnTo>
                <a:lnTo>
                  <a:pt x="1262590" y="884910"/>
                </a:lnTo>
                <a:lnTo>
                  <a:pt x="1241820" y="925112"/>
                </a:lnTo>
                <a:lnTo>
                  <a:pt x="1217854" y="964112"/>
                </a:lnTo>
                <a:lnTo>
                  <a:pt x="1190692" y="1001738"/>
                </a:lnTo>
                <a:lnTo>
                  <a:pt x="1160335" y="1037818"/>
                </a:lnTo>
                <a:lnTo>
                  <a:pt x="1126783" y="1072180"/>
                </a:lnTo>
                <a:lnTo>
                  <a:pt x="1090670" y="1104107"/>
                </a:lnTo>
                <a:lnTo>
                  <a:pt x="1052753" y="1132993"/>
                </a:lnTo>
                <a:lnTo>
                  <a:pt x="1013211" y="1158838"/>
                </a:lnTo>
                <a:lnTo>
                  <a:pt x="972225" y="1181643"/>
                </a:lnTo>
                <a:lnTo>
                  <a:pt x="929975" y="1201407"/>
                </a:lnTo>
                <a:lnTo>
                  <a:pt x="886643" y="1218130"/>
                </a:lnTo>
                <a:lnTo>
                  <a:pt x="842408" y="1231813"/>
                </a:lnTo>
                <a:lnTo>
                  <a:pt x="797451" y="1242455"/>
                </a:lnTo>
                <a:lnTo>
                  <a:pt x="751953" y="1250056"/>
                </a:lnTo>
                <a:lnTo>
                  <a:pt x="706094" y="1254617"/>
                </a:lnTo>
                <a:lnTo>
                  <a:pt x="660054" y="1256138"/>
                </a:lnTo>
                <a:lnTo>
                  <a:pt x="614014" y="1254617"/>
                </a:lnTo>
                <a:lnTo>
                  <a:pt x="568155" y="1250056"/>
                </a:lnTo>
                <a:lnTo>
                  <a:pt x="522657" y="1242455"/>
                </a:lnTo>
                <a:lnTo>
                  <a:pt x="477700" y="1231813"/>
                </a:lnTo>
                <a:lnTo>
                  <a:pt x="433465" y="1218130"/>
                </a:lnTo>
                <a:lnTo>
                  <a:pt x="390133" y="1201407"/>
                </a:lnTo>
                <a:lnTo>
                  <a:pt x="347883" y="1181643"/>
                </a:lnTo>
                <a:lnTo>
                  <a:pt x="306897" y="1158838"/>
                </a:lnTo>
                <a:lnTo>
                  <a:pt x="267355" y="1132993"/>
                </a:lnTo>
                <a:lnTo>
                  <a:pt x="229438" y="1104107"/>
                </a:lnTo>
                <a:lnTo>
                  <a:pt x="193325" y="1072180"/>
                </a:lnTo>
                <a:lnTo>
                  <a:pt x="159773" y="1037818"/>
                </a:lnTo>
                <a:lnTo>
                  <a:pt x="129416" y="1001738"/>
                </a:lnTo>
                <a:lnTo>
                  <a:pt x="102254" y="964112"/>
                </a:lnTo>
                <a:lnTo>
                  <a:pt x="78288" y="925112"/>
                </a:lnTo>
                <a:lnTo>
                  <a:pt x="57518" y="884910"/>
                </a:lnTo>
                <a:lnTo>
                  <a:pt x="39943" y="843677"/>
                </a:lnTo>
                <a:lnTo>
                  <a:pt x="25563" y="801586"/>
                </a:lnTo>
                <a:lnTo>
                  <a:pt x="14379" y="758808"/>
                </a:lnTo>
                <a:lnTo>
                  <a:pt x="6390" y="715514"/>
                </a:lnTo>
                <a:lnTo>
                  <a:pt x="1597" y="671877"/>
                </a:lnTo>
                <a:lnTo>
                  <a:pt x="0" y="628069"/>
                </a:lnTo>
                <a:lnTo>
                  <a:pt x="1597" y="584260"/>
                </a:lnTo>
                <a:lnTo>
                  <a:pt x="6390" y="540623"/>
                </a:lnTo>
                <a:lnTo>
                  <a:pt x="14379" y="497329"/>
                </a:lnTo>
                <a:lnTo>
                  <a:pt x="25563" y="454551"/>
                </a:lnTo>
                <a:lnTo>
                  <a:pt x="39943" y="412460"/>
                </a:lnTo>
                <a:lnTo>
                  <a:pt x="57518" y="371227"/>
                </a:lnTo>
                <a:lnTo>
                  <a:pt x="78288" y="331025"/>
                </a:lnTo>
                <a:lnTo>
                  <a:pt x="102254" y="292026"/>
                </a:lnTo>
                <a:lnTo>
                  <a:pt x="129416" y="254400"/>
                </a:lnTo>
                <a:lnTo>
                  <a:pt x="159773" y="218319"/>
                </a:lnTo>
                <a:lnTo>
                  <a:pt x="193325" y="183957"/>
                </a:lnTo>
                <a:lnTo>
                  <a:pt x="229438" y="152030"/>
                </a:lnTo>
                <a:lnTo>
                  <a:pt x="267355" y="123144"/>
                </a:lnTo>
                <a:lnTo>
                  <a:pt x="306897" y="97299"/>
                </a:lnTo>
                <a:lnTo>
                  <a:pt x="347883" y="74495"/>
                </a:lnTo>
                <a:lnTo>
                  <a:pt x="390133" y="54731"/>
                </a:lnTo>
                <a:lnTo>
                  <a:pt x="433465" y="38007"/>
                </a:lnTo>
                <a:lnTo>
                  <a:pt x="477700" y="24324"/>
                </a:lnTo>
                <a:lnTo>
                  <a:pt x="522657" y="13682"/>
                </a:lnTo>
                <a:lnTo>
                  <a:pt x="568155" y="6081"/>
                </a:lnTo>
                <a:lnTo>
                  <a:pt x="614014" y="1520"/>
                </a:lnTo>
                <a:lnTo>
                  <a:pt x="660054" y="0"/>
                </a:lnTo>
                <a:lnTo>
                  <a:pt x="706094" y="1520"/>
                </a:lnTo>
                <a:lnTo>
                  <a:pt x="751953" y="6081"/>
                </a:lnTo>
                <a:lnTo>
                  <a:pt x="797451" y="13682"/>
                </a:lnTo>
                <a:lnTo>
                  <a:pt x="842408" y="24324"/>
                </a:lnTo>
                <a:lnTo>
                  <a:pt x="886643" y="38007"/>
                </a:lnTo>
                <a:lnTo>
                  <a:pt x="929975" y="54731"/>
                </a:lnTo>
                <a:lnTo>
                  <a:pt x="972225" y="74495"/>
                </a:lnTo>
                <a:lnTo>
                  <a:pt x="1013211" y="97299"/>
                </a:lnTo>
                <a:lnTo>
                  <a:pt x="1052753" y="123144"/>
                </a:lnTo>
                <a:lnTo>
                  <a:pt x="1090670" y="152030"/>
                </a:lnTo>
                <a:lnTo>
                  <a:pt x="1126783" y="183957"/>
                </a:lnTo>
                <a:close/>
              </a:path>
            </a:pathLst>
          </a:custGeom>
          <a:ln w="732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6BABDA86-9922-FB4A-1BD8-8A6987909EB2}"/>
              </a:ext>
            </a:extLst>
          </p:cNvPr>
          <p:cNvSpPr/>
          <p:nvPr/>
        </p:nvSpPr>
        <p:spPr>
          <a:xfrm>
            <a:off x="5920248" y="2847280"/>
            <a:ext cx="703128" cy="679639"/>
          </a:xfrm>
          <a:custGeom>
            <a:avLst/>
            <a:gdLst/>
            <a:ahLst/>
            <a:cxnLst/>
            <a:rect l="l" t="t" r="r" b="b"/>
            <a:pathLst>
              <a:path w="1159509" h="1120775">
                <a:moveTo>
                  <a:pt x="1159510" y="245478"/>
                </a:moveTo>
                <a:lnTo>
                  <a:pt x="1159319" y="196634"/>
                </a:lnTo>
                <a:lnTo>
                  <a:pt x="1158011" y="157238"/>
                </a:lnTo>
                <a:lnTo>
                  <a:pt x="1147483" y="101409"/>
                </a:lnTo>
                <a:lnTo>
                  <a:pt x="1112697" y="46812"/>
                </a:lnTo>
                <a:lnTo>
                  <a:pt x="1058100" y="12026"/>
                </a:lnTo>
                <a:lnTo>
                  <a:pt x="1002271" y="1498"/>
                </a:lnTo>
                <a:lnTo>
                  <a:pt x="962875" y="190"/>
                </a:lnTo>
                <a:lnTo>
                  <a:pt x="914031" y="0"/>
                </a:lnTo>
                <a:lnTo>
                  <a:pt x="245491" y="0"/>
                </a:lnTo>
                <a:lnTo>
                  <a:pt x="196634" y="190"/>
                </a:lnTo>
                <a:lnTo>
                  <a:pt x="157238" y="1498"/>
                </a:lnTo>
                <a:lnTo>
                  <a:pt x="101409" y="12026"/>
                </a:lnTo>
                <a:lnTo>
                  <a:pt x="46812" y="46812"/>
                </a:lnTo>
                <a:lnTo>
                  <a:pt x="12039" y="101409"/>
                </a:lnTo>
                <a:lnTo>
                  <a:pt x="1511" y="157238"/>
                </a:lnTo>
                <a:lnTo>
                  <a:pt x="190" y="196634"/>
                </a:lnTo>
                <a:lnTo>
                  <a:pt x="0" y="245478"/>
                </a:lnTo>
                <a:lnTo>
                  <a:pt x="0" y="874699"/>
                </a:lnTo>
                <a:lnTo>
                  <a:pt x="190" y="923544"/>
                </a:lnTo>
                <a:lnTo>
                  <a:pt x="1511" y="962939"/>
                </a:lnTo>
                <a:lnTo>
                  <a:pt x="12039" y="1018768"/>
                </a:lnTo>
                <a:lnTo>
                  <a:pt x="46812" y="1073365"/>
                </a:lnTo>
                <a:lnTo>
                  <a:pt x="101409" y="1108151"/>
                </a:lnTo>
                <a:lnTo>
                  <a:pt x="157238" y="1118666"/>
                </a:lnTo>
                <a:lnTo>
                  <a:pt x="196634" y="1119987"/>
                </a:lnTo>
                <a:lnTo>
                  <a:pt x="245491" y="1120178"/>
                </a:lnTo>
                <a:lnTo>
                  <a:pt x="914031" y="1120178"/>
                </a:lnTo>
                <a:lnTo>
                  <a:pt x="962875" y="1119987"/>
                </a:lnTo>
                <a:lnTo>
                  <a:pt x="1002271" y="1118666"/>
                </a:lnTo>
                <a:lnTo>
                  <a:pt x="1058100" y="1108151"/>
                </a:lnTo>
                <a:lnTo>
                  <a:pt x="1112697" y="1073365"/>
                </a:lnTo>
                <a:lnTo>
                  <a:pt x="1147483" y="1018768"/>
                </a:lnTo>
                <a:lnTo>
                  <a:pt x="1158011" y="962939"/>
                </a:lnTo>
                <a:lnTo>
                  <a:pt x="1159319" y="923544"/>
                </a:lnTo>
                <a:lnTo>
                  <a:pt x="1159510" y="874699"/>
                </a:lnTo>
                <a:lnTo>
                  <a:pt x="1159510" y="245478"/>
                </a:lnTo>
                <a:close/>
              </a:path>
            </a:pathLst>
          </a:custGeom>
          <a:solidFill>
            <a:srgbClr val="FF95CA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D53ADD8E-35A4-A385-32BE-22DFD8648E72}"/>
              </a:ext>
            </a:extLst>
          </p:cNvPr>
          <p:cNvSpPr txBox="1"/>
          <p:nvPr/>
        </p:nvSpPr>
        <p:spPr>
          <a:xfrm>
            <a:off x="4846498" y="2736989"/>
            <a:ext cx="419720" cy="59998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23104" defTabSz="554492">
              <a:spcBef>
                <a:spcPts val="58"/>
              </a:spcBef>
            </a:pPr>
            <a:r>
              <a:rPr sz="3851" i="1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x</a:t>
            </a:r>
            <a:r>
              <a:rPr sz="4093" kern="0" spc="-22" baseline="-19753" dirty="0">
                <a:solidFill>
                  <a:sysClr val="windowText" lastClr="000000"/>
                </a:solidFill>
                <a:latin typeface="Garamond"/>
                <a:cs typeface="Garamond"/>
              </a:rPr>
              <a:t>2</a:t>
            </a:r>
            <a:endParaRPr sz="4093" kern="0" baseline="-19753">
              <a:solidFill>
                <a:sysClr val="windowText" lastClr="000000"/>
              </a:solidFill>
              <a:latin typeface="Garamond"/>
              <a:cs typeface="Garamond"/>
            </a:endParaRPr>
          </a:p>
        </p:txBody>
      </p:sp>
      <p:sp>
        <p:nvSpPr>
          <p:cNvPr id="15" name="object 11">
            <a:extLst>
              <a:ext uri="{FF2B5EF4-FFF2-40B4-BE49-F238E27FC236}">
                <a16:creationId xmlns:a16="http://schemas.microsoft.com/office/drawing/2014/main" id="{F8239CC2-2017-F521-3682-4190B0E59511}"/>
              </a:ext>
            </a:extLst>
          </p:cNvPr>
          <p:cNvSpPr txBox="1"/>
          <p:nvPr/>
        </p:nvSpPr>
        <p:spPr>
          <a:xfrm>
            <a:off x="2432441" y="2684260"/>
            <a:ext cx="4126351" cy="691711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30805" defTabSz="554492">
              <a:spcBef>
                <a:spcPts val="82"/>
              </a:spcBef>
              <a:tabLst>
                <a:tab pos="3066265" algn="l"/>
              </a:tabLst>
            </a:pPr>
            <a:r>
              <a:rPr sz="6640" kern="0" baseline="-4185" dirty="0">
                <a:solidFill>
                  <a:sysClr val="windowText" lastClr="000000"/>
                </a:solidFill>
                <a:latin typeface="Lucida Sans"/>
                <a:cs typeface="Lucida Sans"/>
              </a:rPr>
              <a:t>×</a:t>
            </a:r>
            <a:r>
              <a:rPr sz="6640" kern="0" spc="368" baseline="-4185" dirty="0">
                <a:solidFill>
                  <a:sysClr val="windowText" lastClr="000000"/>
                </a:solidFill>
                <a:latin typeface="Lucida Sans"/>
                <a:cs typeface="Lucida Sans"/>
              </a:rPr>
              <a:t> </a:t>
            </a:r>
            <a:r>
              <a:rPr sz="3851" i="1" kern="0" spc="-2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4093" kern="0" spc="-32" baseline="-19135" dirty="0">
                <a:solidFill>
                  <a:sysClr val="windowText" lastClr="000000"/>
                </a:solidFill>
                <a:latin typeface="Garamond"/>
                <a:cs typeface="Garamond"/>
              </a:rPr>
              <a:t>1</a:t>
            </a:r>
            <a:r>
              <a:rPr sz="4093" kern="0" baseline="-19135" dirty="0">
                <a:solidFill>
                  <a:sysClr val="windowText" lastClr="000000"/>
                </a:solidFill>
                <a:latin typeface="Garamond"/>
                <a:cs typeface="Garamond"/>
              </a:rPr>
              <a:t>	</a:t>
            </a:r>
            <a:r>
              <a:rPr sz="6640" kern="0" baseline="-7229" dirty="0">
                <a:solidFill>
                  <a:sysClr val="windowText" lastClr="000000"/>
                </a:solidFill>
                <a:latin typeface="Lucida Sans"/>
                <a:cs typeface="Lucida Sans"/>
              </a:rPr>
              <a:t>×</a:t>
            </a:r>
            <a:r>
              <a:rPr sz="6640" kern="0" spc="118" baseline="-7229" dirty="0">
                <a:solidFill>
                  <a:sysClr val="windowText" lastClr="000000"/>
                </a:solidFill>
                <a:latin typeface="Lucida Sans"/>
                <a:cs typeface="Lucida Sans"/>
              </a:rPr>
              <a:t> </a:t>
            </a:r>
            <a:r>
              <a:rPr sz="3851" i="1" kern="0" spc="-2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4093" kern="0" spc="-32" baseline="-19753" dirty="0">
                <a:solidFill>
                  <a:sysClr val="windowText" lastClr="000000"/>
                </a:solidFill>
                <a:latin typeface="Garamond"/>
                <a:cs typeface="Garamond"/>
              </a:rPr>
              <a:t>2</a:t>
            </a:r>
            <a:endParaRPr sz="4093" kern="0" baseline="-19753">
              <a:solidFill>
                <a:sysClr val="windowText" lastClr="000000"/>
              </a:solidFill>
              <a:latin typeface="Garamond"/>
              <a:cs typeface="Garamond"/>
            </a:endParaRP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380EB9A1-102B-DBDC-68B2-48F5D4EE4A3B}"/>
              </a:ext>
            </a:extLst>
          </p:cNvPr>
          <p:cNvSpPr txBox="1"/>
          <p:nvPr/>
        </p:nvSpPr>
        <p:spPr>
          <a:xfrm>
            <a:off x="3911161" y="2720385"/>
            <a:ext cx="3396270" cy="714987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 defTabSz="554492">
              <a:spcBef>
                <a:spcPts val="82"/>
              </a:spcBef>
              <a:tabLst>
                <a:tab pos="2987712" algn="l"/>
              </a:tabLst>
            </a:pPr>
            <a:r>
              <a:rPr sz="4578" kern="0" spc="61" dirty="0">
                <a:solidFill>
                  <a:sysClr val="windowText" lastClr="000000"/>
                </a:solidFill>
                <a:latin typeface="Garamond"/>
                <a:cs typeface="Garamond"/>
              </a:rPr>
              <a:t>+</a:t>
            </a:r>
            <a:r>
              <a:rPr sz="4578" kern="0" dirty="0">
                <a:solidFill>
                  <a:sysClr val="windowText" lastClr="000000"/>
                </a:solidFill>
                <a:latin typeface="Garamond"/>
                <a:cs typeface="Garamond"/>
              </a:rPr>
              <a:t>	</a:t>
            </a:r>
            <a:r>
              <a:rPr sz="4578" kern="0" spc="61" dirty="0">
                <a:solidFill>
                  <a:sysClr val="windowText" lastClr="000000"/>
                </a:solidFill>
                <a:latin typeface="Garamond"/>
                <a:cs typeface="Garamond"/>
              </a:rPr>
              <a:t>+</a:t>
            </a:r>
            <a:endParaRPr sz="4578" kern="0">
              <a:solidFill>
                <a:sysClr val="windowText" lastClr="000000"/>
              </a:solidFill>
              <a:latin typeface="Garamond"/>
              <a:cs typeface="Garamond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677E6452-C51C-3A28-932E-96AAFF43BC7F}"/>
              </a:ext>
            </a:extLst>
          </p:cNvPr>
          <p:cNvSpPr txBox="1">
            <a:spLocks/>
          </p:cNvSpPr>
          <p:nvPr/>
        </p:nvSpPr>
        <p:spPr>
          <a:xfrm>
            <a:off x="8535149" y="2853113"/>
            <a:ext cx="3084422" cy="731629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>
              <a:spcBef>
                <a:spcPts val="61"/>
              </a:spcBef>
            </a:pPr>
            <a:r>
              <a:rPr lang="en-US" sz="5700" spc="76">
                <a:latin typeface="Garamond"/>
                <a:cs typeface="Garamond"/>
              </a:rPr>
              <a:t>=</a:t>
            </a:r>
            <a:r>
              <a:rPr lang="en-US" sz="5700" spc="158">
                <a:latin typeface="Garamond"/>
                <a:cs typeface="Garamond"/>
              </a:rPr>
              <a:t> </a:t>
            </a:r>
            <a:r>
              <a:rPr lang="en-US" sz="5700" i="1" spc="-36">
                <a:latin typeface="Times New Roman"/>
                <a:cs typeface="Times New Roman"/>
              </a:rPr>
              <a:t>z = y’</a:t>
            </a:r>
            <a:endParaRPr lang="en-US" sz="5700" dirty="0">
              <a:latin typeface="Times New Roman"/>
              <a:cs typeface="Times New Roman"/>
            </a:endParaRPr>
          </a:p>
        </p:txBody>
      </p:sp>
      <p:sp>
        <p:nvSpPr>
          <p:cNvPr id="18" name="object 14">
            <a:extLst>
              <a:ext uri="{FF2B5EF4-FFF2-40B4-BE49-F238E27FC236}">
                <a16:creationId xmlns:a16="http://schemas.microsoft.com/office/drawing/2014/main" id="{5CB3EA40-7465-FE6E-6392-A3D11E66B1EF}"/>
              </a:ext>
            </a:extLst>
          </p:cNvPr>
          <p:cNvSpPr txBox="1"/>
          <p:nvPr/>
        </p:nvSpPr>
        <p:spPr>
          <a:xfrm>
            <a:off x="1721401" y="4610633"/>
            <a:ext cx="9745770" cy="639185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23104" defTabSz="554492">
              <a:spcBef>
                <a:spcPts val="73"/>
              </a:spcBef>
            </a:pPr>
            <a:r>
              <a:rPr sz="4093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x</a:t>
            </a:r>
            <a:r>
              <a:rPr sz="4366" kern="0" baseline="-19675" dirty="0">
                <a:solidFill>
                  <a:sysClr val="windowText" lastClr="000000"/>
                </a:solidFill>
                <a:latin typeface="Garamond"/>
                <a:cs typeface="Garamond"/>
              </a:rPr>
              <a:t>1</a:t>
            </a:r>
            <a:r>
              <a:rPr sz="4366" kern="0" spc="63" baseline="-19675" dirty="0">
                <a:solidFill>
                  <a:sysClr val="windowText" lastClr="000000"/>
                </a:solidFill>
                <a:latin typeface="Garamond"/>
                <a:cs typeface="Garamond"/>
              </a:rPr>
              <a:t> </a:t>
            </a:r>
            <a:r>
              <a:rPr sz="4093" kern="0" dirty="0">
                <a:solidFill>
                  <a:sysClr val="windowText" lastClr="000000"/>
                </a:solidFill>
                <a:latin typeface="Lucida Sans"/>
                <a:cs typeface="Lucida Sans"/>
              </a:rPr>
              <a:t>×</a:t>
            </a:r>
            <a:r>
              <a:rPr sz="4093" kern="0" spc="-385" dirty="0">
                <a:solidFill>
                  <a:sysClr val="windowText" lastClr="000000"/>
                </a:solidFill>
                <a:latin typeface="Lucida Sans"/>
                <a:cs typeface="Lucida Sans"/>
              </a:rPr>
              <a:t> </a:t>
            </a:r>
            <a:r>
              <a:rPr sz="4093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4366" kern="0" baseline="-19675" dirty="0">
                <a:solidFill>
                  <a:sysClr val="windowText" lastClr="000000"/>
                </a:solidFill>
                <a:latin typeface="Garamond"/>
                <a:cs typeface="Garamond"/>
              </a:rPr>
              <a:t>1</a:t>
            </a:r>
            <a:r>
              <a:rPr sz="4366" kern="0" spc="232" baseline="-19675" dirty="0">
                <a:solidFill>
                  <a:sysClr val="windowText" lastClr="000000"/>
                </a:solidFill>
                <a:latin typeface="Garamond"/>
                <a:cs typeface="Garamond"/>
              </a:rPr>
              <a:t> </a:t>
            </a:r>
            <a:r>
              <a:rPr sz="4093" kern="0" spc="82" dirty="0">
                <a:solidFill>
                  <a:sysClr val="windowText" lastClr="000000"/>
                </a:solidFill>
                <a:latin typeface="Garamond"/>
                <a:cs typeface="Garamond"/>
              </a:rPr>
              <a:t>+</a:t>
            </a:r>
            <a:r>
              <a:rPr sz="4093" kern="0" spc="-136" dirty="0">
                <a:solidFill>
                  <a:sysClr val="windowText" lastClr="000000"/>
                </a:solidFill>
                <a:latin typeface="Garamond"/>
                <a:cs typeface="Garamond"/>
              </a:rPr>
              <a:t> </a:t>
            </a:r>
            <a:r>
              <a:rPr sz="4093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x</a:t>
            </a:r>
            <a:r>
              <a:rPr sz="4366" kern="0" baseline="-19675" dirty="0">
                <a:solidFill>
                  <a:sysClr val="windowText" lastClr="000000"/>
                </a:solidFill>
                <a:latin typeface="Garamond"/>
                <a:cs typeface="Garamond"/>
              </a:rPr>
              <a:t>2</a:t>
            </a:r>
            <a:r>
              <a:rPr sz="4366" kern="0" spc="236" baseline="-19675" dirty="0">
                <a:solidFill>
                  <a:sysClr val="windowText" lastClr="000000"/>
                </a:solidFill>
                <a:latin typeface="Garamond"/>
                <a:cs typeface="Garamond"/>
              </a:rPr>
              <a:t> </a:t>
            </a:r>
            <a:r>
              <a:rPr sz="4093" kern="0" dirty="0">
                <a:solidFill>
                  <a:sysClr val="windowText" lastClr="000000"/>
                </a:solidFill>
                <a:latin typeface="Lucida Sans"/>
                <a:cs typeface="Lucida Sans"/>
              </a:rPr>
              <a:t>×</a:t>
            </a:r>
            <a:r>
              <a:rPr sz="4093" kern="0" spc="-385" dirty="0">
                <a:solidFill>
                  <a:sysClr val="windowText" lastClr="000000"/>
                </a:solidFill>
                <a:latin typeface="Lucida Sans"/>
                <a:cs typeface="Lucida Sans"/>
              </a:rPr>
              <a:t> </a:t>
            </a:r>
            <a:r>
              <a:rPr sz="4093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4366" kern="0" baseline="-19675" dirty="0">
                <a:solidFill>
                  <a:sysClr val="windowText" lastClr="000000"/>
                </a:solidFill>
                <a:latin typeface="Garamond"/>
                <a:cs typeface="Garamond"/>
              </a:rPr>
              <a:t>2</a:t>
            </a:r>
            <a:r>
              <a:rPr sz="4366" kern="0" spc="232" baseline="-19675" dirty="0">
                <a:solidFill>
                  <a:sysClr val="windowText" lastClr="000000"/>
                </a:solidFill>
                <a:latin typeface="Garamond"/>
                <a:cs typeface="Garamond"/>
              </a:rPr>
              <a:t> </a:t>
            </a:r>
            <a:r>
              <a:rPr sz="4093" kern="0" spc="82" dirty="0">
                <a:solidFill>
                  <a:sysClr val="windowText" lastClr="000000"/>
                </a:solidFill>
                <a:latin typeface="Garamond"/>
                <a:cs typeface="Garamond"/>
              </a:rPr>
              <a:t>+</a:t>
            </a:r>
            <a:r>
              <a:rPr sz="4093" kern="0" spc="-136" dirty="0">
                <a:solidFill>
                  <a:sysClr val="windowText" lastClr="000000"/>
                </a:solidFill>
                <a:latin typeface="Garamond"/>
                <a:cs typeface="Garamond"/>
              </a:rPr>
              <a:t> </a:t>
            </a:r>
            <a:r>
              <a:rPr sz="4093" kern="0" spc="124" dirty="0">
                <a:solidFill>
                  <a:sysClr val="windowText" lastClr="000000"/>
                </a:solidFill>
                <a:latin typeface="Garamond"/>
                <a:cs typeface="Garamond"/>
              </a:rPr>
              <a:t>.</a:t>
            </a:r>
            <a:r>
              <a:rPr sz="4093" kern="0" spc="-340" dirty="0">
                <a:solidFill>
                  <a:sysClr val="windowText" lastClr="000000"/>
                </a:solidFill>
                <a:latin typeface="Garamond"/>
                <a:cs typeface="Garamond"/>
              </a:rPr>
              <a:t> </a:t>
            </a:r>
            <a:r>
              <a:rPr sz="4093" kern="0" spc="124" dirty="0">
                <a:solidFill>
                  <a:sysClr val="windowText" lastClr="000000"/>
                </a:solidFill>
                <a:latin typeface="Garamond"/>
                <a:cs typeface="Garamond"/>
              </a:rPr>
              <a:t>.</a:t>
            </a:r>
            <a:r>
              <a:rPr sz="4093" kern="0" spc="-340" dirty="0">
                <a:solidFill>
                  <a:sysClr val="windowText" lastClr="000000"/>
                </a:solidFill>
                <a:latin typeface="Garamond"/>
                <a:cs typeface="Garamond"/>
              </a:rPr>
              <a:t> </a:t>
            </a:r>
            <a:r>
              <a:rPr sz="4093" kern="0" spc="124" dirty="0">
                <a:solidFill>
                  <a:sysClr val="windowText" lastClr="000000"/>
                </a:solidFill>
                <a:latin typeface="Garamond"/>
                <a:cs typeface="Garamond"/>
              </a:rPr>
              <a:t>.</a:t>
            </a:r>
            <a:r>
              <a:rPr sz="4093" kern="0" spc="-139" dirty="0">
                <a:solidFill>
                  <a:sysClr val="windowText" lastClr="000000"/>
                </a:solidFill>
                <a:latin typeface="Garamond"/>
                <a:cs typeface="Garamond"/>
              </a:rPr>
              <a:t> </a:t>
            </a:r>
            <a:r>
              <a:rPr sz="4093" kern="0" spc="82" dirty="0">
                <a:solidFill>
                  <a:sysClr val="windowText" lastClr="000000"/>
                </a:solidFill>
                <a:latin typeface="Garamond"/>
                <a:cs typeface="Garamond"/>
              </a:rPr>
              <a:t>+</a:t>
            </a:r>
            <a:r>
              <a:rPr sz="4093" kern="0" spc="-136" dirty="0">
                <a:solidFill>
                  <a:sysClr val="windowText" lastClr="000000"/>
                </a:solidFill>
                <a:latin typeface="Garamond"/>
                <a:cs typeface="Garamond"/>
              </a:rPr>
              <a:t> </a:t>
            </a:r>
            <a:r>
              <a:rPr sz="4093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x</a:t>
            </a:r>
            <a:r>
              <a:rPr sz="4366" i="1" kern="0" baseline="-1967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m</a:t>
            </a:r>
            <a:r>
              <a:rPr sz="4366" i="1" kern="0" spc="236" baseline="-1967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4093" kern="0" dirty="0">
                <a:solidFill>
                  <a:sysClr val="windowText" lastClr="000000"/>
                </a:solidFill>
                <a:latin typeface="Lucida Sans"/>
                <a:cs typeface="Lucida Sans"/>
              </a:rPr>
              <a:t>×</a:t>
            </a:r>
            <a:r>
              <a:rPr sz="4093" kern="0" spc="-385" dirty="0">
                <a:solidFill>
                  <a:sysClr val="windowText" lastClr="000000"/>
                </a:solidFill>
                <a:latin typeface="Lucida Sans"/>
                <a:cs typeface="Lucida Sans"/>
              </a:rPr>
              <a:t> </a:t>
            </a:r>
            <a:r>
              <a:rPr sz="4093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4366" i="1" kern="0" baseline="-1967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m</a:t>
            </a:r>
            <a:r>
              <a:rPr sz="4366" i="1" kern="0" spc="236" baseline="-1967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4093" kern="0" spc="82" dirty="0">
                <a:solidFill>
                  <a:sysClr val="windowText" lastClr="000000"/>
                </a:solidFill>
                <a:latin typeface="Garamond"/>
                <a:cs typeface="Garamond"/>
              </a:rPr>
              <a:t>+</a:t>
            </a:r>
            <a:r>
              <a:rPr sz="4093" kern="0" spc="-139" dirty="0">
                <a:solidFill>
                  <a:sysClr val="windowText" lastClr="000000"/>
                </a:solidFill>
                <a:latin typeface="Garamond"/>
                <a:cs typeface="Garamond"/>
              </a:rPr>
              <a:t> </a:t>
            </a:r>
            <a:r>
              <a:rPr sz="4093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b</a:t>
            </a:r>
            <a:r>
              <a:rPr sz="4093" i="1" kern="0" spc="8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4093" kern="0" spc="82" dirty="0">
                <a:solidFill>
                  <a:sysClr val="windowText" lastClr="000000"/>
                </a:solidFill>
                <a:latin typeface="Garamond"/>
                <a:cs typeface="Garamond"/>
              </a:rPr>
              <a:t>= </a:t>
            </a:r>
            <a:r>
              <a:rPr sz="4093" i="1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z</a:t>
            </a:r>
            <a:r>
              <a:rPr lang="en-US" sz="4093" i="1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= y’</a:t>
            </a:r>
            <a:endParaRPr sz="4093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78670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D8DB50-30D2-1D81-E0A7-45448998F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D7567B-9F5E-C773-90A4-C839AFE5200E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4A38D9A-F2A9-3AF8-3A23-C83BFB9A779E}"/>
              </a:ext>
            </a:extLst>
          </p:cNvPr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ED75A52-84AD-0BD4-378D-D057E064BBC9}"/>
              </a:ext>
            </a:extLst>
          </p:cNvPr>
          <p:cNvSpPr/>
          <p:nvPr/>
        </p:nvSpPr>
        <p:spPr>
          <a:xfrm>
            <a:off x="502920" y="62179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regression: a first interpretable model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1C52729-7691-2024-52FA-D837D20010C5}"/>
              </a:ext>
            </a:extLst>
          </p:cNvPr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5DB675E-491C-8D80-38BD-CFE8BDAA77D4}"/>
              </a:ext>
            </a:extLst>
          </p:cNvPr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8</a:t>
            </a:r>
            <a:endParaRPr lang="en-US" sz="800" dirty="0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0E07977C-DC86-F5DC-9AF6-D88E2534ADDD}"/>
              </a:ext>
            </a:extLst>
          </p:cNvPr>
          <p:cNvSpPr/>
          <p:nvPr/>
        </p:nvSpPr>
        <p:spPr>
          <a:xfrm>
            <a:off x="2694699" y="4129014"/>
            <a:ext cx="800549" cy="762043"/>
          </a:xfrm>
          <a:custGeom>
            <a:avLst/>
            <a:gdLst/>
            <a:ahLst/>
            <a:cxnLst/>
            <a:rect l="l" t="t" r="r" b="b"/>
            <a:pathLst>
              <a:path w="1320164" h="1256665">
                <a:moveTo>
                  <a:pt x="1126783" y="183957"/>
                </a:moveTo>
                <a:lnTo>
                  <a:pt x="1160335" y="218319"/>
                </a:lnTo>
                <a:lnTo>
                  <a:pt x="1190692" y="254400"/>
                </a:lnTo>
                <a:lnTo>
                  <a:pt x="1217854" y="292026"/>
                </a:lnTo>
                <a:lnTo>
                  <a:pt x="1241820" y="331025"/>
                </a:lnTo>
                <a:lnTo>
                  <a:pt x="1262590" y="371227"/>
                </a:lnTo>
                <a:lnTo>
                  <a:pt x="1280165" y="412460"/>
                </a:lnTo>
                <a:lnTo>
                  <a:pt x="1294545" y="454551"/>
                </a:lnTo>
                <a:lnTo>
                  <a:pt x="1305729" y="497329"/>
                </a:lnTo>
                <a:lnTo>
                  <a:pt x="1313717" y="540623"/>
                </a:lnTo>
                <a:lnTo>
                  <a:pt x="1318511" y="584260"/>
                </a:lnTo>
                <a:lnTo>
                  <a:pt x="1320108" y="628069"/>
                </a:lnTo>
                <a:lnTo>
                  <a:pt x="1318511" y="671877"/>
                </a:lnTo>
                <a:lnTo>
                  <a:pt x="1313717" y="715514"/>
                </a:lnTo>
                <a:lnTo>
                  <a:pt x="1305729" y="758808"/>
                </a:lnTo>
                <a:lnTo>
                  <a:pt x="1294545" y="801586"/>
                </a:lnTo>
                <a:lnTo>
                  <a:pt x="1280165" y="843677"/>
                </a:lnTo>
                <a:lnTo>
                  <a:pt x="1262590" y="884910"/>
                </a:lnTo>
                <a:lnTo>
                  <a:pt x="1241820" y="925112"/>
                </a:lnTo>
                <a:lnTo>
                  <a:pt x="1217854" y="964112"/>
                </a:lnTo>
                <a:lnTo>
                  <a:pt x="1190692" y="1001738"/>
                </a:lnTo>
                <a:lnTo>
                  <a:pt x="1160335" y="1037818"/>
                </a:lnTo>
                <a:lnTo>
                  <a:pt x="1126783" y="1072180"/>
                </a:lnTo>
                <a:lnTo>
                  <a:pt x="1090670" y="1104107"/>
                </a:lnTo>
                <a:lnTo>
                  <a:pt x="1052753" y="1132993"/>
                </a:lnTo>
                <a:lnTo>
                  <a:pt x="1013211" y="1158838"/>
                </a:lnTo>
                <a:lnTo>
                  <a:pt x="972225" y="1181643"/>
                </a:lnTo>
                <a:lnTo>
                  <a:pt x="929975" y="1201407"/>
                </a:lnTo>
                <a:lnTo>
                  <a:pt x="886643" y="1218130"/>
                </a:lnTo>
                <a:lnTo>
                  <a:pt x="842408" y="1231813"/>
                </a:lnTo>
                <a:lnTo>
                  <a:pt x="797451" y="1242455"/>
                </a:lnTo>
                <a:lnTo>
                  <a:pt x="751953" y="1250056"/>
                </a:lnTo>
                <a:lnTo>
                  <a:pt x="706094" y="1254617"/>
                </a:lnTo>
                <a:lnTo>
                  <a:pt x="660054" y="1256138"/>
                </a:lnTo>
                <a:lnTo>
                  <a:pt x="614014" y="1254617"/>
                </a:lnTo>
                <a:lnTo>
                  <a:pt x="568155" y="1250056"/>
                </a:lnTo>
                <a:lnTo>
                  <a:pt x="522657" y="1242455"/>
                </a:lnTo>
                <a:lnTo>
                  <a:pt x="477700" y="1231813"/>
                </a:lnTo>
                <a:lnTo>
                  <a:pt x="433465" y="1218130"/>
                </a:lnTo>
                <a:lnTo>
                  <a:pt x="390133" y="1201407"/>
                </a:lnTo>
                <a:lnTo>
                  <a:pt x="347883" y="1181643"/>
                </a:lnTo>
                <a:lnTo>
                  <a:pt x="306897" y="1158838"/>
                </a:lnTo>
                <a:lnTo>
                  <a:pt x="267355" y="1132993"/>
                </a:lnTo>
                <a:lnTo>
                  <a:pt x="229438" y="1104107"/>
                </a:lnTo>
                <a:lnTo>
                  <a:pt x="193325" y="1072180"/>
                </a:lnTo>
                <a:lnTo>
                  <a:pt x="159773" y="1037818"/>
                </a:lnTo>
                <a:lnTo>
                  <a:pt x="129416" y="1001738"/>
                </a:lnTo>
                <a:lnTo>
                  <a:pt x="102254" y="964112"/>
                </a:lnTo>
                <a:lnTo>
                  <a:pt x="78288" y="925112"/>
                </a:lnTo>
                <a:lnTo>
                  <a:pt x="57518" y="884910"/>
                </a:lnTo>
                <a:lnTo>
                  <a:pt x="39943" y="843677"/>
                </a:lnTo>
                <a:lnTo>
                  <a:pt x="25563" y="801586"/>
                </a:lnTo>
                <a:lnTo>
                  <a:pt x="14379" y="758808"/>
                </a:lnTo>
                <a:lnTo>
                  <a:pt x="6390" y="715514"/>
                </a:lnTo>
                <a:lnTo>
                  <a:pt x="1597" y="671877"/>
                </a:lnTo>
                <a:lnTo>
                  <a:pt x="0" y="628069"/>
                </a:lnTo>
                <a:lnTo>
                  <a:pt x="1597" y="584260"/>
                </a:lnTo>
                <a:lnTo>
                  <a:pt x="6390" y="540623"/>
                </a:lnTo>
                <a:lnTo>
                  <a:pt x="14379" y="497329"/>
                </a:lnTo>
                <a:lnTo>
                  <a:pt x="25563" y="454551"/>
                </a:lnTo>
                <a:lnTo>
                  <a:pt x="39943" y="412460"/>
                </a:lnTo>
                <a:lnTo>
                  <a:pt x="57518" y="371227"/>
                </a:lnTo>
                <a:lnTo>
                  <a:pt x="78288" y="331025"/>
                </a:lnTo>
                <a:lnTo>
                  <a:pt x="102254" y="292026"/>
                </a:lnTo>
                <a:lnTo>
                  <a:pt x="129416" y="254400"/>
                </a:lnTo>
                <a:lnTo>
                  <a:pt x="159773" y="218319"/>
                </a:lnTo>
                <a:lnTo>
                  <a:pt x="193325" y="183957"/>
                </a:lnTo>
                <a:lnTo>
                  <a:pt x="229438" y="152030"/>
                </a:lnTo>
                <a:lnTo>
                  <a:pt x="267355" y="123144"/>
                </a:lnTo>
                <a:lnTo>
                  <a:pt x="306897" y="97299"/>
                </a:lnTo>
                <a:lnTo>
                  <a:pt x="347883" y="74495"/>
                </a:lnTo>
                <a:lnTo>
                  <a:pt x="390133" y="54731"/>
                </a:lnTo>
                <a:lnTo>
                  <a:pt x="433465" y="38007"/>
                </a:lnTo>
                <a:lnTo>
                  <a:pt x="477700" y="24324"/>
                </a:lnTo>
                <a:lnTo>
                  <a:pt x="522657" y="13682"/>
                </a:lnTo>
                <a:lnTo>
                  <a:pt x="568155" y="6081"/>
                </a:lnTo>
                <a:lnTo>
                  <a:pt x="614014" y="1520"/>
                </a:lnTo>
                <a:lnTo>
                  <a:pt x="660054" y="0"/>
                </a:lnTo>
                <a:lnTo>
                  <a:pt x="706094" y="1520"/>
                </a:lnTo>
                <a:lnTo>
                  <a:pt x="751953" y="6081"/>
                </a:lnTo>
                <a:lnTo>
                  <a:pt x="797451" y="13682"/>
                </a:lnTo>
                <a:lnTo>
                  <a:pt x="842408" y="24324"/>
                </a:lnTo>
                <a:lnTo>
                  <a:pt x="886643" y="38007"/>
                </a:lnTo>
                <a:lnTo>
                  <a:pt x="929975" y="54731"/>
                </a:lnTo>
                <a:lnTo>
                  <a:pt x="972225" y="74495"/>
                </a:lnTo>
                <a:lnTo>
                  <a:pt x="1013211" y="97299"/>
                </a:lnTo>
                <a:lnTo>
                  <a:pt x="1052753" y="123144"/>
                </a:lnTo>
                <a:lnTo>
                  <a:pt x="1090670" y="152030"/>
                </a:lnTo>
                <a:lnTo>
                  <a:pt x="1126783" y="183957"/>
                </a:lnTo>
                <a:close/>
              </a:path>
            </a:pathLst>
          </a:custGeom>
          <a:ln w="732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50138EFF-A823-2670-DF20-6030DFD3C94C}"/>
              </a:ext>
            </a:extLst>
          </p:cNvPr>
          <p:cNvSpPr/>
          <p:nvPr/>
        </p:nvSpPr>
        <p:spPr>
          <a:xfrm>
            <a:off x="2716844" y="5560759"/>
            <a:ext cx="800549" cy="762043"/>
          </a:xfrm>
          <a:custGeom>
            <a:avLst/>
            <a:gdLst/>
            <a:ahLst/>
            <a:cxnLst/>
            <a:rect l="l" t="t" r="r" b="b"/>
            <a:pathLst>
              <a:path w="1320164" h="1256665">
                <a:moveTo>
                  <a:pt x="1126783" y="183957"/>
                </a:moveTo>
                <a:lnTo>
                  <a:pt x="1160335" y="218319"/>
                </a:lnTo>
                <a:lnTo>
                  <a:pt x="1190692" y="254400"/>
                </a:lnTo>
                <a:lnTo>
                  <a:pt x="1217854" y="292026"/>
                </a:lnTo>
                <a:lnTo>
                  <a:pt x="1241820" y="331025"/>
                </a:lnTo>
                <a:lnTo>
                  <a:pt x="1262590" y="371227"/>
                </a:lnTo>
                <a:lnTo>
                  <a:pt x="1280165" y="412460"/>
                </a:lnTo>
                <a:lnTo>
                  <a:pt x="1294545" y="454551"/>
                </a:lnTo>
                <a:lnTo>
                  <a:pt x="1305729" y="497329"/>
                </a:lnTo>
                <a:lnTo>
                  <a:pt x="1313717" y="540623"/>
                </a:lnTo>
                <a:lnTo>
                  <a:pt x="1318511" y="584260"/>
                </a:lnTo>
                <a:lnTo>
                  <a:pt x="1320108" y="628069"/>
                </a:lnTo>
                <a:lnTo>
                  <a:pt x="1318511" y="671877"/>
                </a:lnTo>
                <a:lnTo>
                  <a:pt x="1313717" y="715514"/>
                </a:lnTo>
                <a:lnTo>
                  <a:pt x="1305729" y="758808"/>
                </a:lnTo>
                <a:lnTo>
                  <a:pt x="1294545" y="801586"/>
                </a:lnTo>
                <a:lnTo>
                  <a:pt x="1280165" y="843677"/>
                </a:lnTo>
                <a:lnTo>
                  <a:pt x="1262590" y="884910"/>
                </a:lnTo>
                <a:lnTo>
                  <a:pt x="1241820" y="925112"/>
                </a:lnTo>
                <a:lnTo>
                  <a:pt x="1217854" y="964112"/>
                </a:lnTo>
                <a:lnTo>
                  <a:pt x="1190692" y="1001738"/>
                </a:lnTo>
                <a:lnTo>
                  <a:pt x="1160335" y="1037818"/>
                </a:lnTo>
                <a:lnTo>
                  <a:pt x="1126783" y="1072180"/>
                </a:lnTo>
                <a:lnTo>
                  <a:pt x="1090670" y="1104107"/>
                </a:lnTo>
                <a:lnTo>
                  <a:pt x="1052753" y="1132993"/>
                </a:lnTo>
                <a:lnTo>
                  <a:pt x="1013211" y="1158838"/>
                </a:lnTo>
                <a:lnTo>
                  <a:pt x="972225" y="1181643"/>
                </a:lnTo>
                <a:lnTo>
                  <a:pt x="929975" y="1201407"/>
                </a:lnTo>
                <a:lnTo>
                  <a:pt x="886643" y="1218130"/>
                </a:lnTo>
                <a:lnTo>
                  <a:pt x="842408" y="1231813"/>
                </a:lnTo>
                <a:lnTo>
                  <a:pt x="797451" y="1242455"/>
                </a:lnTo>
                <a:lnTo>
                  <a:pt x="751953" y="1250056"/>
                </a:lnTo>
                <a:lnTo>
                  <a:pt x="706094" y="1254617"/>
                </a:lnTo>
                <a:lnTo>
                  <a:pt x="660054" y="1256138"/>
                </a:lnTo>
                <a:lnTo>
                  <a:pt x="614014" y="1254617"/>
                </a:lnTo>
                <a:lnTo>
                  <a:pt x="568155" y="1250056"/>
                </a:lnTo>
                <a:lnTo>
                  <a:pt x="522657" y="1242455"/>
                </a:lnTo>
                <a:lnTo>
                  <a:pt x="477700" y="1231813"/>
                </a:lnTo>
                <a:lnTo>
                  <a:pt x="433465" y="1218130"/>
                </a:lnTo>
                <a:lnTo>
                  <a:pt x="390133" y="1201407"/>
                </a:lnTo>
                <a:lnTo>
                  <a:pt x="347883" y="1181643"/>
                </a:lnTo>
                <a:lnTo>
                  <a:pt x="306897" y="1158838"/>
                </a:lnTo>
                <a:lnTo>
                  <a:pt x="267355" y="1132993"/>
                </a:lnTo>
                <a:lnTo>
                  <a:pt x="229438" y="1104107"/>
                </a:lnTo>
                <a:lnTo>
                  <a:pt x="193325" y="1072180"/>
                </a:lnTo>
                <a:lnTo>
                  <a:pt x="159773" y="1037818"/>
                </a:lnTo>
                <a:lnTo>
                  <a:pt x="129416" y="1001738"/>
                </a:lnTo>
                <a:lnTo>
                  <a:pt x="102254" y="964112"/>
                </a:lnTo>
                <a:lnTo>
                  <a:pt x="78288" y="925112"/>
                </a:lnTo>
                <a:lnTo>
                  <a:pt x="57518" y="884910"/>
                </a:lnTo>
                <a:lnTo>
                  <a:pt x="39943" y="843677"/>
                </a:lnTo>
                <a:lnTo>
                  <a:pt x="25563" y="801586"/>
                </a:lnTo>
                <a:lnTo>
                  <a:pt x="14379" y="758808"/>
                </a:lnTo>
                <a:lnTo>
                  <a:pt x="6390" y="715514"/>
                </a:lnTo>
                <a:lnTo>
                  <a:pt x="1597" y="671877"/>
                </a:lnTo>
                <a:lnTo>
                  <a:pt x="0" y="628069"/>
                </a:lnTo>
                <a:lnTo>
                  <a:pt x="1597" y="584260"/>
                </a:lnTo>
                <a:lnTo>
                  <a:pt x="6390" y="540623"/>
                </a:lnTo>
                <a:lnTo>
                  <a:pt x="14379" y="497329"/>
                </a:lnTo>
                <a:lnTo>
                  <a:pt x="25563" y="454551"/>
                </a:lnTo>
                <a:lnTo>
                  <a:pt x="39943" y="412460"/>
                </a:lnTo>
                <a:lnTo>
                  <a:pt x="57518" y="371227"/>
                </a:lnTo>
                <a:lnTo>
                  <a:pt x="78288" y="331025"/>
                </a:lnTo>
                <a:lnTo>
                  <a:pt x="102254" y="292026"/>
                </a:lnTo>
                <a:lnTo>
                  <a:pt x="129416" y="254400"/>
                </a:lnTo>
                <a:lnTo>
                  <a:pt x="159773" y="218319"/>
                </a:lnTo>
                <a:lnTo>
                  <a:pt x="193325" y="183957"/>
                </a:lnTo>
                <a:lnTo>
                  <a:pt x="229438" y="152030"/>
                </a:lnTo>
                <a:lnTo>
                  <a:pt x="267355" y="123144"/>
                </a:lnTo>
                <a:lnTo>
                  <a:pt x="306897" y="97299"/>
                </a:lnTo>
                <a:lnTo>
                  <a:pt x="347883" y="74495"/>
                </a:lnTo>
                <a:lnTo>
                  <a:pt x="390133" y="54731"/>
                </a:lnTo>
                <a:lnTo>
                  <a:pt x="433465" y="38007"/>
                </a:lnTo>
                <a:lnTo>
                  <a:pt x="477700" y="24324"/>
                </a:lnTo>
                <a:lnTo>
                  <a:pt x="522657" y="13682"/>
                </a:lnTo>
                <a:lnTo>
                  <a:pt x="568155" y="6081"/>
                </a:lnTo>
                <a:lnTo>
                  <a:pt x="614014" y="1520"/>
                </a:lnTo>
                <a:lnTo>
                  <a:pt x="660054" y="0"/>
                </a:lnTo>
                <a:lnTo>
                  <a:pt x="706094" y="1520"/>
                </a:lnTo>
                <a:lnTo>
                  <a:pt x="751953" y="6081"/>
                </a:lnTo>
                <a:lnTo>
                  <a:pt x="797451" y="13682"/>
                </a:lnTo>
                <a:lnTo>
                  <a:pt x="842408" y="24324"/>
                </a:lnTo>
                <a:lnTo>
                  <a:pt x="886643" y="38007"/>
                </a:lnTo>
                <a:lnTo>
                  <a:pt x="929975" y="54731"/>
                </a:lnTo>
                <a:lnTo>
                  <a:pt x="972225" y="74495"/>
                </a:lnTo>
                <a:lnTo>
                  <a:pt x="1013211" y="97299"/>
                </a:lnTo>
                <a:lnTo>
                  <a:pt x="1052753" y="123144"/>
                </a:lnTo>
                <a:lnTo>
                  <a:pt x="1090670" y="152030"/>
                </a:lnTo>
                <a:lnTo>
                  <a:pt x="1126783" y="183957"/>
                </a:lnTo>
                <a:close/>
              </a:path>
            </a:pathLst>
          </a:custGeom>
          <a:ln w="732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D3FAEFD9-6A62-16C2-D4BF-AEF14B1536DB}"/>
              </a:ext>
            </a:extLst>
          </p:cNvPr>
          <p:cNvSpPr/>
          <p:nvPr/>
        </p:nvSpPr>
        <p:spPr>
          <a:xfrm>
            <a:off x="5935675" y="4707706"/>
            <a:ext cx="2525253" cy="1248379"/>
          </a:xfrm>
          <a:custGeom>
            <a:avLst/>
            <a:gdLst/>
            <a:ahLst/>
            <a:cxnLst/>
            <a:rect l="l" t="t" r="r" b="b"/>
            <a:pathLst>
              <a:path w="4164330" h="2058670">
                <a:moveTo>
                  <a:pt x="4163813" y="0"/>
                </a:moveTo>
                <a:lnTo>
                  <a:pt x="0" y="0"/>
                </a:lnTo>
                <a:lnTo>
                  <a:pt x="0" y="2058592"/>
                </a:lnTo>
                <a:lnTo>
                  <a:pt x="4163813" y="2058592"/>
                </a:lnTo>
                <a:lnTo>
                  <a:pt x="41638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 dirty="0">
              <a:solidFill>
                <a:sysClr val="windowText" lastClr="000000"/>
              </a:solidFill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E4C855B-D5CC-4520-6637-FF4371605DF0}"/>
              </a:ext>
            </a:extLst>
          </p:cNvPr>
          <p:cNvSpPr/>
          <p:nvPr/>
        </p:nvSpPr>
        <p:spPr>
          <a:xfrm>
            <a:off x="6180817" y="3270464"/>
            <a:ext cx="1733561" cy="679639"/>
          </a:xfrm>
          <a:custGeom>
            <a:avLst/>
            <a:gdLst/>
            <a:ahLst/>
            <a:cxnLst/>
            <a:rect l="l" t="t" r="r" b="b"/>
            <a:pathLst>
              <a:path w="2858769" h="1120775">
                <a:moveTo>
                  <a:pt x="2613292" y="0"/>
                </a:moveTo>
                <a:lnTo>
                  <a:pt x="245479" y="0"/>
                </a:lnTo>
                <a:lnTo>
                  <a:pt x="196627" y="187"/>
                </a:lnTo>
                <a:lnTo>
                  <a:pt x="157230" y="1503"/>
                </a:lnTo>
                <a:lnTo>
                  <a:pt x="101400" y="12030"/>
                </a:lnTo>
                <a:lnTo>
                  <a:pt x="46803" y="46811"/>
                </a:lnTo>
                <a:lnTo>
                  <a:pt x="12020" y="101408"/>
                </a:lnTo>
                <a:lnTo>
                  <a:pt x="1502" y="157236"/>
                </a:lnTo>
                <a:lnTo>
                  <a:pt x="187" y="196631"/>
                </a:lnTo>
                <a:lnTo>
                  <a:pt x="0" y="245480"/>
                </a:lnTo>
                <a:lnTo>
                  <a:pt x="0" y="874695"/>
                </a:lnTo>
                <a:lnTo>
                  <a:pt x="187" y="923545"/>
                </a:lnTo>
                <a:lnTo>
                  <a:pt x="1502" y="962940"/>
                </a:lnTo>
                <a:lnTo>
                  <a:pt x="12020" y="1018768"/>
                </a:lnTo>
                <a:lnTo>
                  <a:pt x="46803" y="1073365"/>
                </a:lnTo>
                <a:lnTo>
                  <a:pt x="101400" y="1108147"/>
                </a:lnTo>
                <a:lnTo>
                  <a:pt x="157230" y="1118673"/>
                </a:lnTo>
                <a:lnTo>
                  <a:pt x="196627" y="1119989"/>
                </a:lnTo>
                <a:lnTo>
                  <a:pt x="245479" y="1120177"/>
                </a:lnTo>
                <a:lnTo>
                  <a:pt x="2613292" y="1120177"/>
                </a:lnTo>
                <a:lnTo>
                  <a:pt x="2662144" y="1119989"/>
                </a:lnTo>
                <a:lnTo>
                  <a:pt x="2701540" y="1118673"/>
                </a:lnTo>
                <a:lnTo>
                  <a:pt x="2757371" y="1108147"/>
                </a:lnTo>
                <a:lnTo>
                  <a:pt x="2811968" y="1073365"/>
                </a:lnTo>
                <a:lnTo>
                  <a:pt x="2846751" y="1018768"/>
                </a:lnTo>
                <a:lnTo>
                  <a:pt x="2857269" y="962940"/>
                </a:lnTo>
                <a:lnTo>
                  <a:pt x="2858583" y="923545"/>
                </a:lnTo>
                <a:lnTo>
                  <a:pt x="2858771" y="874695"/>
                </a:lnTo>
                <a:lnTo>
                  <a:pt x="2858771" y="245480"/>
                </a:lnTo>
                <a:lnTo>
                  <a:pt x="2858583" y="196631"/>
                </a:lnTo>
                <a:lnTo>
                  <a:pt x="2857269" y="157236"/>
                </a:lnTo>
                <a:lnTo>
                  <a:pt x="2846751" y="101408"/>
                </a:lnTo>
                <a:lnTo>
                  <a:pt x="2811968" y="46811"/>
                </a:lnTo>
                <a:lnTo>
                  <a:pt x="2757371" y="12030"/>
                </a:lnTo>
                <a:lnTo>
                  <a:pt x="2701540" y="1503"/>
                </a:lnTo>
                <a:lnTo>
                  <a:pt x="2662144" y="187"/>
                </a:lnTo>
                <a:lnTo>
                  <a:pt x="2613292" y="0"/>
                </a:lnTo>
                <a:close/>
              </a:path>
            </a:pathLst>
          </a:custGeom>
          <a:solidFill>
            <a:srgbClr val="FF95CA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7684D023-F82A-D89E-2ED6-FAC52063E70B}"/>
              </a:ext>
            </a:extLst>
          </p:cNvPr>
          <p:cNvGrpSpPr/>
          <p:nvPr/>
        </p:nvGrpSpPr>
        <p:grpSpPr>
          <a:xfrm>
            <a:off x="3578704" y="4537412"/>
            <a:ext cx="2278042" cy="679639"/>
            <a:chOff x="6400449" y="6516416"/>
            <a:chExt cx="3756660" cy="1120775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DF6DEE28-5172-F9AD-EAD8-3D247CC8CAE5}"/>
                </a:ext>
              </a:extLst>
            </p:cNvPr>
            <p:cNvSpPr/>
            <p:nvPr/>
          </p:nvSpPr>
          <p:spPr>
            <a:xfrm>
              <a:off x="6437097" y="6561178"/>
              <a:ext cx="3473450" cy="767080"/>
            </a:xfrm>
            <a:custGeom>
              <a:avLst/>
              <a:gdLst/>
              <a:ahLst/>
              <a:cxnLst/>
              <a:rect l="l" t="t" r="r" b="b"/>
              <a:pathLst>
                <a:path w="3473450" h="767079">
                  <a:moveTo>
                    <a:pt x="0" y="0"/>
                  </a:moveTo>
                  <a:lnTo>
                    <a:pt x="3437404" y="758904"/>
                  </a:lnTo>
                  <a:lnTo>
                    <a:pt x="3473191" y="766805"/>
                  </a:lnTo>
                </a:path>
              </a:pathLst>
            </a:custGeom>
            <a:ln w="7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4E6B4D25-4B63-1845-9E57-3923C8F481BD}"/>
                </a:ext>
              </a:extLst>
            </p:cNvPr>
            <p:cNvSpPr/>
            <p:nvPr/>
          </p:nvSpPr>
          <p:spPr>
            <a:xfrm>
              <a:off x="9843349" y="7178982"/>
              <a:ext cx="313690" cy="282575"/>
            </a:xfrm>
            <a:custGeom>
              <a:avLst/>
              <a:gdLst/>
              <a:ahLst/>
              <a:cxnLst/>
              <a:rect l="l" t="t" r="r" b="b"/>
              <a:pathLst>
                <a:path w="313690" h="282575">
                  <a:moveTo>
                    <a:pt x="62303" y="0"/>
                  </a:moveTo>
                  <a:lnTo>
                    <a:pt x="0" y="282200"/>
                  </a:lnTo>
                  <a:lnTo>
                    <a:pt x="313352" y="203404"/>
                  </a:lnTo>
                  <a:lnTo>
                    <a:pt x="623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476E0503-5208-7FB7-10B8-C8596D32A7B6}"/>
                </a:ext>
              </a:extLst>
            </p:cNvPr>
            <p:cNvSpPr/>
            <p:nvPr/>
          </p:nvSpPr>
          <p:spPr>
            <a:xfrm>
              <a:off x="6870755" y="6516416"/>
              <a:ext cx="2797175" cy="1120775"/>
            </a:xfrm>
            <a:custGeom>
              <a:avLst/>
              <a:gdLst/>
              <a:ahLst/>
              <a:cxnLst/>
              <a:rect l="l" t="t" r="r" b="b"/>
              <a:pathLst>
                <a:path w="2797175" h="1120775">
                  <a:moveTo>
                    <a:pt x="2551569" y="0"/>
                  </a:moveTo>
                  <a:lnTo>
                    <a:pt x="245481" y="0"/>
                  </a:lnTo>
                  <a:lnTo>
                    <a:pt x="196631" y="187"/>
                  </a:lnTo>
                  <a:lnTo>
                    <a:pt x="157236" y="1503"/>
                  </a:lnTo>
                  <a:lnTo>
                    <a:pt x="101408" y="12030"/>
                  </a:lnTo>
                  <a:lnTo>
                    <a:pt x="46812" y="46812"/>
                  </a:lnTo>
                  <a:lnTo>
                    <a:pt x="12030" y="101409"/>
                  </a:lnTo>
                  <a:lnTo>
                    <a:pt x="1503" y="157236"/>
                  </a:lnTo>
                  <a:lnTo>
                    <a:pt x="187" y="196631"/>
                  </a:lnTo>
                  <a:lnTo>
                    <a:pt x="0" y="245481"/>
                  </a:lnTo>
                  <a:lnTo>
                    <a:pt x="0" y="874696"/>
                  </a:lnTo>
                  <a:lnTo>
                    <a:pt x="187" y="923546"/>
                  </a:lnTo>
                  <a:lnTo>
                    <a:pt x="1503" y="962940"/>
                  </a:lnTo>
                  <a:lnTo>
                    <a:pt x="12030" y="1018768"/>
                  </a:lnTo>
                  <a:lnTo>
                    <a:pt x="46812" y="1073366"/>
                  </a:lnTo>
                  <a:lnTo>
                    <a:pt x="101408" y="1108148"/>
                  </a:lnTo>
                  <a:lnTo>
                    <a:pt x="157236" y="1118673"/>
                  </a:lnTo>
                  <a:lnTo>
                    <a:pt x="196631" y="1119989"/>
                  </a:lnTo>
                  <a:lnTo>
                    <a:pt x="245481" y="1120177"/>
                  </a:lnTo>
                  <a:lnTo>
                    <a:pt x="2551569" y="1120177"/>
                  </a:lnTo>
                  <a:lnTo>
                    <a:pt x="2600419" y="1119989"/>
                  </a:lnTo>
                  <a:lnTo>
                    <a:pt x="2639813" y="1118673"/>
                  </a:lnTo>
                  <a:lnTo>
                    <a:pt x="2695641" y="1108148"/>
                  </a:lnTo>
                  <a:lnTo>
                    <a:pt x="2750238" y="1073366"/>
                  </a:lnTo>
                  <a:lnTo>
                    <a:pt x="2785020" y="1018768"/>
                  </a:lnTo>
                  <a:lnTo>
                    <a:pt x="2795547" y="962940"/>
                  </a:lnTo>
                  <a:lnTo>
                    <a:pt x="2796862" y="923546"/>
                  </a:lnTo>
                  <a:lnTo>
                    <a:pt x="2797050" y="874696"/>
                  </a:lnTo>
                  <a:lnTo>
                    <a:pt x="2797050" y="245481"/>
                  </a:lnTo>
                  <a:lnTo>
                    <a:pt x="2796862" y="196631"/>
                  </a:lnTo>
                  <a:lnTo>
                    <a:pt x="2795547" y="157236"/>
                  </a:lnTo>
                  <a:lnTo>
                    <a:pt x="2785020" y="101409"/>
                  </a:lnTo>
                  <a:lnTo>
                    <a:pt x="2750238" y="46812"/>
                  </a:lnTo>
                  <a:lnTo>
                    <a:pt x="2695641" y="12030"/>
                  </a:lnTo>
                  <a:lnTo>
                    <a:pt x="2639813" y="1503"/>
                  </a:lnTo>
                  <a:lnTo>
                    <a:pt x="2600419" y="187"/>
                  </a:lnTo>
                  <a:lnTo>
                    <a:pt x="2551569" y="0"/>
                  </a:lnTo>
                  <a:close/>
                </a:path>
              </a:pathLst>
            </a:custGeom>
            <a:solidFill>
              <a:srgbClr val="FF95CA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4" name="object 14">
            <a:extLst>
              <a:ext uri="{FF2B5EF4-FFF2-40B4-BE49-F238E27FC236}">
                <a16:creationId xmlns:a16="http://schemas.microsoft.com/office/drawing/2014/main" id="{BA609F2B-DB8C-A055-6216-766EF1ADFB15}"/>
              </a:ext>
            </a:extLst>
          </p:cNvPr>
          <p:cNvGrpSpPr/>
          <p:nvPr/>
        </p:nvGrpSpPr>
        <p:grpSpPr>
          <a:xfrm>
            <a:off x="3576415" y="5370600"/>
            <a:ext cx="2302686" cy="679639"/>
            <a:chOff x="6396674" y="7890405"/>
            <a:chExt cx="3797300" cy="1120775"/>
          </a:xfrm>
        </p:grpSpPr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5C17CE77-B534-B3FA-89BC-BD3C080FBAD9}"/>
                </a:ext>
              </a:extLst>
            </p:cNvPr>
            <p:cNvSpPr/>
            <p:nvPr/>
          </p:nvSpPr>
          <p:spPr>
            <a:xfrm>
              <a:off x="6433322" y="8312258"/>
              <a:ext cx="3509645" cy="380365"/>
            </a:xfrm>
            <a:custGeom>
              <a:avLst/>
              <a:gdLst/>
              <a:ahLst/>
              <a:cxnLst/>
              <a:rect l="l" t="t" r="r" b="b"/>
              <a:pathLst>
                <a:path w="3509645" h="380365">
                  <a:moveTo>
                    <a:pt x="0" y="379754"/>
                  </a:moveTo>
                  <a:lnTo>
                    <a:pt x="3473038" y="3942"/>
                  </a:lnTo>
                  <a:lnTo>
                    <a:pt x="3509474" y="0"/>
                  </a:lnTo>
                </a:path>
              </a:pathLst>
            </a:custGeom>
            <a:ln w="7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21310D64-4875-3E61-CAD2-1C878A9AA6E7}"/>
                </a:ext>
              </a:extLst>
            </p:cNvPr>
            <p:cNvSpPr/>
            <p:nvPr/>
          </p:nvSpPr>
          <p:spPr>
            <a:xfrm>
              <a:off x="9890816" y="8172540"/>
              <a:ext cx="302895" cy="287655"/>
            </a:xfrm>
            <a:custGeom>
              <a:avLst/>
              <a:gdLst/>
              <a:ahLst/>
              <a:cxnLst/>
              <a:rect l="l" t="t" r="r" b="b"/>
              <a:pathLst>
                <a:path w="302895" h="287654">
                  <a:moveTo>
                    <a:pt x="0" y="0"/>
                  </a:moveTo>
                  <a:lnTo>
                    <a:pt x="31090" y="287320"/>
                  </a:lnTo>
                  <a:lnTo>
                    <a:pt x="302864" y="1125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47891712-B58B-0F30-E650-0D69E8A29677}"/>
                </a:ext>
              </a:extLst>
            </p:cNvPr>
            <p:cNvSpPr/>
            <p:nvPr/>
          </p:nvSpPr>
          <p:spPr>
            <a:xfrm>
              <a:off x="6870755" y="7890405"/>
              <a:ext cx="2797175" cy="1120775"/>
            </a:xfrm>
            <a:custGeom>
              <a:avLst/>
              <a:gdLst/>
              <a:ahLst/>
              <a:cxnLst/>
              <a:rect l="l" t="t" r="r" b="b"/>
              <a:pathLst>
                <a:path w="2797175" h="1120775">
                  <a:moveTo>
                    <a:pt x="2551569" y="0"/>
                  </a:moveTo>
                  <a:lnTo>
                    <a:pt x="245481" y="0"/>
                  </a:lnTo>
                  <a:lnTo>
                    <a:pt x="196631" y="187"/>
                  </a:lnTo>
                  <a:lnTo>
                    <a:pt x="157236" y="1503"/>
                  </a:lnTo>
                  <a:lnTo>
                    <a:pt x="101408" y="12030"/>
                  </a:lnTo>
                  <a:lnTo>
                    <a:pt x="46812" y="46812"/>
                  </a:lnTo>
                  <a:lnTo>
                    <a:pt x="12030" y="101408"/>
                  </a:lnTo>
                  <a:lnTo>
                    <a:pt x="1503" y="157236"/>
                  </a:lnTo>
                  <a:lnTo>
                    <a:pt x="187" y="196631"/>
                  </a:lnTo>
                  <a:lnTo>
                    <a:pt x="0" y="245481"/>
                  </a:lnTo>
                  <a:lnTo>
                    <a:pt x="0" y="874695"/>
                  </a:lnTo>
                  <a:lnTo>
                    <a:pt x="187" y="923545"/>
                  </a:lnTo>
                  <a:lnTo>
                    <a:pt x="1503" y="962940"/>
                  </a:lnTo>
                  <a:lnTo>
                    <a:pt x="12030" y="1018768"/>
                  </a:lnTo>
                  <a:lnTo>
                    <a:pt x="46812" y="1073365"/>
                  </a:lnTo>
                  <a:lnTo>
                    <a:pt x="101408" y="1108147"/>
                  </a:lnTo>
                  <a:lnTo>
                    <a:pt x="157236" y="1118673"/>
                  </a:lnTo>
                  <a:lnTo>
                    <a:pt x="196631" y="1119989"/>
                  </a:lnTo>
                  <a:lnTo>
                    <a:pt x="245481" y="1120177"/>
                  </a:lnTo>
                  <a:lnTo>
                    <a:pt x="2551569" y="1120177"/>
                  </a:lnTo>
                  <a:lnTo>
                    <a:pt x="2600419" y="1119989"/>
                  </a:lnTo>
                  <a:lnTo>
                    <a:pt x="2639813" y="1118673"/>
                  </a:lnTo>
                  <a:lnTo>
                    <a:pt x="2695641" y="1108147"/>
                  </a:lnTo>
                  <a:lnTo>
                    <a:pt x="2750238" y="1073365"/>
                  </a:lnTo>
                  <a:lnTo>
                    <a:pt x="2785020" y="1018768"/>
                  </a:lnTo>
                  <a:lnTo>
                    <a:pt x="2795547" y="962940"/>
                  </a:lnTo>
                  <a:lnTo>
                    <a:pt x="2796862" y="923545"/>
                  </a:lnTo>
                  <a:lnTo>
                    <a:pt x="2797050" y="874695"/>
                  </a:lnTo>
                  <a:lnTo>
                    <a:pt x="2797050" y="245481"/>
                  </a:lnTo>
                  <a:lnTo>
                    <a:pt x="2796862" y="196631"/>
                  </a:lnTo>
                  <a:lnTo>
                    <a:pt x="2795547" y="157236"/>
                  </a:lnTo>
                  <a:lnTo>
                    <a:pt x="2785020" y="101408"/>
                  </a:lnTo>
                  <a:lnTo>
                    <a:pt x="2750238" y="46812"/>
                  </a:lnTo>
                  <a:lnTo>
                    <a:pt x="2695641" y="12030"/>
                  </a:lnTo>
                  <a:lnTo>
                    <a:pt x="2639813" y="1503"/>
                  </a:lnTo>
                  <a:lnTo>
                    <a:pt x="2600419" y="187"/>
                  </a:lnTo>
                  <a:lnTo>
                    <a:pt x="2551569" y="0"/>
                  </a:lnTo>
                  <a:close/>
                </a:path>
              </a:pathLst>
            </a:custGeom>
            <a:solidFill>
              <a:srgbClr val="FF95CA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object 18">
            <a:extLst>
              <a:ext uri="{FF2B5EF4-FFF2-40B4-BE49-F238E27FC236}">
                <a16:creationId xmlns:a16="http://schemas.microsoft.com/office/drawing/2014/main" id="{0AA83CD1-8CEF-9CE8-EC05-BD9326D74659}"/>
              </a:ext>
            </a:extLst>
          </p:cNvPr>
          <p:cNvSpPr txBox="1"/>
          <p:nvPr/>
        </p:nvSpPr>
        <p:spPr>
          <a:xfrm>
            <a:off x="2962217" y="5519741"/>
            <a:ext cx="232579" cy="59998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defTabSz="554492">
              <a:spcBef>
                <a:spcPts val="58"/>
              </a:spcBef>
            </a:pPr>
            <a:r>
              <a:rPr sz="3851" i="1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x</a:t>
            </a:r>
            <a:endParaRPr sz="3851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0D706E9A-BF69-FCB0-DD28-E4B65C137845}"/>
              </a:ext>
            </a:extLst>
          </p:cNvPr>
          <p:cNvSpPr txBox="1"/>
          <p:nvPr/>
        </p:nvSpPr>
        <p:spPr>
          <a:xfrm>
            <a:off x="3162118" y="5783754"/>
            <a:ext cx="189067" cy="428152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 defTabSz="554492">
              <a:spcBef>
                <a:spcPts val="64"/>
              </a:spcBef>
            </a:pPr>
            <a:r>
              <a:rPr sz="2729" kern="0" spc="-30" dirty="0">
                <a:solidFill>
                  <a:sysClr val="windowText" lastClr="000000"/>
                </a:solidFill>
                <a:latin typeface="Book Antiqua"/>
                <a:cs typeface="Book Antiqua"/>
              </a:rPr>
              <a:t>2</a:t>
            </a:r>
            <a:endParaRPr sz="2729" kern="0">
              <a:solidFill>
                <a:sysClr val="windowText" lastClr="000000"/>
              </a:solidFill>
              <a:latin typeface="Book Antiqua"/>
              <a:cs typeface="Book Antiqua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E0821F23-9C21-84C0-F0E1-937DE52ABE93}"/>
              </a:ext>
            </a:extLst>
          </p:cNvPr>
          <p:cNvSpPr txBox="1"/>
          <p:nvPr/>
        </p:nvSpPr>
        <p:spPr>
          <a:xfrm>
            <a:off x="2910118" y="4065534"/>
            <a:ext cx="419720" cy="59998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23104" defTabSz="554492">
              <a:spcBef>
                <a:spcPts val="58"/>
              </a:spcBef>
            </a:pPr>
            <a:r>
              <a:rPr sz="3851" i="1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x</a:t>
            </a:r>
            <a:r>
              <a:rPr sz="4093" kern="0" spc="-22" baseline="-19753" dirty="0">
                <a:solidFill>
                  <a:sysClr val="windowText" lastClr="000000"/>
                </a:solidFill>
                <a:latin typeface="Book Antiqua"/>
                <a:cs typeface="Book Antiqua"/>
              </a:rPr>
              <a:t>1</a:t>
            </a:r>
            <a:endParaRPr sz="4093" kern="0" baseline="-19753">
              <a:solidFill>
                <a:sysClr val="windowText" lastClr="000000"/>
              </a:solidFill>
              <a:latin typeface="Book Antiqua"/>
              <a:cs typeface="Book Antiqua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67CB1EA6-2123-5007-D10A-B5B14FA2AD9C}"/>
              </a:ext>
            </a:extLst>
          </p:cNvPr>
          <p:cNvSpPr txBox="1"/>
          <p:nvPr/>
        </p:nvSpPr>
        <p:spPr>
          <a:xfrm>
            <a:off x="4294993" y="4748586"/>
            <a:ext cx="189067" cy="428152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 defTabSz="554492">
              <a:spcBef>
                <a:spcPts val="64"/>
              </a:spcBef>
            </a:pPr>
            <a:r>
              <a:rPr sz="2729" kern="0" spc="-30" dirty="0">
                <a:solidFill>
                  <a:sysClr val="windowText" lastClr="000000"/>
                </a:solidFill>
                <a:latin typeface="Book Antiqua"/>
                <a:cs typeface="Book Antiqua"/>
              </a:rPr>
              <a:t>1</a:t>
            </a:r>
            <a:endParaRPr sz="2729" kern="0">
              <a:solidFill>
                <a:sysClr val="windowText" lastClr="000000"/>
              </a:solidFill>
              <a:latin typeface="Book Antiqua"/>
              <a:cs typeface="Book Antiqua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1EB3F390-32D6-2926-91C8-43775295DACB}"/>
              </a:ext>
            </a:extLst>
          </p:cNvPr>
          <p:cNvSpPr txBox="1"/>
          <p:nvPr/>
        </p:nvSpPr>
        <p:spPr>
          <a:xfrm>
            <a:off x="3986064" y="4484572"/>
            <a:ext cx="1485194" cy="59998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defTabSz="554492">
              <a:spcBef>
                <a:spcPts val="58"/>
              </a:spcBef>
              <a:tabLst>
                <a:tab pos="625729" algn="l"/>
              </a:tabLst>
            </a:pPr>
            <a:r>
              <a:rPr sz="3851" i="1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3851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3851" kern="0" spc="191" dirty="0">
                <a:solidFill>
                  <a:sysClr val="windowText" lastClr="000000"/>
                </a:solidFill>
                <a:latin typeface="Book Antiqua"/>
                <a:cs typeface="Book Antiqua"/>
              </a:rPr>
              <a:t>:=</a:t>
            </a:r>
            <a:r>
              <a:rPr sz="3851" kern="0" spc="109" dirty="0">
                <a:solidFill>
                  <a:sysClr val="windowText" lastClr="000000"/>
                </a:solidFill>
                <a:latin typeface="Book Antiqua"/>
                <a:cs typeface="Book Antiqua"/>
              </a:rPr>
              <a:t> </a:t>
            </a:r>
            <a:r>
              <a:rPr sz="3851" kern="0" spc="-30" dirty="0">
                <a:solidFill>
                  <a:sysClr val="windowText" lastClr="000000"/>
                </a:solidFill>
                <a:latin typeface="Book Antiqua"/>
                <a:cs typeface="Book Antiqua"/>
              </a:rPr>
              <a:t>0</a:t>
            </a:r>
            <a:endParaRPr sz="3851" kern="0">
              <a:solidFill>
                <a:sysClr val="windowText" lastClr="000000"/>
              </a:solidFill>
              <a:latin typeface="Book Antiqua"/>
              <a:cs typeface="Book Antiqua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A4565F82-9D49-C45A-0933-9CA87026403E}"/>
              </a:ext>
            </a:extLst>
          </p:cNvPr>
          <p:cNvSpPr txBox="1">
            <a:spLocks/>
          </p:cNvSpPr>
          <p:nvPr/>
        </p:nvSpPr>
        <p:spPr>
          <a:xfrm>
            <a:off x="6424406" y="3338461"/>
            <a:ext cx="1733560" cy="493418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>
              <a:spcBef>
                <a:spcPts val="58"/>
              </a:spcBef>
            </a:pPr>
            <a:r>
              <a:rPr lang="en-US" sz="3851" i="1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r>
              <a:rPr lang="en-US" sz="3851" i="1" spc="9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851" spc="191">
                <a:solidFill>
                  <a:srgbClr val="000000"/>
                </a:solidFill>
                <a:latin typeface="Book Antiqua"/>
                <a:cs typeface="Book Antiqua"/>
              </a:rPr>
              <a:t>:=</a:t>
            </a:r>
            <a:r>
              <a:rPr lang="en-US" sz="3851" spc="97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lang="en-US" sz="3851" spc="-36">
                <a:solidFill>
                  <a:srgbClr val="000000"/>
                </a:solidFill>
                <a:latin typeface="Book Antiqua"/>
                <a:cs typeface="Book Antiqua"/>
              </a:rPr>
              <a:t>0</a:t>
            </a:r>
            <a:endParaRPr lang="en-US" sz="3851" dirty="0">
              <a:latin typeface="Book Antiqua"/>
              <a:cs typeface="Book Antiqua"/>
            </a:endParaRPr>
          </a:p>
        </p:txBody>
      </p:sp>
      <p:grpSp>
        <p:nvGrpSpPr>
          <p:cNvPr id="24" name="object 24">
            <a:extLst>
              <a:ext uri="{FF2B5EF4-FFF2-40B4-BE49-F238E27FC236}">
                <a16:creationId xmlns:a16="http://schemas.microsoft.com/office/drawing/2014/main" id="{EA197778-5A59-B9C4-1432-FE302137A3D1}"/>
              </a:ext>
            </a:extLst>
          </p:cNvPr>
          <p:cNvGrpSpPr/>
          <p:nvPr/>
        </p:nvGrpSpPr>
        <p:grpSpPr>
          <a:xfrm>
            <a:off x="6444756" y="3952587"/>
            <a:ext cx="175589" cy="806325"/>
            <a:chOff x="11126781" y="5551997"/>
            <a:chExt cx="289560" cy="1329690"/>
          </a:xfrm>
        </p:grpSpPr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044109A2-7DD5-D2A2-3B24-CA338BF1F18F}"/>
                </a:ext>
              </a:extLst>
            </p:cNvPr>
            <p:cNvSpPr/>
            <p:nvPr/>
          </p:nvSpPr>
          <p:spPr>
            <a:xfrm>
              <a:off x="11271279" y="5551997"/>
              <a:ext cx="0" cy="1077595"/>
            </a:xfrm>
            <a:custGeom>
              <a:avLst/>
              <a:gdLst/>
              <a:ahLst/>
              <a:cxnLst/>
              <a:rect l="l" t="t" r="r" b="b"/>
              <a:pathLst>
                <a:path h="1077595">
                  <a:moveTo>
                    <a:pt x="0" y="0"/>
                  </a:moveTo>
                  <a:lnTo>
                    <a:pt x="0" y="1040437"/>
                  </a:lnTo>
                  <a:lnTo>
                    <a:pt x="0" y="1077086"/>
                  </a:lnTo>
                </a:path>
              </a:pathLst>
            </a:custGeom>
            <a:ln w="7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1645173B-F3FE-76D9-6166-0092570B6E86}"/>
                </a:ext>
              </a:extLst>
            </p:cNvPr>
            <p:cNvSpPr/>
            <p:nvPr/>
          </p:nvSpPr>
          <p:spPr>
            <a:xfrm>
              <a:off x="11126781" y="6592435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59">
                  <a:moveTo>
                    <a:pt x="288996" y="0"/>
                  </a:moveTo>
                  <a:lnTo>
                    <a:pt x="0" y="0"/>
                  </a:lnTo>
                  <a:lnTo>
                    <a:pt x="144498" y="288996"/>
                  </a:lnTo>
                  <a:lnTo>
                    <a:pt x="2889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7" name="object 27">
            <a:extLst>
              <a:ext uri="{FF2B5EF4-FFF2-40B4-BE49-F238E27FC236}">
                <a16:creationId xmlns:a16="http://schemas.microsoft.com/office/drawing/2014/main" id="{AAFB53A6-BC5F-2562-96B3-9087A418E018}"/>
              </a:ext>
            </a:extLst>
          </p:cNvPr>
          <p:cNvSpPr txBox="1"/>
          <p:nvPr/>
        </p:nvSpPr>
        <p:spPr>
          <a:xfrm>
            <a:off x="4294993" y="5581775"/>
            <a:ext cx="189067" cy="428152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 defTabSz="554492">
              <a:spcBef>
                <a:spcPts val="64"/>
              </a:spcBef>
            </a:pPr>
            <a:r>
              <a:rPr sz="2729" kern="0" spc="-30" dirty="0">
                <a:solidFill>
                  <a:sysClr val="windowText" lastClr="000000"/>
                </a:solidFill>
                <a:latin typeface="Book Antiqua"/>
                <a:cs typeface="Book Antiqua"/>
              </a:rPr>
              <a:t>2</a:t>
            </a:r>
            <a:endParaRPr sz="2729" kern="0">
              <a:solidFill>
                <a:sysClr val="windowText" lastClr="000000"/>
              </a:solidFill>
              <a:latin typeface="Book Antiqua"/>
              <a:cs typeface="Book Antiqua"/>
            </a:endParaRPr>
          </a:p>
        </p:txBody>
      </p:sp>
      <p:sp>
        <p:nvSpPr>
          <p:cNvPr id="29" name="object 28">
            <a:extLst>
              <a:ext uri="{FF2B5EF4-FFF2-40B4-BE49-F238E27FC236}">
                <a16:creationId xmlns:a16="http://schemas.microsoft.com/office/drawing/2014/main" id="{88B011FA-B97D-6F6D-0892-6CB1814914D6}"/>
              </a:ext>
            </a:extLst>
          </p:cNvPr>
          <p:cNvSpPr txBox="1"/>
          <p:nvPr/>
        </p:nvSpPr>
        <p:spPr>
          <a:xfrm>
            <a:off x="3986064" y="5317761"/>
            <a:ext cx="1485194" cy="59998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defTabSz="554492">
              <a:spcBef>
                <a:spcPts val="58"/>
              </a:spcBef>
              <a:tabLst>
                <a:tab pos="625729" algn="l"/>
              </a:tabLst>
            </a:pPr>
            <a:r>
              <a:rPr sz="3851" i="1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3851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3851" kern="0" spc="191" dirty="0">
                <a:solidFill>
                  <a:sysClr val="windowText" lastClr="000000"/>
                </a:solidFill>
                <a:latin typeface="Book Antiqua"/>
                <a:cs typeface="Book Antiqua"/>
              </a:rPr>
              <a:t>:=</a:t>
            </a:r>
            <a:r>
              <a:rPr sz="3851" kern="0" spc="109" dirty="0">
                <a:solidFill>
                  <a:sysClr val="windowText" lastClr="000000"/>
                </a:solidFill>
                <a:latin typeface="Book Antiqua"/>
                <a:cs typeface="Book Antiqua"/>
              </a:rPr>
              <a:t> </a:t>
            </a:r>
            <a:r>
              <a:rPr sz="3851" kern="0" spc="-30" dirty="0">
                <a:solidFill>
                  <a:sysClr val="windowText" lastClr="000000"/>
                </a:solidFill>
                <a:latin typeface="Book Antiqua"/>
                <a:cs typeface="Book Antiqua"/>
              </a:rPr>
              <a:t>0</a:t>
            </a:r>
            <a:endParaRPr sz="3851" kern="0">
              <a:solidFill>
                <a:sysClr val="windowText" lastClr="000000"/>
              </a:solidFill>
              <a:latin typeface="Book Antiqua"/>
              <a:cs typeface="Book Antiqua"/>
            </a:endParaRPr>
          </a:p>
        </p:txBody>
      </p:sp>
      <p:sp>
        <p:nvSpPr>
          <p:cNvPr id="30" name="object 29">
            <a:extLst>
              <a:ext uri="{FF2B5EF4-FFF2-40B4-BE49-F238E27FC236}">
                <a16:creationId xmlns:a16="http://schemas.microsoft.com/office/drawing/2014/main" id="{ADDB9B61-1D36-5F23-201E-3A2DA8992ABC}"/>
              </a:ext>
            </a:extLst>
          </p:cNvPr>
          <p:cNvSpPr txBox="1"/>
          <p:nvPr/>
        </p:nvSpPr>
        <p:spPr>
          <a:xfrm>
            <a:off x="6038784" y="5064527"/>
            <a:ext cx="1201045" cy="534736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254527" marR="3081" indent="-254912" defTabSz="554492">
              <a:lnSpc>
                <a:spcPts val="2049"/>
              </a:lnSpc>
              <a:spcBef>
                <a:spcPts val="170"/>
              </a:spcBef>
            </a:pPr>
            <a:r>
              <a:rPr sz="1600" kern="0" dirty="0">
                <a:solidFill>
                  <a:srgbClr val="FFFFFF"/>
                </a:solidFill>
                <a:latin typeface="Helvetica Neue"/>
                <a:cs typeface="Helvetica Neue"/>
              </a:rPr>
              <a:t>Weighted sum</a:t>
            </a:r>
            <a:endParaRPr sz="1600" kern="0" dirty="0">
              <a:solidFill>
                <a:sysClr val="windowText" lastClr="000000"/>
              </a:solidFill>
              <a:latin typeface="Helvetica Neue"/>
              <a:cs typeface="Helvetica Neue"/>
            </a:endParaRPr>
          </a:p>
        </p:txBody>
      </p:sp>
      <p:grpSp>
        <p:nvGrpSpPr>
          <p:cNvPr id="31" name="object 31">
            <a:extLst>
              <a:ext uri="{FF2B5EF4-FFF2-40B4-BE49-F238E27FC236}">
                <a16:creationId xmlns:a16="http://schemas.microsoft.com/office/drawing/2014/main" id="{A29B1B11-3875-7AEE-67D9-6389D186837A}"/>
              </a:ext>
            </a:extLst>
          </p:cNvPr>
          <p:cNvGrpSpPr/>
          <p:nvPr/>
        </p:nvGrpSpPr>
        <p:grpSpPr>
          <a:xfrm>
            <a:off x="8506615" y="5269647"/>
            <a:ext cx="800549" cy="175589"/>
            <a:chOff x="14526939" y="7723926"/>
            <a:chExt cx="1320165" cy="289560"/>
          </a:xfrm>
        </p:grpSpPr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1BF98855-787E-45BE-6B14-7D243E933228}"/>
                </a:ext>
              </a:extLst>
            </p:cNvPr>
            <p:cNvSpPr/>
            <p:nvPr/>
          </p:nvSpPr>
          <p:spPr>
            <a:xfrm>
              <a:off x="14526939" y="7868424"/>
              <a:ext cx="1068070" cy="0"/>
            </a:xfrm>
            <a:custGeom>
              <a:avLst/>
              <a:gdLst/>
              <a:ahLst/>
              <a:cxnLst/>
              <a:rect l="l" t="t" r="r" b="b"/>
              <a:pathLst>
                <a:path w="1068069">
                  <a:moveTo>
                    <a:pt x="0" y="0"/>
                  </a:moveTo>
                  <a:lnTo>
                    <a:pt x="1031112" y="0"/>
                  </a:lnTo>
                  <a:lnTo>
                    <a:pt x="1067760" y="0"/>
                  </a:lnTo>
                </a:path>
              </a:pathLst>
            </a:custGeom>
            <a:ln w="7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00F3A053-DDDD-9EC7-A8C0-29F4330EE55C}"/>
                </a:ext>
              </a:extLst>
            </p:cNvPr>
            <p:cNvSpPr/>
            <p:nvPr/>
          </p:nvSpPr>
          <p:spPr>
            <a:xfrm>
              <a:off x="15558049" y="7723926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59">
                  <a:moveTo>
                    <a:pt x="0" y="0"/>
                  </a:moveTo>
                  <a:lnTo>
                    <a:pt x="0" y="288996"/>
                  </a:lnTo>
                  <a:lnTo>
                    <a:pt x="288996" y="14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4" name="object 23">
            <a:extLst>
              <a:ext uri="{FF2B5EF4-FFF2-40B4-BE49-F238E27FC236}">
                <a16:creationId xmlns:a16="http://schemas.microsoft.com/office/drawing/2014/main" id="{05A89742-371E-B15D-2531-43919CDB6E77}"/>
              </a:ext>
            </a:extLst>
          </p:cNvPr>
          <p:cNvSpPr txBox="1">
            <a:spLocks/>
          </p:cNvSpPr>
          <p:nvPr/>
        </p:nvSpPr>
        <p:spPr>
          <a:xfrm>
            <a:off x="9603038" y="5132994"/>
            <a:ext cx="1733560" cy="493418"/>
          </a:xfrm>
          <a:prstGeom prst="rect">
            <a:avLst/>
          </a:prstGeom>
        </p:spPr>
        <p:txBody>
          <a:bodyPr vert="horz" wrap="square" lIns="0" tIns="7316" rIns="0" bIns="0" rtlCol="0" anchor="ctr">
            <a:sp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>
              <a:spcBef>
                <a:spcPts val="58"/>
              </a:spcBef>
            </a:pPr>
            <a:r>
              <a:rPr lang="en-US" sz="3851" i="1" dirty="0">
                <a:solidFill>
                  <a:srgbClr val="000000"/>
                </a:solidFill>
                <a:latin typeface="Times New Roman"/>
                <a:cs typeface="Times New Roman"/>
              </a:rPr>
              <a:t>Z=y’</a:t>
            </a:r>
            <a:endParaRPr lang="en-US" sz="3851" dirty="0">
              <a:latin typeface="Book Antiqua"/>
              <a:cs typeface="Book Antiqua"/>
            </a:endParaRPr>
          </a:p>
        </p:txBody>
      </p:sp>
      <p:sp>
        <p:nvSpPr>
          <p:cNvPr id="35" name="object 3">
            <a:extLst>
              <a:ext uri="{FF2B5EF4-FFF2-40B4-BE49-F238E27FC236}">
                <a16:creationId xmlns:a16="http://schemas.microsoft.com/office/drawing/2014/main" id="{1E4F5C16-6961-C544-BA49-7A4B818BBE1E}"/>
              </a:ext>
            </a:extLst>
          </p:cNvPr>
          <p:cNvSpPr txBox="1"/>
          <p:nvPr/>
        </p:nvSpPr>
        <p:spPr>
          <a:xfrm>
            <a:off x="8789574" y="4265537"/>
            <a:ext cx="2525253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 defTabSz="554492">
              <a:spcBef>
                <a:spcPts val="73"/>
              </a:spcBef>
            </a:pPr>
            <a:r>
              <a:rPr lang="en-US" sz="2486" kern="0" spc="-45" dirty="0">
                <a:solidFill>
                  <a:sysClr val="windowText" lastClr="000000"/>
                </a:solidFill>
                <a:latin typeface="Tahoma"/>
                <a:cs typeface="Tahoma"/>
              </a:rPr>
              <a:t>Make Prediction</a:t>
            </a:r>
            <a:endParaRPr sz="2486" kern="0" dirty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04E47AF-5C18-CB84-C14D-CD90AB281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27" y="1301506"/>
            <a:ext cx="4220980" cy="2537613"/>
          </a:xfrm>
          <a:prstGeom prst="rect">
            <a:avLst/>
          </a:prstGeom>
        </p:spPr>
      </p:pic>
      <p:sp>
        <p:nvSpPr>
          <p:cNvPr id="37" name="object 4">
            <a:extLst>
              <a:ext uri="{FF2B5EF4-FFF2-40B4-BE49-F238E27FC236}">
                <a16:creationId xmlns:a16="http://schemas.microsoft.com/office/drawing/2014/main" id="{AF824339-8834-2A7C-CE9F-87B5250F71DD}"/>
              </a:ext>
            </a:extLst>
          </p:cNvPr>
          <p:cNvSpPr txBox="1"/>
          <p:nvPr/>
        </p:nvSpPr>
        <p:spPr>
          <a:xfrm>
            <a:off x="5315073" y="1058910"/>
            <a:ext cx="6591643" cy="1221835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 defTabSz="554492">
              <a:spcBef>
                <a:spcPts val="67"/>
              </a:spcBef>
            </a:pPr>
            <a:r>
              <a:rPr lang="en-US" sz="3942" b="1" kern="0" dirty="0">
                <a:solidFill>
                  <a:sysClr val="windowText" lastClr="000000"/>
                </a:solidFill>
                <a:latin typeface="Tahoma"/>
                <a:cs typeface="Tahoma"/>
              </a:rPr>
              <a:t>What is the model first prediction</a:t>
            </a:r>
            <a:endParaRPr sz="3942" kern="0" dirty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944020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803FE1-70F4-2776-6AC0-8B70D9E2D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D14C63-8712-C7B5-3C6F-BCC8ED97B304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5CE77E7-A7DE-D356-B242-3EA606E96809}"/>
              </a:ext>
            </a:extLst>
          </p:cNvPr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4EF9E09-AEF4-6459-186D-E8C8531A69BA}"/>
              </a:ext>
            </a:extLst>
          </p:cNvPr>
          <p:cNvSpPr/>
          <p:nvPr/>
        </p:nvSpPr>
        <p:spPr>
          <a:xfrm>
            <a:off x="502920" y="62179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regression: a first interpretable model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92AD973-A2D9-2247-5C02-997B260BBC00}"/>
              </a:ext>
            </a:extLst>
          </p:cNvPr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6A005A9-815B-2B83-4AD6-A4595F035F08}"/>
              </a:ext>
            </a:extLst>
          </p:cNvPr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8</a:t>
            </a:r>
            <a:endParaRPr lang="en-US" sz="800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92D9FCE2-1C17-D855-8A42-52B2D47D829B}"/>
              </a:ext>
            </a:extLst>
          </p:cNvPr>
          <p:cNvSpPr/>
          <p:nvPr/>
        </p:nvSpPr>
        <p:spPr>
          <a:xfrm>
            <a:off x="5656450" y="4239770"/>
            <a:ext cx="2525253" cy="1248379"/>
          </a:xfrm>
          <a:custGeom>
            <a:avLst/>
            <a:gdLst/>
            <a:ahLst/>
            <a:cxnLst/>
            <a:rect l="l" t="t" r="r" b="b"/>
            <a:pathLst>
              <a:path w="4164330" h="2058670">
                <a:moveTo>
                  <a:pt x="4163813" y="0"/>
                </a:moveTo>
                <a:lnTo>
                  <a:pt x="0" y="0"/>
                </a:lnTo>
                <a:lnTo>
                  <a:pt x="0" y="2058592"/>
                </a:lnTo>
                <a:lnTo>
                  <a:pt x="4163813" y="2058592"/>
                </a:lnTo>
                <a:lnTo>
                  <a:pt x="41638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AA4C097F-B288-E448-72AE-50DEE9430D28}"/>
              </a:ext>
            </a:extLst>
          </p:cNvPr>
          <p:cNvSpPr txBox="1"/>
          <p:nvPr/>
        </p:nvSpPr>
        <p:spPr>
          <a:xfrm>
            <a:off x="5766473" y="4433990"/>
            <a:ext cx="1002323" cy="276405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 defTabSz="554492">
              <a:spcBef>
                <a:spcPts val="82"/>
              </a:spcBef>
            </a:pPr>
            <a:r>
              <a:rPr sz="1728" kern="0" spc="118" dirty="0">
                <a:solidFill>
                  <a:srgbClr val="FFFFFF"/>
                </a:solidFill>
                <a:latin typeface="Tahoma"/>
                <a:cs typeface="Tahoma"/>
              </a:rPr>
              <a:t>Compute</a:t>
            </a:r>
            <a:endParaRPr sz="1728" kern="0" dirty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191A473F-D2F9-F8AC-A2C4-2A7E79D18329}"/>
              </a:ext>
            </a:extLst>
          </p:cNvPr>
          <p:cNvSpPr txBox="1"/>
          <p:nvPr/>
        </p:nvSpPr>
        <p:spPr>
          <a:xfrm>
            <a:off x="5986153" y="4700672"/>
            <a:ext cx="562964" cy="276405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 defTabSz="554492">
              <a:spcBef>
                <a:spcPts val="82"/>
              </a:spcBef>
            </a:pPr>
            <a:r>
              <a:rPr sz="1728" kern="0" spc="39" dirty="0">
                <a:solidFill>
                  <a:srgbClr val="FFFFFF"/>
                </a:solidFill>
                <a:latin typeface="Tahoma"/>
                <a:cs typeface="Tahoma"/>
              </a:rPr>
              <a:t>value</a:t>
            </a:r>
            <a:endParaRPr sz="1728" kern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grpSp>
        <p:nvGrpSpPr>
          <p:cNvPr id="9" name="object 13">
            <a:extLst>
              <a:ext uri="{FF2B5EF4-FFF2-40B4-BE49-F238E27FC236}">
                <a16:creationId xmlns:a16="http://schemas.microsoft.com/office/drawing/2014/main" id="{F9F37155-3D4F-4C07-D0D5-7A00EEBCC99B}"/>
              </a:ext>
            </a:extLst>
          </p:cNvPr>
          <p:cNvGrpSpPr/>
          <p:nvPr/>
        </p:nvGrpSpPr>
        <p:grpSpPr>
          <a:xfrm>
            <a:off x="8181703" y="4811963"/>
            <a:ext cx="940328" cy="175589"/>
            <a:chOff x="13544624" y="6898700"/>
            <a:chExt cx="1550670" cy="289560"/>
          </a:xfrm>
        </p:grpSpPr>
        <p:sp>
          <p:nvSpPr>
            <p:cNvPr id="10" name="object 14">
              <a:extLst>
                <a:ext uri="{FF2B5EF4-FFF2-40B4-BE49-F238E27FC236}">
                  <a16:creationId xmlns:a16="http://schemas.microsoft.com/office/drawing/2014/main" id="{697ABB06-7D67-D680-EA1A-5FFE19B45BCE}"/>
                </a:ext>
              </a:extLst>
            </p:cNvPr>
            <p:cNvSpPr/>
            <p:nvPr/>
          </p:nvSpPr>
          <p:spPr>
            <a:xfrm>
              <a:off x="13801895" y="7043198"/>
              <a:ext cx="1041400" cy="0"/>
            </a:xfrm>
            <a:custGeom>
              <a:avLst/>
              <a:gdLst/>
              <a:ahLst/>
              <a:cxnLst/>
              <a:rect l="l" t="t" r="r" b="b"/>
              <a:pathLst>
                <a:path w="1041400">
                  <a:moveTo>
                    <a:pt x="0" y="0"/>
                  </a:moveTo>
                  <a:lnTo>
                    <a:pt x="1040848" y="0"/>
                  </a:lnTo>
                </a:path>
              </a:pathLst>
            </a:custGeom>
            <a:ln w="7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object 15">
              <a:extLst>
                <a:ext uri="{FF2B5EF4-FFF2-40B4-BE49-F238E27FC236}">
                  <a16:creationId xmlns:a16="http://schemas.microsoft.com/office/drawing/2014/main" id="{FEBEFF64-FAEF-67F8-10F9-FEB316347714}"/>
                </a:ext>
              </a:extLst>
            </p:cNvPr>
            <p:cNvSpPr/>
            <p:nvPr/>
          </p:nvSpPr>
          <p:spPr>
            <a:xfrm>
              <a:off x="14806093" y="6898700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59">
                  <a:moveTo>
                    <a:pt x="0" y="0"/>
                  </a:moveTo>
                  <a:lnTo>
                    <a:pt x="0" y="288996"/>
                  </a:lnTo>
                  <a:lnTo>
                    <a:pt x="288996" y="14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16">
              <a:extLst>
                <a:ext uri="{FF2B5EF4-FFF2-40B4-BE49-F238E27FC236}">
                  <a16:creationId xmlns:a16="http://schemas.microsoft.com/office/drawing/2014/main" id="{020DF9BF-7C0C-A270-8186-5ACF04A57CB7}"/>
                </a:ext>
              </a:extLst>
            </p:cNvPr>
            <p:cNvSpPr/>
            <p:nvPr/>
          </p:nvSpPr>
          <p:spPr>
            <a:xfrm>
              <a:off x="13544624" y="7043198"/>
              <a:ext cx="257810" cy="0"/>
            </a:xfrm>
            <a:custGeom>
              <a:avLst/>
              <a:gdLst/>
              <a:ahLst/>
              <a:cxnLst/>
              <a:rect l="l" t="t" r="r" b="b"/>
              <a:pathLst>
                <a:path w="257809">
                  <a:moveTo>
                    <a:pt x="0" y="0"/>
                  </a:moveTo>
                  <a:lnTo>
                    <a:pt x="257271" y="0"/>
                  </a:lnTo>
                </a:path>
              </a:pathLst>
            </a:custGeom>
            <a:ln w="732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3" name="object 18">
            <a:extLst>
              <a:ext uri="{FF2B5EF4-FFF2-40B4-BE49-F238E27FC236}">
                <a16:creationId xmlns:a16="http://schemas.microsoft.com/office/drawing/2014/main" id="{113D1D1D-9A4F-C158-D003-00816B78578E}"/>
              </a:ext>
            </a:extLst>
          </p:cNvPr>
          <p:cNvGrpSpPr/>
          <p:nvPr/>
        </p:nvGrpSpPr>
        <p:grpSpPr>
          <a:xfrm>
            <a:off x="3332038" y="2450115"/>
            <a:ext cx="5189883" cy="2366992"/>
            <a:chOff x="5806896" y="2413433"/>
            <a:chExt cx="8558501" cy="3903345"/>
          </a:xfrm>
        </p:grpSpPr>
        <p:sp>
          <p:nvSpPr>
            <p:cNvPr id="14" name="object 19">
              <a:extLst>
                <a:ext uri="{FF2B5EF4-FFF2-40B4-BE49-F238E27FC236}">
                  <a16:creationId xmlns:a16="http://schemas.microsoft.com/office/drawing/2014/main" id="{844FA761-0E5F-24EB-4F3C-CDAA597F1F92}"/>
                </a:ext>
              </a:extLst>
            </p:cNvPr>
            <p:cNvSpPr/>
            <p:nvPr/>
          </p:nvSpPr>
          <p:spPr>
            <a:xfrm>
              <a:off x="7811563" y="2413433"/>
              <a:ext cx="6553834" cy="3903345"/>
            </a:xfrm>
            <a:custGeom>
              <a:avLst/>
              <a:gdLst/>
              <a:ahLst/>
              <a:cxnLst/>
              <a:rect l="l" t="t" r="r" b="b"/>
              <a:pathLst>
                <a:path w="6553834" h="3903345">
                  <a:moveTo>
                    <a:pt x="0" y="3903094"/>
                  </a:moveTo>
                  <a:lnTo>
                    <a:pt x="6553236" y="0"/>
                  </a:lnTo>
                </a:path>
              </a:pathLst>
            </a:custGeom>
            <a:ln w="8376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object 20">
              <a:extLst>
                <a:ext uri="{FF2B5EF4-FFF2-40B4-BE49-F238E27FC236}">
                  <a16:creationId xmlns:a16="http://schemas.microsoft.com/office/drawing/2014/main" id="{9A47498C-0769-27C5-77EE-147FFBDC8078}"/>
                </a:ext>
              </a:extLst>
            </p:cNvPr>
            <p:cNvSpPr/>
            <p:nvPr/>
          </p:nvSpPr>
          <p:spPr>
            <a:xfrm>
              <a:off x="5806896" y="5127854"/>
              <a:ext cx="3473450" cy="767080"/>
            </a:xfrm>
            <a:custGeom>
              <a:avLst/>
              <a:gdLst/>
              <a:ahLst/>
              <a:cxnLst/>
              <a:rect l="l" t="t" r="r" b="b"/>
              <a:pathLst>
                <a:path w="3473450" h="767079">
                  <a:moveTo>
                    <a:pt x="0" y="0"/>
                  </a:moveTo>
                  <a:lnTo>
                    <a:pt x="3437404" y="758904"/>
                  </a:lnTo>
                  <a:lnTo>
                    <a:pt x="3473191" y="766805"/>
                  </a:lnTo>
                </a:path>
              </a:pathLst>
            </a:custGeom>
            <a:ln w="7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21">
              <a:extLst>
                <a:ext uri="{FF2B5EF4-FFF2-40B4-BE49-F238E27FC236}">
                  <a16:creationId xmlns:a16="http://schemas.microsoft.com/office/drawing/2014/main" id="{F0788E94-50B8-4FC4-9AD0-92DF94D8A8BB}"/>
                </a:ext>
              </a:extLst>
            </p:cNvPr>
            <p:cNvSpPr/>
            <p:nvPr/>
          </p:nvSpPr>
          <p:spPr>
            <a:xfrm>
              <a:off x="9213148" y="5745658"/>
              <a:ext cx="313690" cy="282575"/>
            </a:xfrm>
            <a:custGeom>
              <a:avLst/>
              <a:gdLst/>
              <a:ahLst/>
              <a:cxnLst/>
              <a:rect l="l" t="t" r="r" b="b"/>
              <a:pathLst>
                <a:path w="313690" h="282575">
                  <a:moveTo>
                    <a:pt x="62303" y="0"/>
                  </a:moveTo>
                  <a:lnTo>
                    <a:pt x="0" y="282200"/>
                  </a:lnTo>
                  <a:lnTo>
                    <a:pt x="313352" y="203404"/>
                  </a:lnTo>
                  <a:lnTo>
                    <a:pt x="623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7" name="object 25">
              <a:extLst>
                <a:ext uri="{FF2B5EF4-FFF2-40B4-BE49-F238E27FC236}">
                  <a16:creationId xmlns:a16="http://schemas.microsoft.com/office/drawing/2014/main" id="{EC07FB06-1492-439F-5092-849664F508E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0554" y="5011534"/>
              <a:ext cx="3003228" cy="1191735"/>
            </a:xfrm>
            <a:prstGeom prst="rect">
              <a:avLst/>
            </a:prstGeom>
          </p:spPr>
        </p:pic>
        <p:pic>
          <p:nvPicPr>
            <p:cNvPr id="18" name="object 26">
              <a:extLst>
                <a:ext uri="{FF2B5EF4-FFF2-40B4-BE49-F238E27FC236}">
                  <a16:creationId xmlns:a16="http://schemas.microsoft.com/office/drawing/2014/main" id="{0708717F-C037-55D0-669A-7052EA56AE6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61323" y="2851366"/>
              <a:ext cx="2920650" cy="1262612"/>
            </a:xfrm>
            <a:prstGeom prst="rect">
              <a:avLst/>
            </a:prstGeom>
          </p:spPr>
        </p:pic>
      </p:grpSp>
      <p:sp>
        <p:nvSpPr>
          <p:cNvPr id="19" name="object 27">
            <a:extLst>
              <a:ext uri="{FF2B5EF4-FFF2-40B4-BE49-F238E27FC236}">
                <a16:creationId xmlns:a16="http://schemas.microsoft.com/office/drawing/2014/main" id="{21E2614A-D341-AA62-4624-7648FFCE2338}"/>
              </a:ext>
            </a:extLst>
          </p:cNvPr>
          <p:cNvSpPr/>
          <p:nvPr/>
        </p:nvSpPr>
        <p:spPr>
          <a:xfrm>
            <a:off x="2425810" y="3660601"/>
            <a:ext cx="800549" cy="762043"/>
          </a:xfrm>
          <a:custGeom>
            <a:avLst/>
            <a:gdLst/>
            <a:ahLst/>
            <a:cxnLst/>
            <a:rect l="l" t="t" r="r" b="b"/>
            <a:pathLst>
              <a:path w="1320164" h="1256664">
                <a:moveTo>
                  <a:pt x="1126783" y="183957"/>
                </a:moveTo>
                <a:lnTo>
                  <a:pt x="1160335" y="218319"/>
                </a:lnTo>
                <a:lnTo>
                  <a:pt x="1190692" y="254400"/>
                </a:lnTo>
                <a:lnTo>
                  <a:pt x="1217854" y="292026"/>
                </a:lnTo>
                <a:lnTo>
                  <a:pt x="1241820" y="331025"/>
                </a:lnTo>
                <a:lnTo>
                  <a:pt x="1262590" y="371227"/>
                </a:lnTo>
                <a:lnTo>
                  <a:pt x="1280165" y="412460"/>
                </a:lnTo>
                <a:lnTo>
                  <a:pt x="1294545" y="454551"/>
                </a:lnTo>
                <a:lnTo>
                  <a:pt x="1305729" y="497329"/>
                </a:lnTo>
                <a:lnTo>
                  <a:pt x="1313717" y="540623"/>
                </a:lnTo>
                <a:lnTo>
                  <a:pt x="1318511" y="584260"/>
                </a:lnTo>
                <a:lnTo>
                  <a:pt x="1320108" y="628069"/>
                </a:lnTo>
                <a:lnTo>
                  <a:pt x="1318511" y="671877"/>
                </a:lnTo>
                <a:lnTo>
                  <a:pt x="1313717" y="715514"/>
                </a:lnTo>
                <a:lnTo>
                  <a:pt x="1305729" y="758808"/>
                </a:lnTo>
                <a:lnTo>
                  <a:pt x="1294545" y="801586"/>
                </a:lnTo>
                <a:lnTo>
                  <a:pt x="1280165" y="843677"/>
                </a:lnTo>
                <a:lnTo>
                  <a:pt x="1262590" y="884910"/>
                </a:lnTo>
                <a:lnTo>
                  <a:pt x="1241820" y="925112"/>
                </a:lnTo>
                <a:lnTo>
                  <a:pt x="1217854" y="964112"/>
                </a:lnTo>
                <a:lnTo>
                  <a:pt x="1190692" y="1001738"/>
                </a:lnTo>
                <a:lnTo>
                  <a:pt x="1160335" y="1037818"/>
                </a:lnTo>
                <a:lnTo>
                  <a:pt x="1126783" y="1072180"/>
                </a:lnTo>
                <a:lnTo>
                  <a:pt x="1090670" y="1104107"/>
                </a:lnTo>
                <a:lnTo>
                  <a:pt x="1052753" y="1132993"/>
                </a:lnTo>
                <a:lnTo>
                  <a:pt x="1013211" y="1158838"/>
                </a:lnTo>
                <a:lnTo>
                  <a:pt x="972225" y="1181643"/>
                </a:lnTo>
                <a:lnTo>
                  <a:pt x="929975" y="1201407"/>
                </a:lnTo>
                <a:lnTo>
                  <a:pt x="886643" y="1218130"/>
                </a:lnTo>
                <a:lnTo>
                  <a:pt x="842408" y="1231813"/>
                </a:lnTo>
                <a:lnTo>
                  <a:pt x="797451" y="1242455"/>
                </a:lnTo>
                <a:lnTo>
                  <a:pt x="751953" y="1250056"/>
                </a:lnTo>
                <a:lnTo>
                  <a:pt x="706094" y="1254617"/>
                </a:lnTo>
                <a:lnTo>
                  <a:pt x="660054" y="1256138"/>
                </a:lnTo>
                <a:lnTo>
                  <a:pt x="614014" y="1254617"/>
                </a:lnTo>
                <a:lnTo>
                  <a:pt x="568155" y="1250056"/>
                </a:lnTo>
                <a:lnTo>
                  <a:pt x="522657" y="1242455"/>
                </a:lnTo>
                <a:lnTo>
                  <a:pt x="477700" y="1231813"/>
                </a:lnTo>
                <a:lnTo>
                  <a:pt x="433465" y="1218130"/>
                </a:lnTo>
                <a:lnTo>
                  <a:pt x="390133" y="1201407"/>
                </a:lnTo>
                <a:lnTo>
                  <a:pt x="347883" y="1181643"/>
                </a:lnTo>
                <a:lnTo>
                  <a:pt x="306897" y="1158838"/>
                </a:lnTo>
                <a:lnTo>
                  <a:pt x="267355" y="1132993"/>
                </a:lnTo>
                <a:lnTo>
                  <a:pt x="229438" y="1104107"/>
                </a:lnTo>
                <a:lnTo>
                  <a:pt x="193325" y="1072180"/>
                </a:lnTo>
                <a:lnTo>
                  <a:pt x="159773" y="1037818"/>
                </a:lnTo>
                <a:lnTo>
                  <a:pt x="129416" y="1001738"/>
                </a:lnTo>
                <a:lnTo>
                  <a:pt x="102254" y="964112"/>
                </a:lnTo>
                <a:lnTo>
                  <a:pt x="78288" y="925112"/>
                </a:lnTo>
                <a:lnTo>
                  <a:pt x="57518" y="884910"/>
                </a:lnTo>
                <a:lnTo>
                  <a:pt x="39943" y="843677"/>
                </a:lnTo>
                <a:lnTo>
                  <a:pt x="25563" y="801586"/>
                </a:lnTo>
                <a:lnTo>
                  <a:pt x="14379" y="758808"/>
                </a:lnTo>
                <a:lnTo>
                  <a:pt x="6390" y="715514"/>
                </a:lnTo>
                <a:lnTo>
                  <a:pt x="1597" y="671877"/>
                </a:lnTo>
                <a:lnTo>
                  <a:pt x="0" y="628069"/>
                </a:lnTo>
                <a:lnTo>
                  <a:pt x="1597" y="584260"/>
                </a:lnTo>
                <a:lnTo>
                  <a:pt x="6390" y="540623"/>
                </a:lnTo>
                <a:lnTo>
                  <a:pt x="14379" y="497329"/>
                </a:lnTo>
                <a:lnTo>
                  <a:pt x="25563" y="454551"/>
                </a:lnTo>
                <a:lnTo>
                  <a:pt x="39943" y="412460"/>
                </a:lnTo>
                <a:lnTo>
                  <a:pt x="57518" y="371227"/>
                </a:lnTo>
                <a:lnTo>
                  <a:pt x="78288" y="331025"/>
                </a:lnTo>
                <a:lnTo>
                  <a:pt x="102254" y="292026"/>
                </a:lnTo>
                <a:lnTo>
                  <a:pt x="129416" y="254400"/>
                </a:lnTo>
                <a:lnTo>
                  <a:pt x="159773" y="218319"/>
                </a:lnTo>
                <a:lnTo>
                  <a:pt x="193325" y="183957"/>
                </a:lnTo>
                <a:lnTo>
                  <a:pt x="229438" y="152030"/>
                </a:lnTo>
                <a:lnTo>
                  <a:pt x="267355" y="123144"/>
                </a:lnTo>
                <a:lnTo>
                  <a:pt x="306897" y="97299"/>
                </a:lnTo>
                <a:lnTo>
                  <a:pt x="347883" y="74495"/>
                </a:lnTo>
                <a:lnTo>
                  <a:pt x="390133" y="54731"/>
                </a:lnTo>
                <a:lnTo>
                  <a:pt x="433465" y="38007"/>
                </a:lnTo>
                <a:lnTo>
                  <a:pt x="477700" y="24324"/>
                </a:lnTo>
                <a:lnTo>
                  <a:pt x="522657" y="13682"/>
                </a:lnTo>
                <a:lnTo>
                  <a:pt x="568155" y="6081"/>
                </a:lnTo>
                <a:lnTo>
                  <a:pt x="614014" y="1520"/>
                </a:lnTo>
                <a:lnTo>
                  <a:pt x="660054" y="0"/>
                </a:lnTo>
                <a:lnTo>
                  <a:pt x="706094" y="1520"/>
                </a:lnTo>
                <a:lnTo>
                  <a:pt x="751953" y="6081"/>
                </a:lnTo>
                <a:lnTo>
                  <a:pt x="797451" y="13682"/>
                </a:lnTo>
                <a:lnTo>
                  <a:pt x="842408" y="24324"/>
                </a:lnTo>
                <a:lnTo>
                  <a:pt x="886643" y="38007"/>
                </a:lnTo>
                <a:lnTo>
                  <a:pt x="929975" y="54731"/>
                </a:lnTo>
                <a:lnTo>
                  <a:pt x="972225" y="74495"/>
                </a:lnTo>
                <a:lnTo>
                  <a:pt x="1013211" y="97299"/>
                </a:lnTo>
                <a:lnTo>
                  <a:pt x="1052753" y="123144"/>
                </a:lnTo>
                <a:lnTo>
                  <a:pt x="1090670" y="152030"/>
                </a:lnTo>
                <a:lnTo>
                  <a:pt x="1126783" y="183957"/>
                </a:lnTo>
                <a:close/>
              </a:path>
            </a:pathLst>
          </a:custGeom>
          <a:ln w="732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20" name="object 31">
            <a:extLst>
              <a:ext uri="{FF2B5EF4-FFF2-40B4-BE49-F238E27FC236}">
                <a16:creationId xmlns:a16="http://schemas.microsoft.com/office/drawing/2014/main" id="{3C4EE22C-B400-DC8E-A0E4-4629EC809207}"/>
              </a:ext>
            </a:extLst>
          </p:cNvPr>
          <p:cNvSpPr txBox="1"/>
          <p:nvPr/>
        </p:nvSpPr>
        <p:spPr>
          <a:xfrm>
            <a:off x="2641229" y="3597121"/>
            <a:ext cx="419720" cy="59998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23104" defTabSz="554492">
              <a:spcBef>
                <a:spcPts val="58"/>
              </a:spcBef>
            </a:pPr>
            <a:r>
              <a:rPr sz="3851" i="1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x</a:t>
            </a:r>
            <a:r>
              <a:rPr sz="4093" kern="0" spc="-22" baseline="-19753" dirty="0">
                <a:solidFill>
                  <a:sysClr val="windowText" lastClr="000000"/>
                </a:solidFill>
                <a:latin typeface="Garamond"/>
                <a:cs typeface="Garamond"/>
              </a:rPr>
              <a:t>1</a:t>
            </a:r>
            <a:endParaRPr sz="4093" kern="0" baseline="-19753">
              <a:solidFill>
                <a:sysClr val="windowText" lastClr="000000"/>
              </a:solidFill>
              <a:latin typeface="Garamond"/>
              <a:cs typeface="Garamond"/>
            </a:endParaRPr>
          </a:p>
        </p:txBody>
      </p:sp>
      <p:sp>
        <p:nvSpPr>
          <p:cNvPr id="21" name="object 32">
            <a:extLst>
              <a:ext uri="{FF2B5EF4-FFF2-40B4-BE49-F238E27FC236}">
                <a16:creationId xmlns:a16="http://schemas.microsoft.com/office/drawing/2014/main" id="{C0B37F29-E42E-FAE3-3AFD-9AA2038966ED}"/>
              </a:ext>
            </a:extLst>
          </p:cNvPr>
          <p:cNvSpPr txBox="1">
            <a:spLocks/>
          </p:cNvSpPr>
          <p:nvPr/>
        </p:nvSpPr>
        <p:spPr>
          <a:xfrm>
            <a:off x="6155516" y="2868510"/>
            <a:ext cx="2366403" cy="49649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>
              <a:spcBef>
                <a:spcPts val="58"/>
              </a:spcBef>
            </a:pPr>
            <a:r>
              <a:rPr lang="en-US" sz="3851" i="1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r>
              <a:rPr lang="en-US" sz="3851" i="1" spc="9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851" spc="136">
                <a:solidFill>
                  <a:srgbClr val="000000"/>
                </a:solidFill>
                <a:latin typeface="Garamond"/>
                <a:cs typeface="Garamond"/>
              </a:rPr>
              <a:t>:=</a:t>
            </a:r>
            <a:r>
              <a:rPr lang="en-US" sz="3851" spc="100">
                <a:solidFill>
                  <a:srgbClr val="000000"/>
                </a:solidFill>
                <a:latin typeface="Garamond"/>
                <a:cs typeface="Garamond"/>
              </a:rPr>
              <a:t> </a:t>
            </a:r>
            <a:r>
              <a:rPr lang="en-US" sz="3851" spc="76">
                <a:solidFill>
                  <a:srgbClr val="000000"/>
                </a:solidFill>
                <a:latin typeface="Garamond"/>
                <a:cs typeface="Garamond"/>
              </a:rPr>
              <a:t>0</a:t>
            </a:r>
            <a:endParaRPr lang="en-US" sz="3851" dirty="0">
              <a:latin typeface="Garamond"/>
              <a:cs typeface="Garamond"/>
            </a:endParaRPr>
          </a:p>
        </p:txBody>
      </p:sp>
      <p:grpSp>
        <p:nvGrpSpPr>
          <p:cNvPr id="22" name="object 33">
            <a:extLst>
              <a:ext uri="{FF2B5EF4-FFF2-40B4-BE49-F238E27FC236}">
                <a16:creationId xmlns:a16="http://schemas.microsoft.com/office/drawing/2014/main" id="{538C495E-DE45-D62F-628C-D793D5DA376C}"/>
              </a:ext>
            </a:extLst>
          </p:cNvPr>
          <p:cNvGrpSpPr/>
          <p:nvPr/>
        </p:nvGrpSpPr>
        <p:grpSpPr>
          <a:xfrm>
            <a:off x="6175850" y="3484172"/>
            <a:ext cx="175589" cy="806511"/>
            <a:chOff x="10496580" y="4118673"/>
            <a:chExt cx="289560" cy="1329997"/>
          </a:xfrm>
        </p:grpSpPr>
        <p:sp>
          <p:nvSpPr>
            <p:cNvPr id="23" name="object 34">
              <a:extLst>
                <a:ext uri="{FF2B5EF4-FFF2-40B4-BE49-F238E27FC236}">
                  <a16:creationId xmlns:a16="http://schemas.microsoft.com/office/drawing/2014/main" id="{16FE8DEE-642B-5038-E768-FC03E12C2463}"/>
                </a:ext>
              </a:extLst>
            </p:cNvPr>
            <p:cNvSpPr/>
            <p:nvPr/>
          </p:nvSpPr>
          <p:spPr>
            <a:xfrm>
              <a:off x="10641079" y="4118673"/>
              <a:ext cx="0" cy="1077595"/>
            </a:xfrm>
            <a:custGeom>
              <a:avLst/>
              <a:gdLst/>
              <a:ahLst/>
              <a:cxnLst/>
              <a:rect l="l" t="t" r="r" b="b"/>
              <a:pathLst>
                <a:path h="1077595">
                  <a:moveTo>
                    <a:pt x="0" y="0"/>
                  </a:moveTo>
                  <a:lnTo>
                    <a:pt x="0" y="1040437"/>
                  </a:lnTo>
                  <a:lnTo>
                    <a:pt x="0" y="1077086"/>
                  </a:lnTo>
                </a:path>
              </a:pathLst>
            </a:custGeom>
            <a:ln w="7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object 35">
              <a:extLst>
                <a:ext uri="{FF2B5EF4-FFF2-40B4-BE49-F238E27FC236}">
                  <a16:creationId xmlns:a16="http://schemas.microsoft.com/office/drawing/2014/main" id="{82D19639-CBDE-B3F3-8862-B594EAB6DCC1}"/>
                </a:ext>
              </a:extLst>
            </p:cNvPr>
            <p:cNvSpPr/>
            <p:nvPr/>
          </p:nvSpPr>
          <p:spPr>
            <a:xfrm>
              <a:off x="10496580" y="5159110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288996" y="0"/>
                  </a:moveTo>
                  <a:lnTo>
                    <a:pt x="0" y="0"/>
                  </a:lnTo>
                  <a:lnTo>
                    <a:pt x="144498" y="288996"/>
                  </a:lnTo>
                  <a:lnTo>
                    <a:pt x="2889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5" name="object 37">
            <a:extLst>
              <a:ext uri="{FF2B5EF4-FFF2-40B4-BE49-F238E27FC236}">
                <a16:creationId xmlns:a16="http://schemas.microsoft.com/office/drawing/2014/main" id="{E17D4898-5DE8-2B93-9165-D29AF468161F}"/>
              </a:ext>
            </a:extLst>
          </p:cNvPr>
          <p:cNvSpPr txBox="1"/>
          <p:nvPr/>
        </p:nvSpPr>
        <p:spPr>
          <a:xfrm>
            <a:off x="3669076" y="3535844"/>
            <a:ext cx="2713165" cy="2785438"/>
          </a:xfrm>
          <a:prstGeom prst="rect">
            <a:avLst/>
          </a:prstGeom>
        </p:spPr>
        <p:txBody>
          <a:bodyPr vert="horz" wrap="square" lIns="0" tIns="65846" rIns="0" bIns="0" rtlCol="0">
            <a:spAutoFit/>
          </a:bodyPr>
          <a:lstStyle/>
          <a:p>
            <a:pPr marL="1055845" defTabSz="554492">
              <a:spcBef>
                <a:spcPts val="518"/>
              </a:spcBef>
            </a:pPr>
            <a:r>
              <a:rPr lang="en-US" sz="3002" kern="0" dirty="0">
                <a:solidFill>
                  <a:srgbClr val="EE220C"/>
                </a:solidFill>
                <a:latin typeface="Helvetica Neue"/>
                <a:cs typeface="Helvetica Neue"/>
              </a:rPr>
              <a:t>63</a:t>
            </a:r>
            <a:endParaRPr sz="3002" kern="0" dirty="0">
              <a:solidFill>
                <a:sysClr val="windowText" lastClr="000000"/>
              </a:solidFill>
              <a:latin typeface="Helvetica Neue"/>
              <a:cs typeface="Helvetica Neue"/>
            </a:endParaRPr>
          </a:p>
          <a:p>
            <a:pPr marL="30805" defTabSz="554492">
              <a:spcBef>
                <a:spcPts val="588"/>
              </a:spcBef>
              <a:tabLst>
                <a:tab pos="648833" algn="l"/>
              </a:tabLst>
            </a:pPr>
            <a:r>
              <a:rPr sz="3851" i="1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4093" kern="0" spc="-22" baseline="-19753" dirty="0">
                <a:solidFill>
                  <a:sysClr val="windowText" lastClr="000000"/>
                </a:solidFill>
                <a:latin typeface="Garamond"/>
                <a:cs typeface="Garamond"/>
              </a:rPr>
              <a:t>1</a:t>
            </a:r>
            <a:r>
              <a:rPr sz="4093" kern="0" baseline="-19753" dirty="0">
                <a:solidFill>
                  <a:sysClr val="windowText" lastClr="000000"/>
                </a:solidFill>
                <a:latin typeface="Garamond"/>
                <a:cs typeface="Garamond"/>
              </a:rPr>
              <a:t>	</a:t>
            </a:r>
            <a:r>
              <a:rPr sz="3851" kern="0" spc="136" dirty="0">
                <a:solidFill>
                  <a:sysClr val="windowText" lastClr="000000"/>
                </a:solidFill>
                <a:latin typeface="Garamond"/>
                <a:cs typeface="Garamond"/>
              </a:rPr>
              <a:t>:=</a:t>
            </a:r>
            <a:r>
              <a:rPr sz="3851" kern="0" spc="109" dirty="0">
                <a:solidFill>
                  <a:sysClr val="windowText" lastClr="000000"/>
                </a:solidFill>
                <a:latin typeface="Garamond"/>
                <a:cs typeface="Garamond"/>
              </a:rPr>
              <a:t> </a:t>
            </a:r>
            <a:r>
              <a:rPr sz="3851" kern="0" spc="76" dirty="0">
                <a:solidFill>
                  <a:sysClr val="windowText" lastClr="000000"/>
                </a:solidFill>
                <a:latin typeface="Garamond"/>
                <a:cs typeface="Garamond"/>
              </a:rPr>
              <a:t>0</a:t>
            </a:r>
            <a:endParaRPr sz="3851" kern="0" dirty="0">
              <a:solidFill>
                <a:sysClr val="windowText" lastClr="000000"/>
              </a:solidFill>
              <a:latin typeface="Garamond"/>
              <a:cs typeface="Garamond"/>
            </a:endParaRPr>
          </a:p>
          <a:p>
            <a:pPr marL="30805" defTabSz="554492">
              <a:spcBef>
                <a:spcPts val="1061"/>
              </a:spcBef>
              <a:tabLst>
                <a:tab pos="648833" algn="l"/>
                <a:tab pos="2455168" algn="l"/>
              </a:tabLst>
            </a:pPr>
            <a:r>
              <a:rPr sz="3851" kern="0" dirty="0">
                <a:solidFill>
                  <a:sysClr val="windowText" lastClr="000000"/>
                </a:solidFill>
                <a:latin typeface="Garamond"/>
                <a:cs typeface="Garamond"/>
              </a:rPr>
              <a:t>	</a:t>
            </a:r>
            <a:r>
              <a:rPr sz="4730" i="1" kern="0" spc="-30" dirty="0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sz="4730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989229" defTabSz="554492">
              <a:spcBef>
                <a:spcPts val="2049"/>
              </a:spcBef>
            </a:pPr>
            <a:r>
              <a:rPr sz="3002" kern="0" spc="-497" dirty="0">
                <a:solidFill>
                  <a:srgbClr val="EE220C"/>
                </a:solidFill>
                <a:latin typeface="Helvetica Neue"/>
                <a:cs typeface="Helvetica Neue"/>
              </a:rPr>
              <a:t>.</a:t>
            </a:r>
            <a:endParaRPr sz="3002" kern="0" dirty="0">
              <a:solidFill>
                <a:sysClr val="windowText" lastClr="000000"/>
              </a:solidFill>
              <a:latin typeface="Helvetica Neue"/>
              <a:cs typeface="Helvetica Neue"/>
            </a:endParaRPr>
          </a:p>
        </p:txBody>
      </p:sp>
      <p:sp>
        <p:nvSpPr>
          <p:cNvPr id="26" name="object 38">
            <a:extLst>
              <a:ext uri="{FF2B5EF4-FFF2-40B4-BE49-F238E27FC236}">
                <a16:creationId xmlns:a16="http://schemas.microsoft.com/office/drawing/2014/main" id="{74EA4200-5D85-A818-AA66-FE301BA1CCDA}"/>
              </a:ext>
            </a:extLst>
          </p:cNvPr>
          <p:cNvSpPr txBox="1"/>
          <p:nvPr/>
        </p:nvSpPr>
        <p:spPr>
          <a:xfrm>
            <a:off x="6972070" y="2087131"/>
            <a:ext cx="545251" cy="469373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defTabSz="554492">
              <a:spcBef>
                <a:spcPts val="58"/>
              </a:spcBef>
            </a:pPr>
            <a:r>
              <a:rPr sz="3002" kern="0" spc="-224" dirty="0">
                <a:solidFill>
                  <a:srgbClr val="EE220C"/>
                </a:solidFill>
                <a:latin typeface="Helvetica Neue"/>
                <a:cs typeface="Helvetica Neue"/>
              </a:rPr>
              <a:t>1</a:t>
            </a:r>
            <a:r>
              <a:rPr lang="en-US" sz="3002" kern="0" spc="-224" dirty="0">
                <a:solidFill>
                  <a:srgbClr val="EE220C"/>
                </a:solidFill>
                <a:latin typeface="Helvetica Neue"/>
                <a:cs typeface="Helvetica Neue"/>
              </a:rPr>
              <a:t>8</a:t>
            </a:r>
            <a:endParaRPr sz="3002" kern="0" dirty="0">
              <a:solidFill>
                <a:sysClr val="windowText" lastClr="000000"/>
              </a:solidFill>
              <a:latin typeface="Helvetica Neue"/>
              <a:cs typeface="Helvetica Neue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715817E-64B0-3A98-8B03-52FB3571439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168" t="3032" r="168" b="8970"/>
          <a:stretch/>
        </p:blipFill>
        <p:spPr>
          <a:xfrm>
            <a:off x="426009" y="2697671"/>
            <a:ext cx="2800350" cy="838173"/>
          </a:xfrm>
          <a:prstGeom prst="rect">
            <a:avLst/>
          </a:prstGeom>
        </p:spPr>
      </p:pic>
      <p:sp>
        <p:nvSpPr>
          <p:cNvPr id="29" name="object 137">
            <a:extLst>
              <a:ext uri="{FF2B5EF4-FFF2-40B4-BE49-F238E27FC236}">
                <a16:creationId xmlns:a16="http://schemas.microsoft.com/office/drawing/2014/main" id="{676C5F9F-ACDD-2A33-BA65-77A0A8A28557}"/>
              </a:ext>
            </a:extLst>
          </p:cNvPr>
          <p:cNvSpPr txBox="1">
            <a:spLocks/>
          </p:cNvSpPr>
          <p:nvPr/>
        </p:nvSpPr>
        <p:spPr>
          <a:xfrm>
            <a:off x="-1303702" y="1103498"/>
            <a:ext cx="12512162" cy="624107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>
            <a:lvl1pPr>
              <a:defRPr sz="2486" b="0" i="0">
                <a:solidFill>
                  <a:srgbClr val="929292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504060" lvl="2" defTabSz="554492">
              <a:tabLst>
                <a:tab pos="2152123" algn="l"/>
              </a:tabLst>
            </a:pPr>
            <a:r>
              <a:rPr lang="en-US" sz="4000" kern="0" spc="103">
                <a:solidFill>
                  <a:sysClr val="windowText" lastClr="000000"/>
                </a:solidFill>
                <a:latin typeface="Tahoma"/>
                <a:cs typeface="Tahoma"/>
              </a:rPr>
              <a:t>Update the weights based on the error</a:t>
            </a:r>
            <a:endParaRPr lang="en-US" sz="4000" kern="0" dirty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D4F163-A6BF-9E4A-F091-9170780E2DCD}"/>
              </a:ext>
            </a:extLst>
          </p:cNvPr>
          <p:cNvSpPr txBox="1"/>
          <p:nvPr/>
        </p:nvSpPr>
        <p:spPr>
          <a:xfrm>
            <a:off x="426009" y="2016688"/>
            <a:ext cx="6653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pc="82" dirty="0">
                <a:solidFill>
                  <a:srgbClr val="000000"/>
                </a:solidFill>
              </a:rPr>
              <a:t>For</a:t>
            </a:r>
            <a:r>
              <a:rPr lang="en-US" spc="-124" dirty="0">
                <a:solidFill>
                  <a:srgbClr val="000000"/>
                </a:solidFill>
              </a:rPr>
              <a:t> </a:t>
            </a:r>
            <a:r>
              <a:rPr lang="en-US" spc="58" dirty="0">
                <a:solidFill>
                  <a:srgbClr val="000000"/>
                </a:solidFill>
              </a:rPr>
              <a:t>where x1 = 3.5, and b = 0, and Error is 18</a:t>
            </a:r>
            <a:r>
              <a:rPr lang="en-US" spc="-124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31" name="object 3">
            <a:extLst>
              <a:ext uri="{FF2B5EF4-FFF2-40B4-BE49-F238E27FC236}">
                <a16:creationId xmlns:a16="http://schemas.microsoft.com/office/drawing/2014/main" id="{9632C307-C3FA-FD9E-EE97-C8C0A4EE079D}"/>
              </a:ext>
            </a:extLst>
          </p:cNvPr>
          <p:cNvSpPr txBox="1"/>
          <p:nvPr/>
        </p:nvSpPr>
        <p:spPr>
          <a:xfrm>
            <a:off x="9122249" y="4204586"/>
            <a:ext cx="2525253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 defTabSz="554492">
              <a:spcBef>
                <a:spcPts val="73"/>
              </a:spcBef>
            </a:pPr>
            <a:r>
              <a:rPr lang="en-US" sz="2486" kern="0" spc="-45" dirty="0">
                <a:solidFill>
                  <a:sysClr val="windowText" lastClr="000000"/>
                </a:solidFill>
                <a:latin typeface="Tahoma"/>
                <a:cs typeface="Tahoma"/>
              </a:rPr>
              <a:t>Make Prediction</a:t>
            </a:r>
            <a:endParaRPr sz="2486" kern="0" dirty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BAC9FFF-AC19-8EC4-E8BA-92BF3FFE70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400" y="5112292"/>
            <a:ext cx="2956432" cy="177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737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B920F8-A25B-DF75-EA8D-F8BCA4826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9B223D3-1A5C-DD66-8F84-DD7B248DAFC9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66B432-A6DF-2EB8-F8EF-99BC53DA7F5B}"/>
              </a:ext>
            </a:extLst>
          </p:cNvPr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EBD3F64-2E6E-B781-5AD0-3F7487E857D7}"/>
              </a:ext>
            </a:extLst>
          </p:cNvPr>
          <p:cNvSpPr/>
          <p:nvPr/>
        </p:nvSpPr>
        <p:spPr>
          <a:xfrm>
            <a:off x="502920" y="62179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regression: a first interpretable model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94E73A2-D5F1-D302-E8FD-EE64D2BF05EE}"/>
              </a:ext>
            </a:extLst>
          </p:cNvPr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3E7BB8F-F752-9462-5399-C18750E24775}"/>
              </a:ext>
            </a:extLst>
          </p:cNvPr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8</a:t>
            </a:r>
            <a:endParaRPr lang="en-US" sz="800" dirty="0"/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3933933D-C883-F313-C7CB-5D250BD9A01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15497" y="3994271"/>
            <a:ext cx="1565038" cy="599777"/>
          </a:xfrm>
          <a:prstGeom prst="rect">
            <a:avLst/>
          </a:prstGeom>
        </p:spPr>
      </p:pic>
      <p:grpSp>
        <p:nvGrpSpPr>
          <p:cNvPr id="7" name="object 4">
            <a:extLst>
              <a:ext uri="{FF2B5EF4-FFF2-40B4-BE49-F238E27FC236}">
                <a16:creationId xmlns:a16="http://schemas.microsoft.com/office/drawing/2014/main" id="{2ECF02F9-AF22-1888-C18C-7B6B8456D064}"/>
              </a:ext>
            </a:extLst>
          </p:cNvPr>
          <p:cNvGrpSpPr/>
          <p:nvPr/>
        </p:nvGrpSpPr>
        <p:grpSpPr>
          <a:xfrm>
            <a:off x="1970701" y="4047154"/>
            <a:ext cx="929161" cy="611868"/>
            <a:chOff x="1414310" y="5162832"/>
            <a:chExt cx="1532255" cy="1009015"/>
          </a:xfrm>
        </p:grpSpPr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3C47C299-66DA-1F41-E160-F6E2671D4A2D}"/>
                </a:ext>
              </a:extLst>
            </p:cNvPr>
            <p:cNvSpPr/>
            <p:nvPr/>
          </p:nvSpPr>
          <p:spPr>
            <a:xfrm>
              <a:off x="1456220" y="5820426"/>
              <a:ext cx="495300" cy="309245"/>
            </a:xfrm>
            <a:custGeom>
              <a:avLst/>
              <a:gdLst/>
              <a:ahLst/>
              <a:cxnLst/>
              <a:rect l="l" t="t" r="r" b="b"/>
              <a:pathLst>
                <a:path w="495300" h="309245">
                  <a:moveTo>
                    <a:pt x="0" y="308988"/>
                  </a:moveTo>
                  <a:lnTo>
                    <a:pt x="459755" y="22168"/>
                  </a:lnTo>
                  <a:lnTo>
                    <a:pt x="495291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9F2744A9-AD8E-8995-45A4-A6F3DD8B2745}"/>
                </a:ext>
              </a:extLst>
            </p:cNvPr>
            <p:cNvSpPr/>
            <p:nvPr/>
          </p:nvSpPr>
          <p:spPr>
            <a:xfrm>
              <a:off x="1829518" y="5669677"/>
              <a:ext cx="363855" cy="311785"/>
            </a:xfrm>
            <a:custGeom>
              <a:avLst/>
              <a:gdLst/>
              <a:ahLst/>
              <a:cxnLst/>
              <a:rect l="l" t="t" r="r" b="b"/>
              <a:pathLst>
                <a:path w="363855" h="311785">
                  <a:moveTo>
                    <a:pt x="363635" y="0"/>
                  </a:moveTo>
                  <a:lnTo>
                    <a:pt x="0" y="34328"/>
                  </a:lnTo>
                  <a:lnTo>
                    <a:pt x="172917" y="311505"/>
                  </a:lnTo>
                  <a:lnTo>
                    <a:pt x="3636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9652E45F-565A-D399-BFC2-48D44385423F}"/>
                </a:ext>
              </a:extLst>
            </p:cNvPr>
            <p:cNvSpPr/>
            <p:nvPr/>
          </p:nvSpPr>
          <p:spPr>
            <a:xfrm>
              <a:off x="2219613" y="5204742"/>
              <a:ext cx="685165" cy="685165"/>
            </a:xfrm>
            <a:custGeom>
              <a:avLst/>
              <a:gdLst/>
              <a:ahLst/>
              <a:cxnLst/>
              <a:rect l="l" t="t" r="r" b="b"/>
              <a:pathLst>
                <a:path w="685164" h="685164">
                  <a:moveTo>
                    <a:pt x="584618" y="100304"/>
                  </a:moveTo>
                  <a:lnTo>
                    <a:pt x="615267" y="135374"/>
                  </a:lnTo>
                  <a:lnTo>
                    <a:pt x="640343" y="173329"/>
                  </a:lnTo>
                  <a:lnTo>
                    <a:pt x="659847" y="213593"/>
                  </a:lnTo>
                  <a:lnTo>
                    <a:pt x="673778" y="255587"/>
                  </a:lnTo>
                  <a:lnTo>
                    <a:pt x="682137" y="298736"/>
                  </a:lnTo>
                  <a:lnTo>
                    <a:pt x="684923" y="342461"/>
                  </a:lnTo>
                  <a:lnTo>
                    <a:pt x="682137" y="386187"/>
                  </a:lnTo>
                  <a:lnTo>
                    <a:pt x="673778" y="429335"/>
                  </a:lnTo>
                  <a:lnTo>
                    <a:pt x="659847" y="471330"/>
                  </a:lnTo>
                  <a:lnTo>
                    <a:pt x="640343" y="511593"/>
                  </a:lnTo>
                  <a:lnTo>
                    <a:pt x="615267" y="549548"/>
                  </a:lnTo>
                  <a:lnTo>
                    <a:pt x="584618" y="584618"/>
                  </a:lnTo>
                  <a:lnTo>
                    <a:pt x="549548" y="615267"/>
                  </a:lnTo>
                  <a:lnTo>
                    <a:pt x="511593" y="640343"/>
                  </a:lnTo>
                  <a:lnTo>
                    <a:pt x="471330" y="659847"/>
                  </a:lnTo>
                  <a:lnTo>
                    <a:pt x="429335" y="673778"/>
                  </a:lnTo>
                  <a:lnTo>
                    <a:pt x="386187" y="682137"/>
                  </a:lnTo>
                  <a:lnTo>
                    <a:pt x="342461" y="684923"/>
                  </a:lnTo>
                  <a:lnTo>
                    <a:pt x="298736" y="682137"/>
                  </a:lnTo>
                  <a:lnTo>
                    <a:pt x="255587" y="673778"/>
                  </a:lnTo>
                  <a:lnTo>
                    <a:pt x="213593" y="659847"/>
                  </a:lnTo>
                  <a:lnTo>
                    <a:pt x="173329" y="640343"/>
                  </a:lnTo>
                  <a:lnTo>
                    <a:pt x="135374" y="615267"/>
                  </a:lnTo>
                  <a:lnTo>
                    <a:pt x="100304" y="584618"/>
                  </a:lnTo>
                  <a:lnTo>
                    <a:pt x="69656" y="549548"/>
                  </a:lnTo>
                  <a:lnTo>
                    <a:pt x="44579" y="511593"/>
                  </a:lnTo>
                  <a:lnTo>
                    <a:pt x="25076" y="471330"/>
                  </a:lnTo>
                  <a:lnTo>
                    <a:pt x="11144" y="429335"/>
                  </a:lnTo>
                  <a:lnTo>
                    <a:pt x="2786" y="386187"/>
                  </a:lnTo>
                  <a:lnTo>
                    <a:pt x="0" y="342461"/>
                  </a:lnTo>
                  <a:lnTo>
                    <a:pt x="2786" y="298736"/>
                  </a:lnTo>
                  <a:lnTo>
                    <a:pt x="11144" y="255587"/>
                  </a:lnTo>
                  <a:lnTo>
                    <a:pt x="25076" y="213593"/>
                  </a:lnTo>
                  <a:lnTo>
                    <a:pt x="44579" y="173329"/>
                  </a:lnTo>
                  <a:lnTo>
                    <a:pt x="69656" y="135374"/>
                  </a:lnTo>
                  <a:lnTo>
                    <a:pt x="100304" y="100304"/>
                  </a:lnTo>
                  <a:lnTo>
                    <a:pt x="135374" y="69656"/>
                  </a:lnTo>
                  <a:lnTo>
                    <a:pt x="173329" y="44579"/>
                  </a:lnTo>
                  <a:lnTo>
                    <a:pt x="213593" y="25076"/>
                  </a:lnTo>
                  <a:lnTo>
                    <a:pt x="255587" y="11144"/>
                  </a:lnTo>
                  <a:lnTo>
                    <a:pt x="298736" y="2786"/>
                  </a:lnTo>
                  <a:lnTo>
                    <a:pt x="342461" y="0"/>
                  </a:lnTo>
                  <a:lnTo>
                    <a:pt x="386187" y="2786"/>
                  </a:lnTo>
                  <a:lnTo>
                    <a:pt x="429335" y="11144"/>
                  </a:lnTo>
                  <a:lnTo>
                    <a:pt x="471330" y="25076"/>
                  </a:lnTo>
                  <a:lnTo>
                    <a:pt x="511593" y="44579"/>
                  </a:lnTo>
                  <a:lnTo>
                    <a:pt x="549548" y="69656"/>
                  </a:lnTo>
                  <a:lnTo>
                    <a:pt x="584618" y="100304"/>
                  </a:lnTo>
                  <a:close/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8">
            <a:extLst>
              <a:ext uri="{FF2B5EF4-FFF2-40B4-BE49-F238E27FC236}">
                <a16:creationId xmlns:a16="http://schemas.microsoft.com/office/drawing/2014/main" id="{1A0E9547-909C-62CE-6728-9BAD5D5F0262}"/>
              </a:ext>
            </a:extLst>
          </p:cNvPr>
          <p:cNvSpPr txBox="1"/>
          <p:nvPr/>
        </p:nvSpPr>
        <p:spPr>
          <a:xfrm>
            <a:off x="2523786" y="3987241"/>
            <a:ext cx="271471" cy="492585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defTabSz="554492">
              <a:spcBef>
                <a:spcPts val="58"/>
              </a:spcBef>
            </a:pPr>
            <a:r>
              <a:rPr sz="3153" kern="0" spc="-30" dirty="0">
                <a:solidFill>
                  <a:sysClr val="windowText" lastClr="000000"/>
                </a:solidFill>
                <a:latin typeface="Lucida Sans"/>
                <a:cs typeface="Lucida Sans"/>
              </a:rPr>
              <a:t>×</a:t>
            </a:r>
            <a:endParaRPr sz="3153" kern="0">
              <a:solidFill>
                <a:sysClr val="windowText" lastClr="000000"/>
              </a:solidFill>
              <a:latin typeface="Lucida Sans"/>
              <a:cs typeface="Lucida San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0858EA43-E5BD-D55C-F35B-F0DD3BAC0902}"/>
              </a:ext>
            </a:extLst>
          </p:cNvPr>
          <p:cNvGrpSpPr/>
          <p:nvPr/>
        </p:nvGrpSpPr>
        <p:grpSpPr>
          <a:xfrm>
            <a:off x="2861104" y="2987045"/>
            <a:ext cx="3264577" cy="1575684"/>
            <a:chOff x="2882650" y="3414633"/>
            <a:chExt cx="5383530" cy="259842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6505A8CE-C551-8551-A652-CD834F8C20B4}"/>
                </a:ext>
              </a:extLst>
            </p:cNvPr>
            <p:cNvSpPr/>
            <p:nvPr/>
          </p:nvSpPr>
          <p:spPr>
            <a:xfrm>
              <a:off x="2924560" y="5547204"/>
              <a:ext cx="631190" cy="0"/>
            </a:xfrm>
            <a:custGeom>
              <a:avLst/>
              <a:gdLst/>
              <a:ahLst/>
              <a:cxnLst/>
              <a:rect l="l" t="t" r="r" b="b"/>
              <a:pathLst>
                <a:path w="631189">
                  <a:moveTo>
                    <a:pt x="0" y="0"/>
                  </a:moveTo>
                  <a:lnTo>
                    <a:pt x="589078" y="0"/>
                  </a:lnTo>
                  <a:lnTo>
                    <a:pt x="630962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3F5CC1C9-BB42-040F-0884-24C71EF3D343}"/>
                </a:ext>
              </a:extLst>
            </p:cNvPr>
            <p:cNvSpPr/>
            <p:nvPr/>
          </p:nvSpPr>
          <p:spPr>
            <a:xfrm>
              <a:off x="3513638" y="5383858"/>
              <a:ext cx="327025" cy="327025"/>
            </a:xfrm>
            <a:custGeom>
              <a:avLst/>
              <a:gdLst/>
              <a:ahLst/>
              <a:cxnLst/>
              <a:rect l="l" t="t" r="r" b="b"/>
              <a:pathLst>
                <a:path w="327025" h="327025">
                  <a:moveTo>
                    <a:pt x="0" y="0"/>
                  </a:moveTo>
                  <a:lnTo>
                    <a:pt x="0" y="326691"/>
                  </a:lnTo>
                  <a:lnTo>
                    <a:pt x="326691" y="16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object 12">
              <a:extLst>
                <a:ext uri="{FF2B5EF4-FFF2-40B4-BE49-F238E27FC236}">
                  <a16:creationId xmlns:a16="http://schemas.microsoft.com/office/drawing/2014/main" id="{FB590BE4-F0DF-995D-3600-E4804830EC5E}"/>
                </a:ext>
              </a:extLst>
            </p:cNvPr>
            <p:cNvSpPr/>
            <p:nvPr/>
          </p:nvSpPr>
          <p:spPr>
            <a:xfrm>
              <a:off x="3107314" y="3456543"/>
              <a:ext cx="4337050" cy="1743710"/>
            </a:xfrm>
            <a:custGeom>
              <a:avLst/>
              <a:gdLst/>
              <a:ahLst/>
              <a:cxnLst/>
              <a:rect l="l" t="t" r="r" b="b"/>
              <a:pathLst>
                <a:path w="4337050" h="1743710">
                  <a:moveTo>
                    <a:pt x="0" y="0"/>
                  </a:moveTo>
                  <a:lnTo>
                    <a:pt x="4297950" y="1727677"/>
                  </a:lnTo>
                  <a:lnTo>
                    <a:pt x="4336812" y="1743298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58488556-C32A-1E0A-8584-1378D644BF2E}"/>
                </a:ext>
              </a:extLst>
            </p:cNvPr>
            <p:cNvSpPr/>
            <p:nvPr/>
          </p:nvSpPr>
          <p:spPr>
            <a:xfrm>
              <a:off x="7344342" y="5032661"/>
              <a:ext cx="364490" cy="303530"/>
            </a:xfrm>
            <a:custGeom>
              <a:avLst/>
              <a:gdLst/>
              <a:ahLst/>
              <a:cxnLst/>
              <a:rect l="l" t="t" r="r" b="b"/>
              <a:pathLst>
                <a:path w="364490" h="303529">
                  <a:moveTo>
                    <a:pt x="121846" y="0"/>
                  </a:moveTo>
                  <a:lnTo>
                    <a:pt x="0" y="303118"/>
                  </a:lnTo>
                  <a:lnTo>
                    <a:pt x="364041" y="273405"/>
                  </a:lnTo>
                  <a:lnTo>
                    <a:pt x="1218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object 14">
              <a:extLst>
                <a:ext uri="{FF2B5EF4-FFF2-40B4-BE49-F238E27FC236}">
                  <a16:creationId xmlns:a16="http://schemas.microsoft.com/office/drawing/2014/main" id="{263CE9D2-6B95-F445-312B-77F819EB25DB}"/>
                </a:ext>
              </a:extLst>
            </p:cNvPr>
            <p:cNvSpPr/>
            <p:nvPr/>
          </p:nvSpPr>
          <p:spPr>
            <a:xfrm>
              <a:off x="7538968" y="5286112"/>
              <a:ext cx="685165" cy="685165"/>
            </a:xfrm>
            <a:custGeom>
              <a:avLst/>
              <a:gdLst/>
              <a:ahLst/>
              <a:cxnLst/>
              <a:rect l="l" t="t" r="r" b="b"/>
              <a:pathLst>
                <a:path w="685165" h="685164">
                  <a:moveTo>
                    <a:pt x="584618" y="100304"/>
                  </a:moveTo>
                  <a:lnTo>
                    <a:pt x="615267" y="135374"/>
                  </a:lnTo>
                  <a:lnTo>
                    <a:pt x="640343" y="173329"/>
                  </a:lnTo>
                  <a:lnTo>
                    <a:pt x="659847" y="213593"/>
                  </a:lnTo>
                  <a:lnTo>
                    <a:pt x="673778" y="255587"/>
                  </a:lnTo>
                  <a:lnTo>
                    <a:pt x="682137" y="298736"/>
                  </a:lnTo>
                  <a:lnTo>
                    <a:pt x="684923" y="342461"/>
                  </a:lnTo>
                  <a:lnTo>
                    <a:pt x="682137" y="386187"/>
                  </a:lnTo>
                  <a:lnTo>
                    <a:pt x="673778" y="429335"/>
                  </a:lnTo>
                  <a:lnTo>
                    <a:pt x="659847" y="471330"/>
                  </a:lnTo>
                  <a:lnTo>
                    <a:pt x="640343" y="511593"/>
                  </a:lnTo>
                  <a:lnTo>
                    <a:pt x="615267" y="549548"/>
                  </a:lnTo>
                  <a:lnTo>
                    <a:pt x="584618" y="584618"/>
                  </a:lnTo>
                  <a:lnTo>
                    <a:pt x="549548" y="615267"/>
                  </a:lnTo>
                  <a:lnTo>
                    <a:pt x="511593" y="640343"/>
                  </a:lnTo>
                  <a:lnTo>
                    <a:pt x="471330" y="659847"/>
                  </a:lnTo>
                  <a:lnTo>
                    <a:pt x="429335" y="673778"/>
                  </a:lnTo>
                  <a:lnTo>
                    <a:pt x="386187" y="682137"/>
                  </a:lnTo>
                  <a:lnTo>
                    <a:pt x="342461" y="684923"/>
                  </a:lnTo>
                  <a:lnTo>
                    <a:pt x="298736" y="682137"/>
                  </a:lnTo>
                  <a:lnTo>
                    <a:pt x="255587" y="673778"/>
                  </a:lnTo>
                  <a:lnTo>
                    <a:pt x="213593" y="659847"/>
                  </a:lnTo>
                  <a:lnTo>
                    <a:pt x="173329" y="640343"/>
                  </a:lnTo>
                  <a:lnTo>
                    <a:pt x="135374" y="615267"/>
                  </a:lnTo>
                  <a:lnTo>
                    <a:pt x="100304" y="584618"/>
                  </a:lnTo>
                  <a:lnTo>
                    <a:pt x="69656" y="549548"/>
                  </a:lnTo>
                  <a:lnTo>
                    <a:pt x="44579" y="511593"/>
                  </a:lnTo>
                  <a:lnTo>
                    <a:pt x="25076" y="471330"/>
                  </a:lnTo>
                  <a:lnTo>
                    <a:pt x="11144" y="429335"/>
                  </a:lnTo>
                  <a:lnTo>
                    <a:pt x="2786" y="386187"/>
                  </a:lnTo>
                  <a:lnTo>
                    <a:pt x="0" y="342461"/>
                  </a:lnTo>
                  <a:lnTo>
                    <a:pt x="2786" y="298736"/>
                  </a:lnTo>
                  <a:lnTo>
                    <a:pt x="11144" y="255587"/>
                  </a:lnTo>
                  <a:lnTo>
                    <a:pt x="25076" y="213593"/>
                  </a:lnTo>
                  <a:lnTo>
                    <a:pt x="44579" y="173329"/>
                  </a:lnTo>
                  <a:lnTo>
                    <a:pt x="69656" y="135374"/>
                  </a:lnTo>
                  <a:lnTo>
                    <a:pt x="100304" y="100304"/>
                  </a:lnTo>
                  <a:lnTo>
                    <a:pt x="135374" y="69656"/>
                  </a:lnTo>
                  <a:lnTo>
                    <a:pt x="173329" y="44579"/>
                  </a:lnTo>
                  <a:lnTo>
                    <a:pt x="213593" y="25076"/>
                  </a:lnTo>
                  <a:lnTo>
                    <a:pt x="255587" y="11144"/>
                  </a:lnTo>
                  <a:lnTo>
                    <a:pt x="298736" y="2786"/>
                  </a:lnTo>
                  <a:lnTo>
                    <a:pt x="342461" y="0"/>
                  </a:lnTo>
                  <a:lnTo>
                    <a:pt x="386187" y="2786"/>
                  </a:lnTo>
                  <a:lnTo>
                    <a:pt x="429335" y="11144"/>
                  </a:lnTo>
                  <a:lnTo>
                    <a:pt x="471330" y="25076"/>
                  </a:lnTo>
                  <a:lnTo>
                    <a:pt x="511593" y="44579"/>
                  </a:lnTo>
                  <a:lnTo>
                    <a:pt x="549548" y="69656"/>
                  </a:lnTo>
                  <a:lnTo>
                    <a:pt x="584618" y="100304"/>
                  </a:lnTo>
                  <a:close/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object 15">
            <a:extLst>
              <a:ext uri="{FF2B5EF4-FFF2-40B4-BE49-F238E27FC236}">
                <a16:creationId xmlns:a16="http://schemas.microsoft.com/office/drawing/2014/main" id="{85181C81-DDB8-7955-3EC1-F8D90F8AD2FB}"/>
              </a:ext>
            </a:extLst>
          </p:cNvPr>
          <p:cNvSpPr txBox="1"/>
          <p:nvPr/>
        </p:nvSpPr>
        <p:spPr>
          <a:xfrm>
            <a:off x="5722473" y="3976411"/>
            <a:ext cx="337317" cy="57703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 defTabSz="554492">
              <a:spcBef>
                <a:spcPts val="61"/>
              </a:spcBef>
            </a:pPr>
            <a:r>
              <a:rPr sz="3699" kern="0" spc="236" dirty="0">
                <a:solidFill>
                  <a:sysClr val="windowText" lastClr="000000"/>
                </a:solidFill>
                <a:latin typeface="Century"/>
                <a:cs typeface="Century"/>
              </a:rPr>
              <a:t>+</a:t>
            </a:r>
            <a:endParaRPr sz="3699" kern="0">
              <a:solidFill>
                <a:sysClr val="windowText" lastClr="000000"/>
              </a:solidFill>
              <a:latin typeface="Century"/>
              <a:cs typeface="Century"/>
            </a:endParaRPr>
          </a:p>
        </p:txBody>
      </p:sp>
      <p:grpSp>
        <p:nvGrpSpPr>
          <p:cNvPr id="19" name="object 16">
            <a:extLst>
              <a:ext uri="{FF2B5EF4-FFF2-40B4-BE49-F238E27FC236}">
                <a16:creationId xmlns:a16="http://schemas.microsoft.com/office/drawing/2014/main" id="{FD567361-A19E-5508-FDD5-3001D29CB9F8}"/>
              </a:ext>
            </a:extLst>
          </p:cNvPr>
          <p:cNvGrpSpPr/>
          <p:nvPr/>
        </p:nvGrpSpPr>
        <p:grpSpPr>
          <a:xfrm>
            <a:off x="3477082" y="3976683"/>
            <a:ext cx="2981555" cy="634971"/>
            <a:chOff x="3898444" y="5046619"/>
            <a:chExt cx="4916805" cy="1047115"/>
          </a:xfrm>
        </p:grpSpPr>
        <p:pic>
          <p:nvPicPr>
            <p:cNvPr id="20" name="object 17">
              <a:extLst>
                <a:ext uri="{FF2B5EF4-FFF2-40B4-BE49-F238E27FC236}">
                  <a16:creationId xmlns:a16="http://schemas.microsoft.com/office/drawing/2014/main" id="{1E8EB1BB-A7D9-297B-C0B2-9569F951B02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98444" y="5046619"/>
              <a:ext cx="2986406" cy="1047088"/>
            </a:xfrm>
            <a:prstGeom prst="rect">
              <a:avLst/>
            </a:prstGeom>
          </p:spPr>
        </p:pic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140D22B6-36FA-0B66-5B3C-3A26974C71D9}"/>
                </a:ext>
              </a:extLst>
            </p:cNvPr>
            <p:cNvSpPr/>
            <p:nvPr/>
          </p:nvSpPr>
          <p:spPr>
            <a:xfrm>
              <a:off x="6942965" y="5616194"/>
              <a:ext cx="292735" cy="0"/>
            </a:xfrm>
            <a:custGeom>
              <a:avLst/>
              <a:gdLst/>
              <a:ahLst/>
              <a:cxnLst/>
              <a:rect l="l" t="t" r="r" b="b"/>
              <a:pathLst>
                <a:path w="292734">
                  <a:moveTo>
                    <a:pt x="0" y="0"/>
                  </a:moveTo>
                  <a:lnTo>
                    <a:pt x="250270" y="0"/>
                  </a:lnTo>
                  <a:lnTo>
                    <a:pt x="292154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object 19">
              <a:extLst>
                <a:ext uri="{FF2B5EF4-FFF2-40B4-BE49-F238E27FC236}">
                  <a16:creationId xmlns:a16="http://schemas.microsoft.com/office/drawing/2014/main" id="{28F3E33A-D4B2-9288-8F06-A84B4985B705}"/>
                </a:ext>
              </a:extLst>
            </p:cNvPr>
            <p:cNvSpPr/>
            <p:nvPr/>
          </p:nvSpPr>
          <p:spPr>
            <a:xfrm>
              <a:off x="7193236" y="5452848"/>
              <a:ext cx="327025" cy="327025"/>
            </a:xfrm>
            <a:custGeom>
              <a:avLst/>
              <a:gdLst/>
              <a:ahLst/>
              <a:cxnLst/>
              <a:rect l="l" t="t" r="r" b="b"/>
              <a:pathLst>
                <a:path w="327025" h="327025">
                  <a:moveTo>
                    <a:pt x="0" y="0"/>
                  </a:moveTo>
                  <a:lnTo>
                    <a:pt x="0" y="326691"/>
                  </a:lnTo>
                  <a:lnTo>
                    <a:pt x="326691" y="16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object 20">
              <a:extLst>
                <a:ext uri="{FF2B5EF4-FFF2-40B4-BE49-F238E27FC236}">
                  <a16:creationId xmlns:a16="http://schemas.microsoft.com/office/drawing/2014/main" id="{9A2BE975-A519-6746-454E-874990592BB7}"/>
                </a:ext>
              </a:extLst>
            </p:cNvPr>
            <p:cNvSpPr/>
            <p:nvPr/>
          </p:nvSpPr>
          <p:spPr>
            <a:xfrm>
              <a:off x="8237985" y="5611549"/>
              <a:ext cx="292735" cy="0"/>
            </a:xfrm>
            <a:custGeom>
              <a:avLst/>
              <a:gdLst/>
              <a:ahLst/>
              <a:cxnLst/>
              <a:rect l="l" t="t" r="r" b="b"/>
              <a:pathLst>
                <a:path w="292734">
                  <a:moveTo>
                    <a:pt x="0" y="0"/>
                  </a:moveTo>
                  <a:lnTo>
                    <a:pt x="250270" y="0"/>
                  </a:lnTo>
                  <a:lnTo>
                    <a:pt x="292154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object 21">
              <a:extLst>
                <a:ext uri="{FF2B5EF4-FFF2-40B4-BE49-F238E27FC236}">
                  <a16:creationId xmlns:a16="http://schemas.microsoft.com/office/drawing/2014/main" id="{0D9F7F0B-36D7-87A2-30C8-456A0320BFC0}"/>
                </a:ext>
              </a:extLst>
            </p:cNvPr>
            <p:cNvSpPr/>
            <p:nvPr/>
          </p:nvSpPr>
          <p:spPr>
            <a:xfrm>
              <a:off x="8488256" y="5448203"/>
              <a:ext cx="327025" cy="327025"/>
            </a:xfrm>
            <a:custGeom>
              <a:avLst/>
              <a:gdLst/>
              <a:ahLst/>
              <a:cxnLst/>
              <a:rect l="l" t="t" r="r" b="b"/>
              <a:pathLst>
                <a:path w="327025" h="327025">
                  <a:moveTo>
                    <a:pt x="0" y="0"/>
                  </a:moveTo>
                  <a:lnTo>
                    <a:pt x="0" y="326691"/>
                  </a:lnTo>
                  <a:lnTo>
                    <a:pt x="326691" y="16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5" name="object 22">
            <a:extLst>
              <a:ext uri="{FF2B5EF4-FFF2-40B4-BE49-F238E27FC236}">
                <a16:creationId xmlns:a16="http://schemas.microsoft.com/office/drawing/2014/main" id="{8E868E4A-F1CF-20F4-E796-23D3717F74DA}"/>
              </a:ext>
            </a:extLst>
          </p:cNvPr>
          <p:cNvSpPr txBox="1"/>
          <p:nvPr/>
        </p:nvSpPr>
        <p:spPr>
          <a:xfrm>
            <a:off x="6646642" y="4048426"/>
            <a:ext cx="1511443" cy="422954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 defTabSz="554492">
              <a:spcBef>
                <a:spcPts val="61"/>
              </a:spcBef>
            </a:pPr>
            <a:r>
              <a:rPr sz="2698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z</a:t>
            </a:r>
            <a:r>
              <a:rPr sz="2698" i="1" kern="0" spc="69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98" kern="0" spc="194" dirty="0">
                <a:solidFill>
                  <a:sysClr val="windowText" lastClr="000000"/>
                </a:solidFill>
                <a:latin typeface="Century"/>
                <a:cs typeface="Century"/>
              </a:rPr>
              <a:t>=</a:t>
            </a:r>
            <a:r>
              <a:rPr sz="2698" kern="0" spc="-3" dirty="0">
                <a:solidFill>
                  <a:sysClr val="windowText" lastClr="000000"/>
                </a:solidFill>
                <a:latin typeface="Century"/>
                <a:cs typeface="Century"/>
              </a:rPr>
              <a:t> </a:t>
            </a:r>
            <a:r>
              <a:rPr sz="2698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u</a:t>
            </a:r>
            <a:r>
              <a:rPr sz="2698" i="1" kern="0" spc="-7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98" kern="0" spc="194" dirty="0">
                <a:solidFill>
                  <a:sysClr val="windowText" lastClr="000000"/>
                </a:solidFill>
                <a:latin typeface="Century"/>
                <a:cs typeface="Century"/>
              </a:rPr>
              <a:t>+</a:t>
            </a:r>
            <a:r>
              <a:rPr sz="2698" kern="0" spc="-152" dirty="0">
                <a:solidFill>
                  <a:sysClr val="windowText" lastClr="000000"/>
                </a:solidFill>
                <a:latin typeface="Century"/>
                <a:cs typeface="Century"/>
              </a:rPr>
              <a:t> </a:t>
            </a:r>
            <a:r>
              <a:rPr sz="2698" i="1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b</a:t>
            </a:r>
            <a:endParaRPr sz="2698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A572F55F-621E-AAB4-2C75-E34669BD8A63}"/>
              </a:ext>
            </a:extLst>
          </p:cNvPr>
          <p:cNvSpPr txBox="1"/>
          <p:nvPr/>
        </p:nvSpPr>
        <p:spPr>
          <a:xfrm>
            <a:off x="3580274" y="4025283"/>
            <a:ext cx="1702613" cy="422954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23104" defTabSz="554492">
              <a:spcBef>
                <a:spcPts val="61"/>
              </a:spcBef>
            </a:pPr>
            <a:r>
              <a:rPr sz="2698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u</a:t>
            </a:r>
            <a:r>
              <a:rPr sz="2698" i="1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98" kern="0" spc="194" dirty="0">
                <a:solidFill>
                  <a:sysClr val="windowText" lastClr="000000"/>
                </a:solidFill>
                <a:latin typeface="Century"/>
                <a:cs typeface="Century"/>
              </a:rPr>
              <a:t>=</a:t>
            </a:r>
            <a:r>
              <a:rPr sz="2698" kern="0" spc="-49" dirty="0">
                <a:solidFill>
                  <a:sysClr val="windowText" lastClr="000000"/>
                </a:solidFill>
                <a:latin typeface="Century"/>
                <a:cs typeface="Century"/>
              </a:rPr>
              <a:t> </a:t>
            </a:r>
            <a:r>
              <a:rPr sz="2698" i="1" kern="0" spc="-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2865" kern="0" spc="-9" baseline="-19400" dirty="0">
                <a:solidFill>
                  <a:sysClr val="windowText" lastClr="000000"/>
                </a:solidFill>
                <a:latin typeface="Century"/>
                <a:cs typeface="Century"/>
              </a:rPr>
              <a:t>1</a:t>
            </a:r>
            <a:r>
              <a:rPr sz="2865" kern="0" spc="45" baseline="-19400" dirty="0">
                <a:solidFill>
                  <a:sysClr val="windowText" lastClr="000000"/>
                </a:solidFill>
                <a:latin typeface="Century"/>
                <a:cs typeface="Century"/>
              </a:rPr>
              <a:t> </a:t>
            </a:r>
            <a:r>
              <a:rPr sz="2698" kern="0" dirty="0">
                <a:solidFill>
                  <a:sysClr val="windowText" lastClr="000000"/>
                </a:solidFill>
                <a:latin typeface="Lucida Sans"/>
                <a:cs typeface="Lucida Sans"/>
              </a:rPr>
              <a:t>×</a:t>
            </a:r>
            <a:r>
              <a:rPr sz="2698" kern="0" spc="-248" dirty="0">
                <a:solidFill>
                  <a:sysClr val="windowText" lastClr="000000"/>
                </a:solidFill>
                <a:latin typeface="Lucida Sans"/>
                <a:cs typeface="Lucida Sans"/>
              </a:rPr>
              <a:t> </a:t>
            </a:r>
            <a:r>
              <a:rPr sz="2698" i="1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x</a:t>
            </a:r>
            <a:r>
              <a:rPr sz="2865" kern="0" spc="-22" baseline="-19400" dirty="0">
                <a:solidFill>
                  <a:sysClr val="windowText" lastClr="000000"/>
                </a:solidFill>
                <a:latin typeface="Century"/>
                <a:cs typeface="Century"/>
              </a:rPr>
              <a:t>1</a:t>
            </a:r>
            <a:endParaRPr sz="2865" kern="0" baseline="-19400" dirty="0">
              <a:solidFill>
                <a:sysClr val="windowText" lastClr="000000"/>
              </a:solidFill>
              <a:latin typeface="Century"/>
              <a:cs typeface="Century"/>
            </a:endParaRPr>
          </a:p>
        </p:txBody>
      </p:sp>
      <p:pic>
        <p:nvPicPr>
          <p:cNvPr id="27" name="object 28">
            <a:extLst>
              <a:ext uri="{FF2B5EF4-FFF2-40B4-BE49-F238E27FC236}">
                <a16:creationId xmlns:a16="http://schemas.microsoft.com/office/drawing/2014/main" id="{65D72BB9-B0C2-5D3C-9BDC-8E9D2BE6309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19468" y="4417162"/>
            <a:ext cx="562513" cy="562512"/>
          </a:xfrm>
          <a:prstGeom prst="rect">
            <a:avLst/>
          </a:prstGeom>
        </p:spPr>
      </p:pic>
      <p:sp>
        <p:nvSpPr>
          <p:cNvPr id="29" name="object 29">
            <a:extLst>
              <a:ext uri="{FF2B5EF4-FFF2-40B4-BE49-F238E27FC236}">
                <a16:creationId xmlns:a16="http://schemas.microsoft.com/office/drawing/2014/main" id="{8EED2029-DF9C-854C-389D-A8388E9D9860}"/>
              </a:ext>
            </a:extLst>
          </p:cNvPr>
          <p:cNvSpPr txBox="1"/>
          <p:nvPr/>
        </p:nvSpPr>
        <p:spPr>
          <a:xfrm>
            <a:off x="1715602" y="4567223"/>
            <a:ext cx="157491" cy="351041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 defTabSz="554492">
              <a:spcBef>
                <a:spcPts val="82"/>
              </a:spcBef>
            </a:pPr>
            <a:r>
              <a:rPr sz="2213" kern="0" spc="-79" dirty="0">
                <a:solidFill>
                  <a:sysClr val="windowText" lastClr="000000"/>
                </a:solidFill>
                <a:latin typeface="Century"/>
                <a:cs typeface="Century"/>
              </a:rPr>
              <a:t>1</a:t>
            </a:r>
            <a:endParaRPr sz="2213" kern="0">
              <a:solidFill>
                <a:sysClr val="windowText" lastClr="000000"/>
              </a:solidFill>
              <a:latin typeface="Century"/>
              <a:cs typeface="Century"/>
            </a:endParaRPr>
          </a:p>
        </p:txBody>
      </p:sp>
      <p:pic>
        <p:nvPicPr>
          <p:cNvPr id="30" name="object 30">
            <a:extLst>
              <a:ext uri="{FF2B5EF4-FFF2-40B4-BE49-F238E27FC236}">
                <a16:creationId xmlns:a16="http://schemas.microsoft.com/office/drawing/2014/main" id="{95087B7D-161E-CCC4-1184-BE0A5167F009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61662" y="2661277"/>
            <a:ext cx="555324" cy="555324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BA768A16-16E2-205F-19D3-7B89D7B403CE}"/>
              </a:ext>
            </a:extLst>
          </p:cNvPr>
          <p:cNvSpPr txBox="1"/>
          <p:nvPr/>
        </p:nvSpPr>
        <p:spPr>
          <a:xfrm>
            <a:off x="2641979" y="2646510"/>
            <a:ext cx="218717" cy="499727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 defTabSz="554492">
              <a:spcBef>
                <a:spcPts val="76"/>
              </a:spcBef>
            </a:pPr>
            <a:r>
              <a:rPr sz="3184" i="1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b</a:t>
            </a:r>
            <a:endParaRPr sz="3184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pic>
        <p:nvPicPr>
          <p:cNvPr id="32" name="object 32">
            <a:extLst>
              <a:ext uri="{FF2B5EF4-FFF2-40B4-BE49-F238E27FC236}">
                <a16:creationId xmlns:a16="http://schemas.microsoft.com/office/drawing/2014/main" id="{EC0CFB16-C5A8-824E-F99B-A81899C4F5BF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10561" y="3667221"/>
            <a:ext cx="555324" cy="555324"/>
          </a:xfrm>
          <a:prstGeom prst="rect">
            <a:avLst/>
          </a:prstGeom>
        </p:spPr>
      </p:pic>
      <p:sp>
        <p:nvSpPr>
          <p:cNvPr id="33" name="object 33">
            <a:extLst>
              <a:ext uri="{FF2B5EF4-FFF2-40B4-BE49-F238E27FC236}">
                <a16:creationId xmlns:a16="http://schemas.microsoft.com/office/drawing/2014/main" id="{11AEB948-1688-B9E9-EB7B-F02D995A7265}"/>
              </a:ext>
            </a:extLst>
          </p:cNvPr>
          <p:cNvSpPr txBox="1"/>
          <p:nvPr/>
        </p:nvSpPr>
        <p:spPr>
          <a:xfrm>
            <a:off x="1474451" y="3329836"/>
            <a:ext cx="447445" cy="1526016"/>
          </a:xfrm>
          <a:prstGeom prst="rect">
            <a:avLst/>
          </a:prstGeom>
        </p:spPr>
        <p:txBody>
          <a:bodyPr vert="horz" wrap="square" lIns="0" tIns="278786" rIns="0" bIns="0" rtlCol="0">
            <a:spAutoFit/>
          </a:bodyPr>
          <a:lstStyle/>
          <a:p>
            <a:pPr marL="23104" defTabSz="554492">
              <a:spcBef>
                <a:spcPts val="2195"/>
              </a:spcBef>
            </a:pPr>
            <a:r>
              <a:rPr sz="3184" i="1" kern="0" spc="-42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3411" kern="0" spc="-63" baseline="-19259" dirty="0">
                <a:solidFill>
                  <a:sysClr val="windowText" lastClr="000000"/>
                </a:solidFill>
                <a:latin typeface="Century"/>
                <a:cs typeface="Century"/>
              </a:rPr>
              <a:t>1</a:t>
            </a:r>
            <a:endParaRPr sz="3411" kern="0" baseline="-19259">
              <a:solidFill>
                <a:sysClr val="windowText" lastClr="000000"/>
              </a:solidFill>
              <a:latin typeface="Century"/>
              <a:cs typeface="Century"/>
            </a:endParaRPr>
          </a:p>
          <a:p>
            <a:pPr marL="85099" defTabSz="554492">
              <a:spcBef>
                <a:spcPts val="2083"/>
              </a:spcBef>
            </a:pPr>
            <a:r>
              <a:rPr sz="3153" i="1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x</a:t>
            </a:r>
            <a:endParaRPr sz="3153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grpSp>
        <p:nvGrpSpPr>
          <p:cNvPr id="34" name="object 34">
            <a:extLst>
              <a:ext uri="{FF2B5EF4-FFF2-40B4-BE49-F238E27FC236}">
                <a16:creationId xmlns:a16="http://schemas.microsoft.com/office/drawing/2014/main" id="{961E301B-C1C3-051C-714B-6AEF60895469}"/>
              </a:ext>
            </a:extLst>
          </p:cNvPr>
          <p:cNvGrpSpPr/>
          <p:nvPr/>
        </p:nvGrpSpPr>
        <p:grpSpPr>
          <a:xfrm>
            <a:off x="1951700" y="3962759"/>
            <a:ext cx="480946" cy="239125"/>
            <a:chOff x="1382977" y="5023658"/>
            <a:chExt cx="793115" cy="394335"/>
          </a:xfrm>
        </p:grpSpPr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FF0A8F06-F55E-1B63-5DF8-2C95FB04A85C}"/>
                </a:ext>
              </a:extLst>
            </p:cNvPr>
            <p:cNvSpPr/>
            <p:nvPr/>
          </p:nvSpPr>
          <p:spPr>
            <a:xfrm>
              <a:off x="1424861" y="5065542"/>
              <a:ext cx="491490" cy="220979"/>
            </a:xfrm>
            <a:custGeom>
              <a:avLst/>
              <a:gdLst/>
              <a:ahLst/>
              <a:cxnLst/>
              <a:rect l="l" t="t" r="r" b="b"/>
              <a:pathLst>
                <a:path w="491489" h="220979">
                  <a:moveTo>
                    <a:pt x="0" y="0"/>
                  </a:moveTo>
                  <a:lnTo>
                    <a:pt x="452903" y="203310"/>
                  </a:lnTo>
                  <a:lnTo>
                    <a:pt x="491113" y="220463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6D0DE80C-270A-AAB3-389F-17FD02AB8D13}"/>
                </a:ext>
              </a:extLst>
            </p:cNvPr>
            <p:cNvSpPr/>
            <p:nvPr/>
          </p:nvSpPr>
          <p:spPr>
            <a:xfrm>
              <a:off x="1810868" y="5119833"/>
              <a:ext cx="365125" cy="298450"/>
            </a:xfrm>
            <a:custGeom>
              <a:avLst/>
              <a:gdLst/>
              <a:ahLst/>
              <a:cxnLst/>
              <a:rect l="l" t="t" r="r" b="b"/>
              <a:pathLst>
                <a:path w="365125" h="298450">
                  <a:moveTo>
                    <a:pt x="133791" y="0"/>
                  </a:moveTo>
                  <a:lnTo>
                    <a:pt x="0" y="298039"/>
                  </a:lnTo>
                  <a:lnTo>
                    <a:pt x="364935" y="282810"/>
                  </a:lnTo>
                  <a:lnTo>
                    <a:pt x="1337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37" name="object 37">
            <a:extLst>
              <a:ext uri="{FF2B5EF4-FFF2-40B4-BE49-F238E27FC236}">
                <a16:creationId xmlns:a16="http://schemas.microsoft.com/office/drawing/2014/main" id="{9F47A15A-4464-A96F-4BB1-5D7DAAA4E8B5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10007" y="4010699"/>
            <a:ext cx="1565038" cy="599777"/>
          </a:xfrm>
          <a:prstGeom prst="rect">
            <a:avLst/>
          </a:prstGeom>
        </p:spPr>
      </p:pic>
      <p:sp>
        <p:nvSpPr>
          <p:cNvPr id="38" name="object 38">
            <a:extLst>
              <a:ext uri="{FF2B5EF4-FFF2-40B4-BE49-F238E27FC236}">
                <a16:creationId xmlns:a16="http://schemas.microsoft.com/office/drawing/2014/main" id="{6358CDB4-1396-E8C1-81EA-167293F2DCF2}"/>
              </a:ext>
            </a:extLst>
          </p:cNvPr>
          <p:cNvSpPr txBox="1"/>
          <p:nvPr/>
        </p:nvSpPr>
        <p:spPr>
          <a:xfrm>
            <a:off x="8926135" y="4057881"/>
            <a:ext cx="1526484" cy="422954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 defTabSz="554492">
              <a:spcBef>
                <a:spcPts val="61"/>
              </a:spcBef>
            </a:pPr>
            <a:r>
              <a:rPr sz="2698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</a:t>
            </a:r>
            <a:r>
              <a:rPr sz="2698" i="1" kern="0" spc="79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98" kern="0" spc="194" dirty="0">
                <a:solidFill>
                  <a:sysClr val="windowText" lastClr="000000"/>
                </a:solidFill>
                <a:latin typeface="Century"/>
                <a:cs typeface="Century"/>
              </a:rPr>
              <a:t>=</a:t>
            </a:r>
            <a:r>
              <a:rPr sz="2698" kern="0" spc="9" dirty="0">
                <a:solidFill>
                  <a:sysClr val="windowText" lastClr="000000"/>
                </a:solidFill>
                <a:latin typeface="Century"/>
                <a:cs typeface="Century"/>
              </a:rPr>
              <a:t> </a:t>
            </a:r>
            <a:r>
              <a:rPr sz="2698" i="1" kern="0" spc="-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</a:t>
            </a:r>
            <a:r>
              <a:rPr sz="2698" kern="0" spc="-27" dirty="0">
                <a:solidFill>
                  <a:sysClr val="windowText" lastClr="000000"/>
                </a:solidFill>
                <a:latin typeface="Century"/>
                <a:cs typeface="Century"/>
              </a:rPr>
              <a:t>(</a:t>
            </a:r>
            <a:r>
              <a:rPr lang="en-US" sz="2698" i="1" kern="0" spc="-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z</a:t>
            </a:r>
            <a:r>
              <a:rPr sz="2698" kern="0" spc="-27" dirty="0">
                <a:solidFill>
                  <a:sysClr val="windowText" lastClr="000000"/>
                </a:solidFill>
                <a:latin typeface="Century"/>
                <a:cs typeface="Century"/>
              </a:rPr>
              <a:t>,</a:t>
            </a:r>
            <a:r>
              <a:rPr sz="2698" kern="0" spc="-297" dirty="0">
                <a:solidFill>
                  <a:sysClr val="windowText" lastClr="000000"/>
                </a:solidFill>
                <a:latin typeface="Century"/>
                <a:cs typeface="Century"/>
              </a:rPr>
              <a:t> </a:t>
            </a:r>
            <a:r>
              <a:rPr sz="2698" i="1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y</a:t>
            </a:r>
            <a:r>
              <a:rPr sz="2698" kern="0" spc="-15" dirty="0">
                <a:solidFill>
                  <a:sysClr val="windowText" lastClr="000000"/>
                </a:solidFill>
                <a:latin typeface="Century"/>
                <a:cs typeface="Century"/>
              </a:rPr>
              <a:t>)</a:t>
            </a:r>
            <a:endParaRPr sz="2698" kern="0" dirty="0">
              <a:solidFill>
                <a:sysClr val="windowText" lastClr="000000"/>
              </a:solidFill>
              <a:latin typeface="Century"/>
              <a:cs typeface="Century"/>
            </a:endParaRPr>
          </a:p>
        </p:txBody>
      </p:sp>
      <p:grpSp>
        <p:nvGrpSpPr>
          <p:cNvPr id="39" name="object 39">
            <a:extLst>
              <a:ext uri="{FF2B5EF4-FFF2-40B4-BE49-F238E27FC236}">
                <a16:creationId xmlns:a16="http://schemas.microsoft.com/office/drawing/2014/main" id="{234DB00B-2FDA-8E8D-841C-7E4C732A3767}"/>
              </a:ext>
            </a:extLst>
          </p:cNvPr>
          <p:cNvGrpSpPr/>
          <p:nvPr/>
        </p:nvGrpSpPr>
        <p:grpSpPr>
          <a:xfrm>
            <a:off x="8158085" y="4225525"/>
            <a:ext cx="574516" cy="198308"/>
            <a:chOff x="15147726" y="5431352"/>
            <a:chExt cx="947419" cy="327025"/>
          </a:xfrm>
        </p:grpSpPr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113862CD-A932-B446-63A3-3D61E653A873}"/>
                </a:ext>
              </a:extLst>
            </p:cNvPr>
            <p:cNvSpPr/>
            <p:nvPr/>
          </p:nvSpPr>
          <p:spPr>
            <a:xfrm>
              <a:off x="15147726" y="5594698"/>
              <a:ext cx="662305" cy="0"/>
            </a:xfrm>
            <a:custGeom>
              <a:avLst/>
              <a:gdLst/>
              <a:ahLst/>
              <a:cxnLst/>
              <a:rect l="l" t="t" r="r" b="b"/>
              <a:pathLst>
                <a:path w="662305">
                  <a:moveTo>
                    <a:pt x="0" y="0"/>
                  </a:moveTo>
                  <a:lnTo>
                    <a:pt x="620112" y="0"/>
                  </a:lnTo>
                  <a:lnTo>
                    <a:pt x="661996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E0018802-E267-7E2B-7132-8A6E999F2690}"/>
                </a:ext>
              </a:extLst>
            </p:cNvPr>
            <p:cNvSpPr/>
            <p:nvPr/>
          </p:nvSpPr>
          <p:spPr>
            <a:xfrm>
              <a:off x="15767843" y="5431352"/>
              <a:ext cx="327025" cy="327025"/>
            </a:xfrm>
            <a:custGeom>
              <a:avLst/>
              <a:gdLst/>
              <a:ahLst/>
              <a:cxnLst/>
              <a:rect l="l" t="t" r="r" b="b"/>
              <a:pathLst>
                <a:path w="327025" h="327025">
                  <a:moveTo>
                    <a:pt x="0" y="0"/>
                  </a:moveTo>
                  <a:lnTo>
                    <a:pt x="0" y="326691"/>
                  </a:lnTo>
                  <a:lnTo>
                    <a:pt x="326691" y="16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42" name="object 42">
            <a:extLst>
              <a:ext uri="{FF2B5EF4-FFF2-40B4-BE49-F238E27FC236}">
                <a16:creationId xmlns:a16="http://schemas.microsoft.com/office/drawing/2014/main" id="{0CD046D7-CBFD-B0EF-3830-2243FF77C1A4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57670" y="2487148"/>
            <a:ext cx="1375392" cy="555174"/>
          </a:xfrm>
          <a:prstGeom prst="rect">
            <a:avLst/>
          </a:prstGeom>
        </p:spPr>
      </p:pic>
      <p:sp>
        <p:nvSpPr>
          <p:cNvPr id="43" name="object 43">
            <a:extLst>
              <a:ext uri="{FF2B5EF4-FFF2-40B4-BE49-F238E27FC236}">
                <a16:creationId xmlns:a16="http://schemas.microsoft.com/office/drawing/2014/main" id="{270109DF-7C5F-C5CE-2C82-34C4BF2E61F7}"/>
              </a:ext>
            </a:extLst>
          </p:cNvPr>
          <p:cNvSpPr txBox="1">
            <a:spLocks/>
          </p:cNvSpPr>
          <p:nvPr/>
        </p:nvSpPr>
        <p:spPr>
          <a:xfrm>
            <a:off x="8384503" y="2398395"/>
            <a:ext cx="1793313" cy="639958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>
              <a:spcBef>
                <a:spcPts val="76"/>
              </a:spcBef>
            </a:pPr>
            <a:r>
              <a:rPr lang="en-US" i="1">
                <a:latin typeface="Times New Roman"/>
                <a:cs typeface="Times New Roman"/>
              </a:rPr>
              <a:t>y</a:t>
            </a:r>
            <a:r>
              <a:rPr lang="en-US" i="1" spc="91">
                <a:latin typeface="Times New Roman"/>
                <a:cs typeface="Times New Roman"/>
              </a:rPr>
              <a:t> </a:t>
            </a:r>
            <a:r>
              <a:rPr lang="en-US" spc="248"/>
              <a:t>=</a:t>
            </a:r>
            <a:r>
              <a:rPr lang="en-US" spc="3"/>
              <a:t> </a:t>
            </a:r>
            <a:r>
              <a:rPr lang="en-US" spc="-209"/>
              <a:t>1</a:t>
            </a:r>
            <a:endParaRPr lang="en-US" spc="-209" dirty="0"/>
          </a:p>
        </p:txBody>
      </p:sp>
      <p:grpSp>
        <p:nvGrpSpPr>
          <p:cNvPr id="44" name="object 44">
            <a:extLst>
              <a:ext uri="{FF2B5EF4-FFF2-40B4-BE49-F238E27FC236}">
                <a16:creationId xmlns:a16="http://schemas.microsoft.com/office/drawing/2014/main" id="{DA2A7A00-0144-CD80-E368-6BF448EA864D}"/>
              </a:ext>
            </a:extLst>
          </p:cNvPr>
          <p:cNvGrpSpPr/>
          <p:nvPr/>
        </p:nvGrpSpPr>
        <p:grpSpPr>
          <a:xfrm>
            <a:off x="8888366" y="1939461"/>
            <a:ext cx="864855" cy="2095136"/>
            <a:chOff x="16352015" y="1661463"/>
            <a:chExt cx="1426210" cy="3455035"/>
          </a:xfrm>
        </p:grpSpPr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B6521867-0605-F424-E3EE-7F93D1A27D90}"/>
                </a:ext>
              </a:extLst>
            </p:cNvPr>
            <p:cNvSpPr/>
            <p:nvPr/>
          </p:nvSpPr>
          <p:spPr>
            <a:xfrm>
              <a:off x="17614668" y="3494602"/>
              <a:ext cx="0" cy="1336675"/>
            </a:xfrm>
            <a:custGeom>
              <a:avLst/>
              <a:gdLst/>
              <a:ahLst/>
              <a:cxnLst/>
              <a:rect l="l" t="t" r="r" b="b"/>
              <a:pathLst>
                <a:path h="1336675">
                  <a:moveTo>
                    <a:pt x="0" y="0"/>
                  </a:moveTo>
                  <a:lnTo>
                    <a:pt x="0" y="1294697"/>
                  </a:lnTo>
                  <a:lnTo>
                    <a:pt x="0" y="1336581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F8DB7120-7D3A-9AA0-526E-65F02ADF623D}"/>
                </a:ext>
              </a:extLst>
            </p:cNvPr>
            <p:cNvSpPr/>
            <p:nvPr/>
          </p:nvSpPr>
          <p:spPr>
            <a:xfrm>
              <a:off x="17451322" y="4789300"/>
              <a:ext cx="327025" cy="327025"/>
            </a:xfrm>
            <a:custGeom>
              <a:avLst/>
              <a:gdLst/>
              <a:ahLst/>
              <a:cxnLst/>
              <a:rect l="l" t="t" r="r" b="b"/>
              <a:pathLst>
                <a:path w="327025" h="327025">
                  <a:moveTo>
                    <a:pt x="326691" y="0"/>
                  </a:moveTo>
                  <a:lnTo>
                    <a:pt x="0" y="0"/>
                  </a:lnTo>
                  <a:lnTo>
                    <a:pt x="163345" y="326691"/>
                  </a:lnTo>
                  <a:lnTo>
                    <a:pt x="3266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DBB4F460-BA86-A075-6493-096F404D3B41}"/>
                </a:ext>
              </a:extLst>
            </p:cNvPr>
            <p:cNvSpPr/>
            <p:nvPr/>
          </p:nvSpPr>
          <p:spPr>
            <a:xfrm>
              <a:off x="16372957" y="1682405"/>
              <a:ext cx="791845" cy="791845"/>
            </a:xfrm>
            <a:custGeom>
              <a:avLst/>
              <a:gdLst/>
              <a:ahLst/>
              <a:cxnLst/>
              <a:rect l="l" t="t" r="r" b="b"/>
              <a:pathLst>
                <a:path w="791844" h="791844">
                  <a:moveTo>
                    <a:pt x="0" y="0"/>
                  </a:moveTo>
                  <a:lnTo>
                    <a:pt x="776574" y="776574"/>
                  </a:lnTo>
                  <a:lnTo>
                    <a:pt x="791382" y="791382"/>
                  </a:lnTo>
                </a:path>
              </a:pathLst>
            </a:custGeom>
            <a:ln w="41883">
              <a:solidFill>
                <a:srgbClr val="B517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6BDCCDC3-FBC7-457C-7276-060D0BF39D3F}"/>
                </a:ext>
              </a:extLst>
            </p:cNvPr>
            <p:cNvSpPr/>
            <p:nvPr/>
          </p:nvSpPr>
          <p:spPr>
            <a:xfrm>
              <a:off x="17087333" y="2396785"/>
              <a:ext cx="186690" cy="186690"/>
            </a:xfrm>
            <a:custGeom>
              <a:avLst/>
              <a:gdLst/>
              <a:ahLst/>
              <a:cxnLst/>
              <a:rect l="l" t="t" r="r" b="b"/>
              <a:pathLst>
                <a:path w="186690" h="186689">
                  <a:moveTo>
                    <a:pt x="124394" y="0"/>
                  </a:moveTo>
                  <a:lnTo>
                    <a:pt x="0" y="124387"/>
                  </a:lnTo>
                  <a:lnTo>
                    <a:pt x="186580" y="186581"/>
                  </a:lnTo>
                  <a:lnTo>
                    <a:pt x="124394" y="0"/>
                  </a:lnTo>
                  <a:close/>
                </a:path>
              </a:pathLst>
            </a:custGeom>
            <a:solidFill>
              <a:srgbClr val="B517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9" name="object 49">
            <a:extLst>
              <a:ext uri="{FF2B5EF4-FFF2-40B4-BE49-F238E27FC236}">
                <a16:creationId xmlns:a16="http://schemas.microsoft.com/office/drawing/2014/main" id="{7DB6874D-49B0-2AFC-9F0A-5CFFB88B9127}"/>
              </a:ext>
            </a:extLst>
          </p:cNvPr>
          <p:cNvSpPr txBox="1"/>
          <p:nvPr/>
        </p:nvSpPr>
        <p:spPr>
          <a:xfrm>
            <a:off x="7049262" y="1544703"/>
            <a:ext cx="3128554" cy="284274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701" defTabSz="554492">
              <a:spcBef>
                <a:spcPts val="69"/>
              </a:spcBef>
            </a:pPr>
            <a:r>
              <a:rPr sz="1789" kern="0" spc="103" dirty="0">
                <a:solidFill>
                  <a:srgbClr val="B51700"/>
                </a:solidFill>
                <a:latin typeface="Tahoma"/>
                <a:cs typeface="Tahoma"/>
              </a:rPr>
              <a:t>Suppose</a:t>
            </a:r>
            <a:r>
              <a:rPr sz="1789" kern="0" spc="-91" dirty="0">
                <a:solidFill>
                  <a:srgbClr val="B51700"/>
                </a:solidFill>
                <a:latin typeface="Tahoma"/>
                <a:cs typeface="Tahoma"/>
              </a:rPr>
              <a:t> </a:t>
            </a:r>
            <a:r>
              <a:rPr sz="1789" kern="0" spc="67" dirty="0">
                <a:solidFill>
                  <a:srgbClr val="B51700"/>
                </a:solidFill>
                <a:latin typeface="Tahoma"/>
                <a:cs typeface="Tahoma"/>
              </a:rPr>
              <a:t>the</a:t>
            </a:r>
            <a:r>
              <a:rPr sz="1789" kern="0" spc="-91" dirty="0">
                <a:solidFill>
                  <a:srgbClr val="B51700"/>
                </a:solidFill>
                <a:latin typeface="Tahoma"/>
                <a:cs typeface="Tahoma"/>
              </a:rPr>
              <a:t> </a:t>
            </a:r>
            <a:r>
              <a:rPr sz="1789" kern="0" spc="55" dirty="0">
                <a:solidFill>
                  <a:srgbClr val="B51700"/>
                </a:solidFill>
                <a:latin typeface="Tahoma"/>
                <a:cs typeface="Tahoma"/>
              </a:rPr>
              <a:t>true</a:t>
            </a:r>
            <a:r>
              <a:rPr sz="1789" kern="0" spc="-91" dirty="0">
                <a:solidFill>
                  <a:srgbClr val="B51700"/>
                </a:solidFill>
                <a:latin typeface="Tahoma"/>
                <a:cs typeface="Tahoma"/>
              </a:rPr>
              <a:t> </a:t>
            </a:r>
            <a:r>
              <a:rPr lang="en-US" sz="1789" kern="0" spc="76" dirty="0">
                <a:solidFill>
                  <a:srgbClr val="B51700"/>
                </a:solidFill>
                <a:latin typeface="Tahoma"/>
                <a:cs typeface="Tahoma"/>
              </a:rPr>
              <a:t>output</a:t>
            </a:r>
            <a:r>
              <a:rPr sz="1789" kern="0" spc="-91" dirty="0">
                <a:solidFill>
                  <a:srgbClr val="B51700"/>
                </a:solidFill>
                <a:latin typeface="Tahoma"/>
                <a:cs typeface="Tahoma"/>
              </a:rPr>
              <a:t> </a:t>
            </a:r>
            <a:r>
              <a:rPr sz="1789" kern="0" spc="69" dirty="0">
                <a:solidFill>
                  <a:srgbClr val="B51700"/>
                </a:solidFill>
                <a:latin typeface="Tahoma"/>
                <a:cs typeface="Tahoma"/>
              </a:rPr>
              <a:t>is</a:t>
            </a:r>
            <a:r>
              <a:rPr sz="1789" kern="0" spc="-91" dirty="0">
                <a:solidFill>
                  <a:srgbClr val="B51700"/>
                </a:solidFill>
                <a:latin typeface="Tahoma"/>
                <a:cs typeface="Tahoma"/>
              </a:rPr>
              <a:t> </a:t>
            </a:r>
            <a:r>
              <a:rPr sz="1789" kern="0" spc="-306" dirty="0">
                <a:solidFill>
                  <a:srgbClr val="B51700"/>
                </a:solidFill>
                <a:latin typeface="Tahoma"/>
                <a:cs typeface="Tahoma"/>
              </a:rPr>
              <a:t>1</a:t>
            </a:r>
            <a:endParaRPr sz="1789" kern="0" dirty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824AD5E-0A27-173B-86EF-2F95547DDD0C}"/>
              </a:ext>
            </a:extLst>
          </p:cNvPr>
          <p:cNvSpPr txBox="1"/>
          <p:nvPr/>
        </p:nvSpPr>
        <p:spPr>
          <a:xfrm>
            <a:off x="953262" y="119321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spc="-109" dirty="0"/>
              <a:t>Computation Graph of System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53911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CBE90B-DC11-645D-2608-806166CE9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FEBF6F-AB5D-AE97-2BC1-EC968159BA2C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1ECD3B3-F08D-0A73-DB51-03678BA9ACB2}"/>
              </a:ext>
            </a:extLst>
          </p:cNvPr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F2D5619-C5A5-E3CB-513A-B4050338535A}"/>
              </a:ext>
            </a:extLst>
          </p:cNvPr>
          <p:cNvSpPr/>
          <p:nvPr/>
        </p:nvSpPr>
        <p:spPr>
          <a:xfrm>
            <a:off x="502920" y="62179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regression: a first interpretable model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2F97675-1EAF-3D7C-A813-1DA0BCCE4773}"/>
              </a:ext>
            </a:extLst>
          </p:cNvPr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8C89D1A-8FCF-D109-44A9-46C0FB9E26CE}"/>
              </a:ext>
            </a:extLst>
          </p:cNvPr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8</a:t>
            </a:r>
            <a:endParaRPr lang="en-US" sz="800" dirty="0"/>
          </a:p>
        </p:txBody>
      </p:sp>
      <p:sp>
        <p:nvSpPr>
          <p:cNvPr id="7" name="object 20">
            <a:extLst>
              <a:ext uri="{FF2B5EF4-FFF2-40B4-BE49-F238E27FC236}">
                <a16:creationId xmlns:a16="http://schemas.microsoft.com/office/drawing/2014/main" id="{CCE0F9F0-965E-2302-037C-41557906D44F}"/>
              </a:ext>
            </a:extLst>
          </p:cNvPr>
          <p:cNvSpPr txBox="1">
            <a:spLocks/>
          </p:cNvSpPr>
          <p:nvPr/>
        </p:nvSpPr>
        <p:spPr>
          <a:xfrm>
            <a:off x="12583633" y="9432466"/>
            <a:ext cx="306704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 marL="0" algn="l" defTabSz="914400" rtl="0" eaLnBrk="1" latinLnBrk="0" hangingPunct="1">
              <a:defRPr sz="16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">
              <a:spcBef>
                <a:spcPts val="45"/>
              </a:spcBef>
            </a:pPr>
            <a:fld id="{81D60167-4931-47E6-BA6A-407CBD079E47}" type="slidenum">
              <a:rPr lang="en-US" spc="-50" smtClean="0"/>
              <a:pPr marL="68580">
                <a:spcBef>
                  <a:spcPts val="45"/>
                </a:spcBef>
              </a:pPr>
              <a:t>16</a:t>
            </a:fld>
            <a:endParaRPr lang="en-US" spc="-18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91ECCC-C326-584B-BB50-3EA3A5A5AE5E}"/>
              </a:ext>
            </a:extLst>
          </p:cNvPr>
          <p:cNvSpPr txBox="1"/>
          <p:nvPr/>
        </p:nvSpPr>
        <p:spPr>
          <a:xfrm>
            <a:off x="949154" y="1546278"/>
            <a:ext cx="107094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effectLst/>
                <a:latin typeface="Roboto" panose="02000000000000000000" pitchFamily="2" charset="0"/>
              </a:rPr>
              <a:t>Loss</a:t>
            </a: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 is a numerical metric that describes how wrong a model's </a:t>
            </a:r>
            <a:r>
              <a:rPr lang="en-US" b="1" i="0" dirty="0">
                <a:effectLst/>
                <a:latin typeface="Roboto" panose="02000000000000000000" pitchFamily="2" charset="0"/>
              </a:rPr>
              <a:t>predictions</a:t>
            </a: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 are. Loss measures the distance between the model's predictions and the actual labels. The goal of training a model is to minimize the loss, reducing it to its lowest possible value.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26B3680-401A-E3C2-242F-1AAA8C01DD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2315" y="2646436"/>
            <a:ext cx="8307368" cy="36104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2DDDFF2-735A-F67F-3F76-A21C0E1A7E4B}"/>
              </a:ext>
            </a:extLst>
          </p:cNvPr>
          <p:cNvSpPr txBox="1"/>
          <p:nvPr/>
        </p:nvSpPr>
        <p:spPr>
          <a:xfrm>
            <a:off x="609600" y="6147900"/>
            <a:ext cx="107094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The arrows show how far the model's predictions are from the actual values.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998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4C8343-22D0-C4FE-5476-6ED188F47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EF8CD6-D973-7F74-DADA-B9EE29E67023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26672C-C03E-E592-0CD1-BC472A114281}"/>
              </a:ext>
            </a:extLst>
          </p:cNvPr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BDA3AB-C76F-2478-0938-E49A4551CF94}"/>
              </a:ext>
            </a:extLst>
          </p:cNvPr>
          <p:cNvSpPr/>
          <p:nvPr/>
        </p:nvSpPr>
        <p:spPr>
          <a:xfrm>
            <a:off x="502920" y="62179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regression: a first interpretable model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E35EAA2-8CCE-86B1-BAF3-349AD37E5231}"/>
              </a:ext>
            </a:extLst>
          </p:cNvPr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AD60D26-B8BB-F7E3-F712-54F4AE8C2F51}"/>
              </a:ext>
            </a:extLst>
          </p:cNvPr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8</a:t>
            </a:r>
            <a:endParaRPr lang="en-US" sz="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CF741E-0109-C17F-678C-30383D5D2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334" y="1179576"/>
            <a:ext cx="6826601" cy="28639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7FA09B-6162-E65A-FB29-98180604BD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5375" y="3731879"/>
            <a:ext cx="6705945" cy="278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63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318C66-460D-8600-A559-6EB271D7E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8908FD4-7E24-A43A-4FAD-587210EC533A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B527D0-FB74-185E-FEB1-5647A03AC62F}"/>
              </a:ext>
            </a:extLst>
          </p:cNvPr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BEE164-7646-06EC-1115-112FD1C2954D}"/>
              </a:ext>
            </a:extLst>
          </p:cNvPr>
          <p:cNvSpPr/>
          <p:nvPr/>
        </p:nvSpPr>
        <p:spPr>
          <a:xfrm>
            <a:off x="502920" y="62179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regression: a first interpretable model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B7DBA83-999F-B10A-6631-0A0D191C8A52}"/>
              </a:ext>
            </a:extLst>
          </p:cNvPr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50EE16A-8AA1-A3E3-0CDB-47795951A244}"/>
              </a:ext>
            </a:extLst>
          </p:cNvPr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8</a:t>
            </a:r>
            <a:endParaRPr lang="en-US" sz="800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B3189E53-F5B4-8D4F-1BAB-EAF762CFEC5C}"/>
              </a:ext>
            </a:extLst>
          </p:cNvPr>
          <p:cNvSpPr/>
          <p:nvPr/>
        </p:nvSpPr>
        <p:spPr>
          <a:xfrm>
            <a:off x="5846147" y="3253163"/>
            <a:ext cx="2525253" cy="1248379"/>
          </a:xfrm>
          <a:custGeom>
            <a:avLst/>
            <a:gdLst/>
            <a:ahLst/>
            <a:cxnLst/>
            <a:rect l="l" t="t" r="r" b="b"/>
            <a:pathLst>
              <a:path w="4164330" h="2058670">
                <a:moveTo>
                  <a:pt x="4163813" y="0"/>
                </a:moveTo>
                <a:lnTo>
                  <a:pt x="0" y="0"/>
                </a:lnTo>
                <a:lnTo>
                  <a:pt x="0" y="2058592"/>
                </a:lnTo>
                <a:lnTo>
                  <a:pt x="4163813" y="2058592"/>
                </a:lnTo>
                <a:lnTo>
                  <a:pt x="41638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B6C5A0F5-5424-19A9-4C6E-1645D80729B6}"/>
              </a:ext>
            </a:extLst>
          </p:cNvPr>
          <p:cNvSpPr txBox="1"/>
          <p:nvPr/>
        </p:nvSpPr>
        <p:spPr>
          <a:xfrm>
            <a:off x="5956170" y="3447383"/>
            <a:ext cx="1002323" cy="276405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 defTabSz="554492">
              <a:spcBef>
                <a:spcPts val="82"/>
              </a:spcBef>
            </a:pPr>
            <a:r>
              <a:rPr sz="1728" kern="0" spc="118" dirty="0">
                <a:solidFill>
                  <a:srgbClr val="FFFFFF"/>
                </a:solidFill>
                <a:latin typeface="Tahoma"/>
                <a:cs typeface="Tahoma"/>
              </a:rPr>
              <a:t>Compute</a:t>
            </a:r>
            <a:endParaRPr sz="1728" kern="0" dirty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E03CB770-3869-4E4C-F8B8-23BFF80CC743}"/>
              </a:ext>
            </a:extLst>
          </p:cNvPr>
          <p:cNvSpPr txBox="1"/>
          <p:nvPr/>
        </p:nvSpPr>
        <p:spPr>
          <a:xfrm>
            <a:off x="6175850" y="3714065"/>
            <a:ext cx="562964" cy="276405"/>
          </a:xfrm>
          <a:prstGeom prst="rect">
            <a:avLst/>
          </a:prstGeom>
        </p:spPr>
        <p:txBody>
          <a:bodyPr vert="horz" wrap="square" lIns="0" tIns="10397" rIns="0" bIns="0" rtlCol="0">
            <a:spAutoFit/>
          </a:bodyPr>
          <a:lstStyle/>
          <a:p>
            <a:pPr marL="7701" defTabSz="554492">
              <a:spcBef>
                <a:spcPts val="82"/>
              </a:spcBef>
            </a:pPr>
            <a:r>
              <a:rPr sz="1728" kern="0" spc="39" dirty="0">
                <a:solidFill>
                  <a:srgbClr val="FFFFFF"/>
                </a:solidFill>
                <a:latin typeface="Tahoma"/>
                <a:cs typeface="Tahoma"/>
              </a:rPr>
              <a:t>value</a:t>
            </a:r>
            <a:endParaRPr sz="1728" kern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grpSp>
        <p:nvGrpSpPr>
          <p:cNvPr id="9" name="object 13">
            <a:extLst>
              <a:ext uri="{FF2B5EF4-FFF2-40B4-BE49-F238E27FC236}">
                <a16:creationId xmlns:a16="http://schemas.microsoft.com/office/drawing/2014/main" id="{18DAA705-70CF-F396-85F0-EB496F4198F9}"/>
              </a:ext>
            </a:extLst>
          </p:cNvPr>
          <p:cNvGrpSpPr/>
          <p:nvPr/>
        </p:nvGrpSpPr>
        <p:grpSpPr>
          <a:xfrm>
            <a:off x="8371400" y="3825356"/>
            <a:ext cx="940328" cy="175589"/>
            <a:chOff x="13544624" y="6898700"/>
            <a:chExt cx="1550670" cy="289560"/>
          </a:xfrm>
        </p:grpSpPr>
        <p:sp>
          <p:nvSpPr>
            <p:cNvPr id="10" name="object 14">
              <a:extLst>
                <a:ext uri="{FF2B5EF4-FFF2-40B4-BE49-F238E27FC236}">
                  <a16:creationId xmlns:a16="http://schemas.microsoft.com/office/drawing/2014/main" id="{1FD85D61-B8B3-8A48-D67E-565A8E22F189}"/>
                </a:ext>
              </a:extLst>
            </p:cNvPr>
            <p:cNvSpPr/>
            <p:nvPr/>
          </p:nvSpPr>
          <p:spPr>
            <a:xfrm>
              <a:off x="13801895" y="7043198"/>
              <a:ext cx="1041400" cy="0"/>
            </a:xfrm>
            <a:custGeom>
              <a:avLst/>
              <a:gdLst/>
              <a:ahLst/>
              <a:cxnLst/>
              <a:rect l="l" t="t" r="r" b="b"/>
              <a:pathLst>
                <a:path w="1041400">
                  <a:moveTo>
                    <a:pt x="0" y="0"/>
                  </a:moveTo>
                  <a:lnTo>
                    <a:pt x="1040848" y="0"/>
                  </a:lnTo>
                </a:path>
              </a:pathLst>
            </a:custGeom>
            <a:ln w="7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object 15">
              <a:extLst>
                <a:ext uri="{FF2B5EF4-FFF2-40B4-BE49-F238E27FC236}">
                  <a16:creationId xmlns:a16="http://schemas.microsoft.com/office/drawing/2014/main" id="{7F07AA1B-37EC-F7AF-0A75-EF5532BDEBF0}"/>
                </a:ext>
              </a:extLst>
            </p:cNvPr>
            <p:cNvSpPr/>
            <p:nvPr/>
          </p:nvSpPr>
          <p:spPr>
            <a:xfrm>
              <a:off x="14806093" y="6898700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59">
                  <a:moveTo>
                    <a:pt x="0" y="0"/>
                  </a:moveTo>
                  <a:lnTo>
                    <a:pt x="0" y="288996"/>
                  </a:lnTo>
                  <a:lnTo>
                    <a:pt x="288996" y="144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16">
              <a:extLst>
                <a:ext uri="{FF2B5EF4-FFF2-40B4-BE49-F238E27FC236}">
                  <a16:creationId xmlns:a16="http://schemas.microsoft.com/office/drawing/2014/main" id="{ED948FBF-424F-535A-5A06-5F43D9B5C80A}"/>
                </a:ext>
              </a:extLst>
            </p:cNvPr>
            <p:cNvSpPr/>
            <p:nvPr/>
          </p:nvSpPr>
          <p:spPr>
            <a:xfrm>
              <a:off x="13544624" y="7043198"/>
              <a:ext cx="257810" cy="0"/>
            </a:xfrm>
            <a:custGeom>
              <a:avLst/>
              <a:gdLst/>
              <a:ahLst/>
              <a:cxnLst/>
              <a:rect l="l" t="t" r="r" b="b"/>
              <a:pathLst>
                <a:path w="257809">
                  <a:moveTo>
                    <a:pt x="0" y="0"/>
                  </a:moveTo>
                  <a:lnTo>
                    <a:pt x="257271" y="0"/>
                  </a:lnTo>
                </a:path>
              </a:pathLst>
            </a:custGeom>
            <a:ln w="732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3" name="object 18">
            <a:extLst>
              <a:ext uri="{FF2B5EF4-FFF2-40B4-BE49-F238E27FC236}">
                <a16:creationId xmlns:a16="http://schemas.microsoft.com/office/drawing/2014/main" id="{6F382813-30B8-97E7-C2D0-B1A2512C4828}"/>
              </a:ext>
            </a:extLst>
          </p:cNvPr>
          <p:cNvGrpSpPr/>
          <p:nvPr/>
        </p:nvGrpSpPr>
        <p:grpSpPr>
          <a:xfrm>
            <a:off x="3521735" y="1463508"/>
            <a:ext cx="5189883" cy="2366992"/>
            <a:chOff x="5806896" y="2413433"/>
            <a:chExt cx="8558501" cy="3903345"/>
          </a:xfrm>
        </p:grpSpPr>
        <p:sp>
          <p:nvSpPr>
            <p:cNvPr id="14" name="object 19">
              <a:extLst>
                <a:ext uri="{FF2B5EF4-FFF2-40B4-BE49-F238E27FC236}">
                  <a16:creationId xmlns:a16="http://schemas.microsoft.com/office/drawing/2014/main" id="{7A6FF050-3AAA-653C-F2CF-AE0E46532EBC}"/>
                </a:ext>
              </a:extLst>
            </p:cNvPr>
            <p:cNvSpPr/>
            <p:nvPr/>
          </p:nvSpPr>
          <p:spPr>
            <a:xfrm>
              <a:off x="7811563" y="2413433"/>
              <a:ext cx="6553834" cy="3903345"/>
            </a:xfrm>
            <a:custGeom>
              <a:avLst/>
              <a:gdLst/>
              <a:ahLst/>
              <a:cxnLst/>
              <a:rect l="l" t="t" r="r" b="b"/>
              <a:pathLst>
                <a:path w="6553834" h="3903345">
                  <a:moveTo>
                    <a:pt x="0" y="3903094"/>
                  </a:moveTo>
                  <a:lnTo>
                    <a:pt x="6553236" y="0"/>
                  </a:lnTo>
                </a:path>
              </a:pathLst>
            </a:custGeom>
            <a:ln w="8376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object 20">
              <a:extLst>
                <a:ext uri="{FF2B5EF4-FFF2-40B4-BE49-F238E27FC236}">
                  <a16:creationId xmlns:a16="http://schemas.microsoft.com/office/drawing/2014/main" id="{CAB988AC-2246-2B94-0A1E-C1266CAB90FA}"/>
                </a:ext>
              </a:extLst>
            </p:cNvPr>
            <p:cNvSpPr/>
            <p:nvPr/>
          </p:nvSpPr>
          <p:spPr>
            <a:xfrm>
              <a:off x="5806896" y="5127854"/>
              <a:ext cx="3473450" cy="767080"/>
            </a:xfrm>
            <a:custGeom>
              <a:avLst/>
              <a:gdLst/>
              <a:ahLst/>
              <a:cxnLst/>
              <a:rect l="l" t="t" r="r" b="b"/>
              <a:pathLst>
                <a:path w="3473450" h="767079">
                  <a:moveTo>
                    <a:pt x="0" y="0"/>
                  </a:moveTo>
                  <a:lnTo>
                    <a:pt x="3437404" y="758904"/>
                  </a:lnTo>
                  <a:lnTo>
                    <a:pt x="3473191" y="766805"/>
                  </a:lnTo>
                </a:path>
              </a:pathLst>
            </a:custGeom>
            <a:ln w="7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21">
              <a:extLst>
                <a:ext uri="{FF2B5EF4-FFF2-40B4-BE49-F238E27FC236}">
                  <a16:creationId xmlns:a16="http://schemas.microsoft.com/office/drawing/2014/main" id="{89C82331-2BD6-BF74-6F2D-02E2B62593BE}"/>
                </a:ext>
              </a:extLst>
            </p:cNvPr>
            <p:cNvSpPr/>
            <p:nvPr/>
          </p:nvSpPr>
          <p:spPr>
            <a:xfrm>
              <a:off x="9213148" y="5745658"/>
              <a:ext cx="313690" cy="282575"/>
            </a:xfrm>
            <a:custGeom>
              <a:avLst/>
              <a:gdLst/>
              <a:ahLst/>
              <a:cxnLst/>
              <a:rect l="l" t="t" r="r" b="b"/>
              <a:pathLst>
                <a:path w="313690" h="282575">
                  <a:moveTo>
                    <a:pt x="62303" y="0"/>
                  </a:moveTo>
                  <a:lnTo>
                    <a:pt x="0" y="282200"/>
                  </a:lnTo>
                  <a:lnTo>
                    <a:pt x="313352" y="203404"/>
                  </a:lnTo>
                  <a:lnTo>
                    <a:pt x="623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7" name="object 25">
              <a:extLst>
                <a:ext uri="{FF2B5EF4-FFF2-40B4-BE49-F238E27FC236}">
                  <a16:creationId xmlns:a16="http://schemas.microsoft.com/office/drawing/2014/main" id="{E54215AD-117F-A46D-6AA8-4719C751118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0554" y="5011534"/>
              <a:ext cx="3003228" cy="1191735"/>
            </a:xfrm>
            <a:prstGeom prst="rect">
              <a:avLst/>
            </a:prstGeom>
          </p:spPr>
        </p:pic>
        <p:pic>
          <p:nvPicPr>
            <p:cNvPr id="18" name="object 26">
              <a:extLst>
                <a:ext uri="{FF2B5EF4-FFF2-40B4-BE49-F238E27FC236}">
                  <a16:creationId xmlns:a16="http://schemas.microsoft.com/office/drawing/2014/main" id="{71A3F97C-5B81-2D77-ACFD-D2C00AF3787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61323" y="2851366"/>
              <a:ext cx="2920650" cy="1262612"/>
            </a:xfrm>
            <a:prstGeom prst="rect">
              <a:avLst/>
            </a:prstGeom>
          </p:spPr>
        </p:pic>
      </p:grpSp>
      <p:sp>
        <p:nvSpPr>
          <p:cNvPr id="19" name="object 27">
            <a:extLst>
              <a:ext uri="{FF2B5EF4-FFF2-40B4-BE49-F238E27FC236}">
                <a16:creationId xmlns:a16="http://schemas.microsoft.com/office/drawing/2014/main" id="{1842AF04-AEEA-B6CB-82E4-137923B629D6}"/>
              </a:ext>
            </a:extLst>
          </p:cNvPr>
          <p:cNvSpPr/>
          <p:nvPr/>
        </p:nvSpPr>
        <p:spPr>
          <a:xfrm>
            <a:off x="2615507" y="2673994"/>
            <a:ext cx="800549" cy="762043"/>
          </a:xfrm>
          <a:custGeom>
            <a:avLst/>
            <a:gdLst/>
            <a:ahLst/>
            <a:cxnLst/>
            <a:rect l="l" t="t" r="r" b="b"/>
            <a:pathLst>
              <a:path w="1320164" h="1256664">
                <a:moveTo>
                  <a:pt x="1126783" y="183957"/>
                </a:moveTo>
                <a:lnTo>
                  <a:pt x="1160335" y="218319"/>
                </a:lnTo>
                <a:lnTo>
                  <a:pt x="1190692" y="254400"/>
                </a:lnTo>
                <a:lnTo>
                  <a:pt x="1217854" y="292026"/>
                </a:lnTo>
                <a:lnTo>
                  <a:pt x="1241820" y="331025"/>
                </a:lnTo>
                <a:lnTo>
                  <a:pt x="1262590" y="371227"/>
                </a:lnTo>
                <a:lnTo>
                  <a:pt x="1280165" y="412460"/>
                </a:lnTo>
                <a:lnTo>
                  <a:pt x="1294545" y="454551"/>
                </a:lnTo>
                <a:lnTo>
                  <a:pt x="1305729" y="497329"/>
                </a:lnTo>
                <a:lnTo>
                  <a:pt x="1313717" y="540623"/>
                </a:lnTo>
                <a:lnTo>
                  <a:pt x="1318511" y="584260"/>
                </a:lnTo>
                <a:lnTo>
                  <a:pt x="1320108" y="628069"/>
                </a:lnTo>
                <a:lnTo>
                  <a:pt x="1318511" y="671877"/>
                </a:lnTo>
                <a:lnTo>
                  <a:pt x="1313717" y="715514"/>
                </a:lnTo>
                <a:lnTo>
                  <a:pt x="1305729" y="758808"/>
                </a:lnTo>
                <a:lnTo>
                  <a:pt x="1294545" y="801586"/>
                </a:lnTo>
                <a:lnTo>
                  <a:pt x="1280165" y="843677"/>
                </a:lnTo>
                <a:lnTo>
                  <a:pt x="1262590" y="884910"/>
                </a:lnTo>
                <a:lnTo>
                  <a:pt x="1241820" y="925112"/>
                </a:lnTo>
                <a:lnTo>
                  <a:pt x="1217854" y="964112"/>
                </a:lnTo>
                <a:lnTo>
                  <a:pt x="1190692" y="1001738"/>
                </a:lnTo>
                <a:lnTo>
                  <a:pt x="1160335" y="1037818"/>
                </a:lnTo>
                <a:lnTo>
                  <a:pt x="1126783" y="1072180"/>
                </a:lnTo>
                <a:lnTo>
                  <a:pt x="1090670" y="1104107"/>
                </a:lnTo>
                <a:lnTo>
                  <a:pt x="1052753" y="1132993"/>
                </a:lnTo>
                <a:lnTo>
                  <a:pt x="1013211" y="1158838"/>
                </a:lnTo>
                <a:lnTo>
                  <a:pt x="972225" y="1181643"/>
                </a:lnTo>
                <a:lnTo>
                  <a:pt x="929975" y="1201407"/>
                </a:lnTo>
                <a:lnTo>
                  <a:pt x="886643" y="1218130"/>
                </a:lnTo>
                <a:lnTo>
                  <a:pt x="842408" y="1231813"/>
                </a:lnTo>
                <a:lnTo>
                  <a:pt x="797451" y="1242455"/>
                </a:lnTo>
                <a:lnTo>
                  <a:pt x="751953" y="1250056"/>
                </a:lnTo>
                <a:lnTo>
                  <a:pt x="706094" y="1254617"/>
                </a:lnTo>
                <a:lnTo>
                  <a:pt x="660054" y="1256138"/>
                </a:lnTo>
                <a:lnTo>
                  <a:pt x="614014" y="1254617"/>
                </a:lnTo>
                <a:lnTo>
                  <a:pt x="568155" y="1250056"/>
                </a:lnTo>
                <a:lnTo>
                  <a:pt x="522657" y="1242455"/>
                </a:lnTo>
                <a:lnTo>
                  <a:pt x="477700" y="1231813"/>
                </a:lnTo>
                <a:lnTo>
                  <a:pt x="433465" y="1218130"/>
                </a:lnTo>
                <a:lnTo>
                  <a:pt x="390133" y="1201407"/>
                </a:lnTo>
                <a:lnTo>
                  <a:pt x="347883" y="1181643"/>
                </a:lnTo>
                <a:lnTo>
                  <a:pt x="306897" y="1158838"/>
                </a:lnTo>
                <a:lnTo>
                  <a:pt x="267355" y="1132993"/>
                </a:lnTo>
                <a:lnTo>
                  <a:pt x="229438" y="1104107"/>
                </a:lnTo>
                <a:lnTo>
                  <a:pt x="193325" y="1072180"/>
                </a:lnTo>
                <a:lnTo>
                  <a:pt x="159773" y="1037818"/>
                </a:lnTo>
                <a:lnTo>
                  <a:pt x="129416" y="1001738"/>
                </a:lnTo>
                <a:lnTo>
                  <a:pt x="102254" y="964112"/>
                </a:lnTo>
                <a:lnTo>
                  <a:pt x="78288" y="925112"/>
                </a:lnTo>
                <a:lnTo>
                  <a:pt x="57518" y="884910"/>
                </a:lnTo>
                <a:lnTo>
                  <a:pt x="39943" y="843677"/>
                </a:lnTo>
                <a:lnTo>
                  <a:pt x="25563" y="801586"/>
                </a:lnTo>
                <a:lnTo>
                  <a:pt x="14379" y="758808"/>
                </a:lnTo>
                <a:lnTo>
                  <a:pt x="6390" y="715514"/>
                </a:lnTo>
                <a:lnTo>
                  <a:pt x="1597" y="671877"/>
                </a:lnTo>
                <a:lnTo>
                  <a:pt x="0" y="628069"/>
                </a:lnTo>
                <a:lnTo>
                  <a:pt x="1597" y="584260"/>
                </a:lnTo>
                <a:lnTo>
                  <a:pt x="6390" y="540623"/>
                </a:lnTo>
                <a:lnTo>
                  <a:pt x="14379" y="497329"/>
                </a:lnTo>
                <a:lnTo>
                  <a:pt x="25563" y="454551"/>
                </a:lnTo>
                <a:lnTo>
                  <a:pt x="39943" y="412460"/>
                </a:lnTo>
                <a:lnTo>
                  <a:pt x="57518" y="371227"/>
                </a:lnTo>
                <a:lnTo>
                  <a:pt x="78288" y="331025"/>
                </a:lnTo>
                <a:lnTo>
                  <a:pt x="102254" y="292026"/>
                </a:lnTo>
                <a:lnTo>
                  <a:pt x="129416" y="254400"/>
                </a:lnTo>
                <a:lnTo>
                  <a:pt x="159773" y="218319"/>
                </a:lnTo>
                <a:lnTo>
                  <a:pt x="193325" y="183957"/>
                </a:lnTo>
                <a:lnTo>
                  <a:pt x="229438" y="152030"/>
                </a:lnTo>
                <a:lnTo>
                  <a:pt x="267355" y="123144"/>
                </a:lnTo>
                <a:lnTo>
                  <a:pt x="306897" y="97299"/>
                </a:lnTo>
                <a:lnTo>
                  <a:pt x="347883" y="74495"/>
                </a:lnTo>
                <a:lnTo>
                  <a:pt x="390133" y="54731"/>
                </a:lnTo>
                <a:lnTo>
                  <a:pt x="433465" y="38007"/>
                </a:lnTo>
                <a:lnTo>
                  <a:pt x="477700" y="24324"/>
                </a:lnTo>
                <a:lnTo>
                  <a:pt x="522657" y="13682"/>
                </a:lnTo>
                <a:lnTo>
                  <a:pt x="568155" y="6081"/>
                </a:lnTo>
                <a:lnTo>
                  <a:pt x="614014" y="1520"/>
                </a:lnTo>
                <a:lnTo>
                  <a:pt x="660054" y="0"/>
                </a:lnTo>
                <a:lnTo>
                  <a:pt x="706094" y="1520"/>
                </a:lnTo>
                <a:lnTo>
                  <a:pt x="751953" y="6081"/>
                </a:lnTo>
                <a:lnTo>
                  <a:pt x="797451" y="13682"/>
                </a:lnTo>
                <a:lnTo>
                  <a:pt x="842408" y="24324"/>
                </a:lnTo>
                <a:lnTo>
                  <a:pt x="886643" y="38007"/>
                </a:lnTo>
                <a:lnTo>
                  <a:pt x="929975" y="54731"/>
                </a:lnTo>
                <a:lnTo>
                  <a:pt x="972225" y="74495"/>
                </a:lnTo>
                <a:lnTo>
                  <a:pt x="1013211" y="97299"/>
                </a:lnTo>
                <a:lnTo>
                  <a:pt x="1052753" y="123144"/>
                </a:lnTo>
                <a:lnTo>
                  <a:pt x="1090670" y="152030"/>
                </a:lnTo>
                <a:lnTo>
                  <a:pt x="1126783" y="183957"/>
                </a:lnTo>
                <a:close/>
              </a:path>
            </a:pathLst>
          </a:custGeom>
          <a:ln w="732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20" name="object 31">
            <a:extLst>
              <a:ext uri="{FF2B5EF4-FFF2-40B4-BE49-F238E27FC236}">
                <a16:creationId xmlns:a16="http://schemas.microsoft.com/office/drawing/2014/main" id="{3D2B420B-4D0A-6AD5-EDDE-49C630CDFEF9}"/>
              </a:ext>
            </a:extLst>
          </p:cNvPr>
          <p:cNvSpPr txBox="1"/>
          <p:nvPr/>
        </p:nvSpPr>
        <p:spPr>
          <a:xfrm>
            <a:off x="2830926" y="2610514"/>
            <a:ext cx="419720" cy="59998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23104" defTabSz="554492">
              <a:spcBef>
                <a:spcPts val="58"/>
              </a:spcBef>
            </a:pPr>
            <a:r>
              <a:rPr sz="3851" i="1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x</a:t>
            </a:r>
            <a:r>
              <a:rPr sz="4093" kern="0" spc="-22" baseline="-19753" dirty="0">
                <a:solidFill>
                  <a:sysClr val="windowText" lastClr="000000"/>
                </a:solidFill>
                <a:latin typeface="Garamond"/>
                <a:cs typeface="Garamond"/>
              </a:rPr>
              <a:t>1</a:t>
            </a:r>
            <a:endParaRPr sz="4093" kern="0" baseline="-19753">
              <a:solidFill>
                <a:sysClr val="windowText" lastClr="000000"/>
              </a:solidFill>
              <a:latin typeface="Garamond"/>
              <a:cs typeface="Garamond"/>
            </a:endParaRPr>
          </a:p>
        </p:txBody>
      </p:sp>
      <p:sp>
        <p:nvSpPr>
          <p:cNvPr id="21" name="object 32">
            <a:extLst>
              <a:ext uri="{FF2B5EF4-FFF2-40B4-BE49-F238E27FC236}">
                <a16:creationId xmlns:a16="http://schemas.microsoft.com/office/drawing/2014/main" id="{0C81D74B-F99B-486F-A420-D14CF62AE773}"/>
              </a:ext>
            </a:extLst>
          </p:cNvPr>
          <p:cNvSpPr txBox="1">
            <a:spLocks/>
          </p:cNvSpPr>
          <p:nvPr/>
        </p:nvSpPr>
        <p:spPr>
          <a:xfrm>
            <a:off x="6345213" y="1881903"/>
            <a:ext cx="2366403" cy="49649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>
              <a:spcBef>
                <a:spcPts val="58"/>
              </a:spcBef>
            </a:pPr>
            <a:r>
              <a:rPr lang="en-US" sz="3851" i="1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r>
              <a:rPr lang="en-US" sz="3851" i="1" spc="97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851" spc="136">
                <a:solidFill>
                  <a:srgbClr val="000000"/>
                </a:solidFill>
                <a:latin typeface="Garamond"/>
                <a:cs typeface="Garamond"/>
              </a:rPr>
              <a:t>:=</a:t>
            </a:r>
            <a:r>
              <a:rPr lang="en-US" sz="3851" spc="100">
                <a:solidFill>
                  <a:srgbClr val="000000"/>
                </a:solidFill>
                <a:latin typeface="Garamond"/>
                <a:cs typeface="Garamond"/>
              </a:rPr>
              <a:t> </a:t>
            </a:r>
            <a:r>
              <a:rPr lang="en-US" sz="3851" spc="76">
                <a:solidFill>
                  <a:srgbClr val="000000"/>
                </a:solidFill>
                <a:latin typeface="Garamond"/>
                <a:cs typeface="Garamond"/>
              </a:rPr>
              <a:t>0</a:t>
            </a:r>
            <a:endParaRPr lang="en-US" sz="3851" dirty="0">
              <a:latin typeface="Garamond"/>
              <a:cs typeface="Garamond"/>
            </a:endParaRPr>
          </a:p>
        </p:txBody>
      </p:sp>
      <p:grpSp>
        <p:nvGrpSpPr>
          <p:cNvPr id="22" name="object 33">
            <a:extLst>
              <a:ext uri="{FF2B5EF4-FFF2-40B4-BE49-F238E27FC236}">
                <a16:creationId xmlns:a16="http://schemas.microsoft.com/office/drawing/2014/main" id="{F3C432F5-EA3A-88B3-E15A-0094ADFA2283}"/>
              </a:ext>
            </a:extLst>
          </p:cNvPr>
          <p:cNvGrpSpPr/>
          <p:nvPr/>
        </p:nvGrpSpPr>
        <p:grpSpPr>
          <a:xfrm>
            <a:off x="6365547" y="2497565"/>
            <a:ext cx="175589" cy="806511"/>
            <a:chOff x="10496580" y="4118673"/>
            <a:chExt cx="289560" cy="1329997"/>
          </a:xfrm>
        </p:grpSpPr>
        <p:sp>
          <p:nvSpPr>
            <p:cNvPr id="23" name="object 34">
              <a:extLst>
                <a:ext uri="{FF2B5EF4-FFF2-40B4-BE49-F238E27FC236}">
                  <a16:creationId xmlns:a16="http://schemas.microsoft.com/office/drawing/2014/main" id="{91116DF4-87F2-7A28-3DE5-5D5CF31ED69D}"/>
                </a:ext>
              </a:extLst>
            </p:cNvPr>
            <p:cNvSpPr/>
            <p:nvPr/>
          </p:nvSpPr>
          <p:spPr>
            <a:xfrm>
              <a:off x="10641079" y="4118673"/>
              <a:ext cx="0" cy="1077595"/>
            </a:xfrm>
            <a:custGeom>
              <a:avLst/>
              <a:gdLst/>
              <a:ahLst/>
              <a:cxnLst/>
              <a:rect l="l" t="t" r="r" b="b"/>
              <a:pathLst>
                <a:path h="1077595">
                  <a:moveTo>
                    <a:pt x="0" y="0"/>
                  </a:moveTo>
                  <a:lnTo>
                    <a:pt x="0" y="1040437"/>
                  </a:lnTo>
                  <a:lnTo>
                    <a:pt x="0" y="1077086"/>
                  </a:lnTo>
                </a:path>
              </a:pathLst>
            </a:custGeom>
            <a:ln w="7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object 35">
              <a:extLst>
                <a:ext uri="{FF2B5EF4-FFF2-40B4-BE49-F238E27FC236}">
                  <a16:creationId xmlns:a16="http://schemas.microsoft.com/office/drawing/2014/main" id="{E0E789CC-A050-B370-73B9-71992871AF32}"/>
                </a:ext>
              </a:extLst>
            </p:cNvPr>
            <p:cNvSpPr/>
            <p:nvPr/>
          </p:nvSpPr>
          <p:spPr>
            <a:xfrm>
              <a:off x="10496580" y="5159110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288996" y="0"/>
                  </a:moveTo>
                  <a:lnTo>
                    <a:pt x="0" y="0"/>
                  </a:lnTo>
                  <a:lnTo>
                    <a:pt x="144498" y="288996"/>
                  </a:lnTo>
                  <a:lnTo>
                    <a:pt x="2889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5" name="object 37">
            <a:extLst>
              <a:ext uri="{FF2B5EF4-FFF2-40B4-BE49-F238E27FC236}">
                <a16:creationId xmlns:a16="http://schemas.microsoft.com/office/drawing/2014/main" id="{D9253318-E30B-3EBE-D84E-F98D503B64B6}"/>
              </a:ext>
            </a:extLst>
          </p:cNvPr>
          <p:cNvSpPr txBox="1"/>
          <p:nvPr/>
        </p:nvSpPr>
        <p:spPr>
          <a:xfrm>
            <a:off x="3858773" y="2549237"/>
            <a:ext cx="2713165" cy="2785438"/>
          </a:xfrm>
          <a:prstGeom prst="rect">
            <a:avLst/>
          </a:prstGeom>
        </p:spPr>
        <p:txBody>
          <a:bodyPr vert="horz" wrap="square" lIns="0" tIns="65846" rIns="0" bIns="0" rtlCol="0">
            <a:spAutoFit/>
          </a:bodyPr>
          <a:lstStyle/>
          <a:p>
            <a:pPr marL="1055845" defTabSz="554492">
              <a:spcBef>
                <a:spcPts val="518"/>
              </a:spcBef>
            </a:pPr>
            <a:r>
              <a:rPr lang="en-US" sz="3002" strike="sngStrike" kern="0" dirty="0">
                <a:solidFill>
                  <a:srgbClr val="EE220C"/>
                </a:solidFill>
                <a:latin typeface="Helvetica Neue"/>
                <a:cs typeface="Helvetica Neue"/>
              </a:rPr>
              <a:t>63</a:t>
            </a:r>
            <a:endParaRPr sz="3002" strike="sngStrike" kern="0" dirty="0">
              <a:solidFill>
                <a:sysClr val="windowText" lastClr="000000"/>
              </a:solidFill>
              <a:latin typeface="Helvetica Neue"/>
              <a:cs typeface="Helvetica Neue"/>
            </a:endParaRPr>
          </a:p>
          <a:p>
            <a:pPr marL="30805" defTabSz="554492">
              <a:spcBef>
                <a:spcPts val="588"/>
              </a:spcBef>
              <a:tabLst>
                <a:tab pos="648833" algn="l"/>
              </a:tabLst>
            </a:pPr>
            <a:r>
              <a:rPr sz="3851" i="1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4093" kern="0" spc="-22" baseline="-19753" dirty="0">
                <a:solidFill>
                  <a:sysClr val="windowText" lastClr="000000"/>
                </a:solidFill>
                <a:latin typeface="Garamond"/>
                <a:cs typeface="Garamond"/>
              </a:rPr>
              <a:t>1</a:t>
            </a:r>
            <a:r>
              <a:rPr sz="4093" kern="0" baseline="-19753" dirty="0">
                <a:solidFill>
                  <a:sysClr val="windowText" lastClr="000000"/>
                </a:solidFill>
                <a:latin typeface="Garamond"/>
                <a:cs typeface="Garamond"/>
              </a:rPr>
              <a:t>	</a:t>
            </a:r>
            <a:r>
              <a:rPr sz="3851" kern="0" spc="136" dirty="0">
                <a:solidFill>
                  <a:sysClr val="windowText" lastClr="000000"/>
                </a:solidFill>
                <a:latin typeface="Garamond"/>
                <a:cs typeface="Garamond"/>
              </a:rPr>
              <a:t>:=</a:t>
            </a:r>
            <a:r>
              <a:rPr sz="3851" kern="0" spc="109" dirty="0">
                <a:solidFill>
                  <a:sysClr val="windowText" lastClr="000000"/>
                </a:solidFill>
                <a:latin typeface="Garamond"/>
                <a:cs typeface="Garamond"/>
              </a:rPr>
              <a:t> </a:t>
            </a:r>
            <a:r>
              <a:rPr sz="3851" kern="0" spc="76" dirty="0">
                <a:solidFill>
                  <a:sysClr val="windowText" lastClr="000000"/>
                </a:solidFill>
                <a:latin typeface="Garamond"/>
                <a:cs typeface="Garamond"/>
              </a:rPr>
              <a:t>0</a:t>
            </a:r>
            <a:endParaRPr sz="3851" kern="0" dirty="0">
              <a:solidFill>
                <a:sysClr val="windowText" lastClr="000000"/>
              </a:solidFill>
              <a:latin typeface="Garamond"/>
              <a:cs typeface="Garamond"/>
            </a:endParaRPr>
          </a:p>
          <a:p>
            <a:pPr marL="30805" defTabSz="554492">
              <a:spcBef>
                <a:spcPts val="1061"/>
              </a:spcBef>
              <a:tabLst>
                <a:tab pos="648833" algn="l"/>
                <a:tab pos="2455168" algn="l"/>
              </a:tabLst>
            </a:pPr>
            <a:r>
              <a:rPr sz="3851" kern="0" dirty="0">
                <a:solidFill>
                  <a:sysClr val="windowText" lastClr="000000"/>
                </a:solidFill>
                <a:latin typeface="Garamond"/>
                <a:cs typeface="Garamond"/>
              </a:rPr>
              <a:t>	</a:t>
            </a:r>
            <a:r>
              <a:rPr sz="4730" i="1" kern="0" spc="-30" dirty="0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sz="4730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989229" defTabSz="554492">
              <a:spcBef>
                <a:spcPts val="2049"/>
              </a:spcBef>
            </a:pPr>
            <a:r>
              <a:rPr sz="3002" kern="0" spc="-497" dirty="0">
                <a:solidFill>
                  <a:srgbClr val="EE220C"/>
                </a:solidFill>
                <a:latin typeface="Helvetica Neue"/>
                <a:cs typeface="Helvetica Neue"/>
              </a:rPr>
              <a:t>.</a:t>
            </a:r>
            <a:endParaRPr sz="3002" kern="0" dirty="0">
              <a:solidFill>
                <a:sysClr val="windowText" lastClr="000000"/>
              </a:solidFill>
              <a:latin typeface="Helvetica Neue"/>
              <a:cs typeface="Helvetica Neue"/>
            </a:endParaRPr>
          </a:p>
        </p:txBody>
      </p:sp>
      <p:sp>
        <p:nvSpPr>
          <p:cNvPr id="26" name="object 38">
            <a:extLst>
              <a:ext uri="{FF2B5EF4-FFF2-40B4-BE49-F238E27FC236}">
                <a16:creationId xmlns:a16="http://schemas.microsoft.com/office/drawing/2014/main" id="{00362B68-C4A6-39DC-B707-94F349315B5C}"/>
              </a:ext>
            </a:extLst>
          </p:cNvPr>
          <p:cNvSpPr txBox="1"/>
          <p:nvPr/>
        </p:nvSpPr>
        <p:spPr>
          <a:xfrm>
            <a:off x="7161767" y="1100524"/>
            <a:ext cx="545251" cy="469373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defTabSz="554492">
              <a:spcBef>
                <a:spcPts val="58"/>
              </a:spcBef>
            </a:pPr>
            <a:r>
              <a:rPr sz="3002" strike="sngStrike" kern="0" spc="-224" dirty="0">
                <a:solidFill>
                  <a:srgbClr val="EE220C"/>
                </a:solidFill>
                <a:latin typeface="Helvetica Neue"/>
                <a:cs typeface="Helvetica Neue"/>
              </a:rPr>
              <a:t>1</a:t>
            </a:r>
            <a:r>
              <a:rPr lang="en-US" sz="3002" strike="sngStrike" kern="0" spc="-224" dirty="0">
                <a:solidFill>
                  <a:srgbClr val="EE220C"/>
                </a:solidFill>
                <a:latin typeface="Helvetica Neue"/>
                <a:cs typeface="Helvetica Neue"/>
              </a:rPr>
              <a:t>8</a:t>
            </a:r>
            <a:endParaRPr sz="3002" strike="sngStrike" kern="0" dirty="0">
              <a:solidFill>
                <a:sysClr val="windowText" lastClr="000000"/>
              </a:solidFill>
              <a:latin typeface="Helvetica Neue"/>
              <a:cs typeface="Helvetica Neue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0D0E3AA-170C-AEA6-913A-7C7ED32B76E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168" t="3032" r="168" b="8970"/>
          <a:stretch/>
        </p:blipFill>
        <p:spPr>
          <a:xfrm>
            <a:off x="615706" y="1711064"/>
            <a:ext cx="2800350" cy="838173"/>
          </a:xfrm>
          <a:prstGeom prst="rect">
            <a:avLst/>
          </a:prstGeom>
        </p:spPr>
      </p:pic>
      <p:sp>
        <p:nvSpPr>
          <p:cNvPr id="29" name="object 137">
            <a:extLst>
              <a:ext uri="{FF2B5EF4-FFF2-40B4-BE49-F238E27FC236}">
                <a16:creationId xmlns:a16="http://schemas.microsoft.com/office/drawing/2014/main" id="{8AFA2164-A6F6-AA1F-3295-75512766966D}"/>
              </a:ext>
            </a:extLst>
          </p:cNvPr>
          <p:cNvSpPr txBox="1">
            <a:spLocks/>
          </p:cNvSpPr>
          <p:nvPr/>
        </p:nvSpPr>
        <p:spPr>
          <a:xfrm>
            <a:off x="-1020468" y="3945532"/>
            <a:ext cx="8072498" cy="193220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>
            <a:lvl1pPr>
              <a:defRPr sz="2486" b="0" i="0">
                <a:solidFill>
                  <a:srgbClr val="929292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504060" lvl="2" defTabSz="554492">
              <a:tabLst>
                <a:tab pos="2152123" algn="l"/>
              </a:tabLst>
            </a:pPr>
            <a:r>
              <a:rPr lang="en-US" sz="1200" kern="0" spc="103" dirty="0">
                <a:solidFill>
                  <a:sysClr val="windowText" lastClr="000000"/>
                </a:solidFill>
                <a:latin typeface="Tahoma"/>
                <a:cs typeface="Tahoma"/>
              </a:rPr>
              <a:t>Update the weights based on slope of Loss Function</a:t>
            </a:r>
            <a:endParaRPr lang="en-US" sz="1200" kern="0" dirty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sp>
        <p:nvSpPr>
          <p:cNvPr id="30" name="object 3">
            <a:extLst>
              <a:ext uri="{FF2B5EF4-FFF2-40B4-BE49-F238E27FC236}">
                <a16:creationId xmlns:a16="http://schemas.microsoft.com/office/drawing/2014/main" id="{F066E3C8-3FA5-15A4-917A-44BFBA6C4278}"/>
              </a:ext>
            </a:extLst>
          </p:cNvPr>
          <p:cNvSpPr txBox="1"/>
          <p:nvPr/>
        </p:nvSpPr>
        <p:spPr>
          <a:xfrm>
            <a:off x="9311946" y="3217979"/>
            <a:ext cx="2525253" cy="391873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 defTabSz="554492">
              <a:spcBef>
                <a:spcPts val="73"/>
              </a:spcBef>
            </a:pPr>
            <a:r>
              <a:rPr lang="en-US" sz="2486" kern="0" spc="-45" dirty="0">
                <a:solidFill>
                  <a:sysClr val="windowText" lastClr="000000"/>
                </a:solidFill>
                <a:latin typeface="Tahoma"/>
                <a:cs typeface="Tahoma"/>
              </a:rPr>
              <a:t>Make Prediction</a:t>
            </a:r>
            <a:endParaRPr sz="2486" kern="0" dirty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5EF0A00-BE0E-E200-5DD2-DCB79F968B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3549" y="4125685"/>
            <a:ext cx="4220980" cy="2537613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030A7022-A6BC-9CD2-EDBB-D3CE58A521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0622" y="4106678"/>
            <a:ext cx="3614732" cy="249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5169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C85D5D-5672-9B58-D8EA-DEB1EE7D3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CF548C-F681-804E-5F4C-85E80823D038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695588-B8BD-1813-2A54-2A07A6B56E33}"/>
              </a:ext>
            </a:extLst>
          </p:cNvPr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0945C16-62BA-CC6F-28A9-DB6F416D9DF2}"/>
              </a:ext>
            </a:extLst>
          </p:cNvPr>
          <p:cNvSpPr/>
          <p:nvPr/>
        </p:nvSpPr>
        <p:spPr>
          <a:xfrm>
            <a:off x="502920" y="62179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regression: a first interpretable model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CF05193-5C9A-F94D-EA8D-4A5FB47753D9}"/>
              </a:ext>
            </a:extLst>
          </p:cNvPr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90BAF89-9C3D-DB7F-FE3B-59C1FE1E8990}"/>
              </a:ext>
            </a:extLst>
          </p:cNvPr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8</a:t>
            </a:r>
            <a:endParaRPr lang="en-US" sz="800" dirty="0"/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7F1233C5-41E2-D6E9-B8F0-B58F41B48CA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99287" y="2988505"/>
            <a:ext cx="1565039" cy="599777"/>
          </a:xfrm>
          <a:prstGeom prst="rect">
            <a:avLst/>
          </a:prstGeom>
        </p:spPr>
      </p:pic>
      <p:grpSp>
        <p:nvGrpSpPr>
          <p:cNvPr id="7" name="object 4">
            <a:extLst>
              <a:ext uri="{FF2B5EF4-FFF2-40B4-BE49-F238E27FC236}">
                <a16:creationId xmlns:a16="http://schemas.microsoft.com/office/drawing/2014/main" id="{7D4367F2-E994-C558-8F21-37624CA507CC}"/>
              </a:ext>
            </a:extLst>
          </p:cNvPr>
          <p:cNvGrpSpPr/>
          <p:nvPr/>
        </p:nvGrpSpPr>
        <p:grpSpPr>
          <a:xfrm>
            <a:off x="1154491" y="3041388"/>
            <a:ext cx="929161" cy="611868"/>
            <a:chOff x="1375471" y="4278479"/>
            <a:chExt cx="1532255" cy="1009015"/>
          </a:xfrm>
        </p:grpSpPr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D5D99FA6-0E71-E0FC-7CD6-11709E85E310}"/>
                </a:ext>
              </a:extLst>
            </p:cNvPr>
            <p:cNvSpPr/>
            <p:nvPr/>
          </p:nvSpPr>
          <p:spPr>
            <a:xfrm>
              <a:off x="1417381" y="4936074"/>
              <a:ext cx="495300" cy="309245"/>
            </a:xfrm>
            <a:custGeom>
              <a:avLst/>
              <a:gdLst/>
              <a:ahLst/>
              <a:cxnLst/>
              <a:rect l="l" t="t" r="r" b="b"/>
              <a:pathLst>
                <a:path w="495300" h="309245">
                  <a:moveTo>
                    <a:pt x="0" y="308988"/>
                  </a:moveTo>
                  <a:lnTo>
                    <a:pt x="459755" y="22168"/>
                  </a:lnTo>
                  <a:lnTo>
                    <a:pt x="495291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C06CA0E9-2FCE-C5CE-47EE-2BD8F143C7DB}"/>
                </a:ext>
              </a:extLst>
            </p:cNvPr>
            <p:cNvSpPr/>
            <p:nvPr/>
          </p:nvSpPr>
          <p:spPr>
            <a:xfrm>
              <a:off x="1790679" y="4785325"/>
              <a:ext cx="363855" cy="311785"/>
            </a:xfrm>
            <a:custGeom>
              <a:avLst/>
              <a:gdLst/>
              <a:ahLst/>
              <a:cxnLst/>
              <a:rect l="l" t="t" r="r" b="b"/>
              <a:pathLst>
                <a:path w="363855" h="311785">
                  <a:moveTo>
                    <a:pt x="363635" y="0"/>
                  </a:moveTo>
                  <a:lnTo>
                    <a:pt x="0" y="34328"/>
                  </a:lnTo>
                  <a:lnTo>
                    <a:pt x="172917" y="311505"/>
                  </a:lnTo>
                  <a:lnTo>
                    <a:pt x="3636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59A3E700-2DA6-6776-CAAE-FC455005ECAA}"/>
                </a:ext>
              </a:extLst>
            </p:cNvPr>
            <p:cNvSpPr/>
            <p:nvPr/>
          </p:nvSpPr>
          <p:spPr>
            <a:xfrm>
              <a:off x="2180774" y="4320389"/>
              <a:ext cx="685165" cy="685165"/>
            </a:xfrm>
            <a:custGeom>
              <a:avLst/>
              <a:gdLst/>
              <a:ahLst/>
              <a:cxnLst/>
              <a:rect l="l" t="t" r="r" b="b"/>
              <a:pathLst>
                <a:path w="685164" h="685164">
                  <a:moveTo>
                    <a:pt x="584618" y="100304"/>
                  </a:moveTo>
                  <a:lnTo>
                    <a:pt x="615267" y="135374"/>
                  </a:lnTo>
                  <a:lnTo>
                    <a:pt x="640343" y="173329"/>
                  </a:lnTo>
                  <a:lnTo>
                    <a:pt x="659847" y="213593"/>
                  </a:lnTo>
                  <a:lnTo>
                    <a:pt x="673778" y="255587"/>
                  </a:lnTo>
                  <a:lnTo>
                    <a:pt x="682137" y="298736"/>
                  </a:lnTo>
                  <a:lnTo>
                    <a:pt x="684923" y="342461"/>
                  </a:lnTo>
                  <a:lnTo>
                    <a:pt x="682137" y="386187"/>
                  </a:lnTo>
                  <a:lnTo>
                    <a:pt x="673778" y="429335"/>
                  </a:lnTo>
                  <a:lnTo>
                    <a:pt x="659847" y="471330"/>
                  </a:lnTo>
                  <a:lnTo>
                    <a:pt x="640343" y="511593"/>
                  </a:lnTo>
                  <a:lnTo>
                    <a:pt x="615267" y="549548"/>
                  </a:lnTo>
                  <a:lnTo>
                    <a:pt x="584618" y="584618"/>
                  </a:lnTo>
                  <a:lnTo>
                    <a:pt x="549548" y="615267"/>
                  </a:lnTo>
                  <a:lnTo>
                    <a:pt x="511593" y="640343"/>
                  </a:lnTo>
                  <a:lnTo>
                    <a:pt x="471330" y="659847"/>
                  </a:lnTo>
                  <a:lnTo>
                    <a:pt x="429335" y="673778"/>
                  </a:lnTo>
                  <a:lnTo>
                    <a:pt x="386187" y="682137"/>
                  </a:lnTo>
                  <a:lnTo>
                    <a:pt x="342461" y="684923"/>
                  </a:lnTo>
                  <a:lnTo>
                    <a:pt x="298736" y="682137"/>
                  </a:lnTo>
                  <a:lnTo>
                    <a:pt x="255587" y="673778"/>
                  </a:lnTo>
                  <a:lnTo>
                    <a:pt x="213593" y="659847"/>
                  </a:lnTo>
                  <a:lnTo>
                    <a:pt x="173329" y="640343"/>
                  </a:lnTo>
                  <a:lnTo>
                    <a:pt x="135374" y="615267"/>
                  </a:lnTo>
                  <a:lnTo>
                    <a:pt x="100304" y="584618"/>
                  </a:lnTo>
                  <a:lnTo>
                    <a:pt x="69656" y="549548"/>
                  </a:lnTo>
                  <a:lnTo>
                    <a:pt x="44579" y="511593"/>
                  </a:lnTo>
                  <a:lnTo>
                    <a:pt x="25076" y="471330"/>
                  </a:lnTo>
                  <a:lnTo>
                    <a:pt x="11144" y="429335"/>
                  </a:lnTo>
                  <a:lnTo>
                    <a:pt x="2786" y="386187"/>
                  </a:lnTo>
                  <a:lnTo>
                    <a:pt x="0" y="342461"/>
                  </a:lnTo>
                  <a:lnTo>
                    <a:pt x="2786" y="298736"/>
                  </a:lnTo>
                  <a:lnTo>
                    <a:pt x="11144" y="255587"/>
                  </a:lnTo>
                  <a:lnTo>
                    <a:pt x="25076" y="213593"/>
                  </a:lnTo>
                  <a:lnTo>
                    <a:pt x="44579" y="173329"/>
                  </a:lnTo>
                  <a:lnTo>
                    <a:pt x="69656" y="135374"/>
                  </a:lnTo>
                  <a:lnTo>
                    <a:pt x="100304" y="100304"/>
                  </a:lnTo>
                  <a:lnTo>
                    <a:pt x="135374" y="69656"/>
                  </a:lnTo>
                  <a:lnTo>
                    <a:pt x="173329" y="44579"/>
                  </a:lnTo>
                  <a:lnTo>
                    <a:pt x="213593" y="25076"/>
                  </a:lnTo>
                  <a:lnTo>
                    <a:pt x="255587" y="11144"/>
                  </a:lnTo>
                  <a:lnTo>
                    <a:pt x="298736" y="2786"/>
                  </a:lnTo>
                  <a:lnTo>
                    <a:pt x="342461" y="0"/>
                  </a:lnTo>
                  <a:lnTo>
                    <a:pt x="386187" y="2786"/>
                  </a:lnTo>
                  <a:lnTo>
                    <a:pt x="429335" y="11144"/>
                  </a:lnTo>
                  <a:lnTo>
                    <a:pt x="471330" y="25076"/>
                  </a:lnTo>
                  <a:lnTo>
                    <a:pt x="511593" y="44579"/>
                  </a:lnTo>
                  <a:lnTo>
                    <a:pt x="549548" y="69656"/>
                  </a:lnTo>
                  <a:lnTo>
                    <a:pt x="584618" y="100304"/>
                  </a:lnTo>
                  <a:close/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8">
            <a:extLst>
              <a:ext uri="{FF2B5EF4-FFF2-40B4-BE49-F238E27FC236}">
                <a16:creationId xmlns:a16="http://schemas.microsoft.com/office/drawing/2014/main" id="{5CD6CA01-A0A8-7A52-737E-B898B9A1AE51}"/>
              </a:ext>
            </a:extLst>
          </p:cNvPr>
          <p:cNvSpPr txBox="1"/>
          <p:nvPr/>
        </p:nvSpPr>
        <p:spPr>
          <a:xfrm>
            <a:off x="1707576" y="2981476"/>
            <a:ext cx="271471" cy="492585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defTabSz="554492">
              <a:spcBef>
                <a:spcPts val="58"/>
              </a:spcBef>
            </a:pPr>
            <a:r>
              <a:rPr sz="3153" kern="0" spc="-30" dirty="0">
                <a:solidFill>
                  <a:sysClr val="windowText" lastClr="000000"/>
                </a:solidFill>
                <a:latin typeface="Yu Gothic UI Light"/>
                <a:cs typeface="Yu Gothic UI Light"/>
              </a:rPr>
              <a:t>×</a:t>
            </a:r>
            <a:endParaRPr sz="3153" kern="0">
              <a:solidFill>
                <a:sysClr val="windowText" lastClr="000000"/>
              </a:solidFill>
              <a:latin typeface="Yu Gothic UI Light"/>
              <a:cs typeface="Yu Gothic UI Light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747264F0-712F-4EE2-1180-940DF53642B3}"/>
              </a:ext>
            </a:extLst>
          </p:cNvPr>
          <p:cNvGrpSpPr/>
          <p:nvPr/>
        </p:nvGrpSpPr>
        <p:grpSpPr>
          <a:xfrm>
            <a:off x="2044894" y="1981278"/>
            <a:ext cx="3264577" cy="1575684"/>
            <a:chOff x="2843811" y="2530280"/>
            <a:chExt cx="5383530" cy="259842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65BBEB68-8187-1B50-1068-BE193858B817}"/>
                </a:ext>
              </a:extLst>
            </p:cNvPr>
            <p:cNvSpPr/>
            <p:nvPr/>
          </p:nvSpPr>
          <p:spPr>
            <a:xfrm>
              <a:off x="2885721" y="4662851"/>
              <a:ext cx="631190" cy="0"/>
            </a:xfrm>
            <a:custGeom>
              <a:avLst/>
              <a:gdLst/>
              <a:ahLst/>
              <a:cxnLst/>
              <a:rect l="l" t="t" r="r" b="b"/>
              <a:pathLst>
                <a:path w="631189">
                  <a:moveTo>
                    <a:pt x="0" y="0"/>
                  </a:moveTo>
                  <a:lnTo>
                    <a:pt x="589078" y="0"/>
                  </a:lnTo>
                  <a:lnTo>
                    <a:pt x="630962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C2C16AB1-01D3-AED3-CB9F-39A4B6112FB9}"/>
                </a:ext>
              </a:extLst>
            </p:cNvPr>
            <p:cNvSpPr/>
            <p:nvPr/>
          </p:nvSpPr>
          <p:spPr>
            <a:xfrm>
              <a:off x="3474799" y="4499505"/>
              <a:ext cx="327025" cy="327025"/>
            </a:xfrm>
            <a:custGeom>
              <a:avLst/>
              <a:gdLst/>
              <a:ahLst/>
              <a:cxnLst/>
              <a:rect l="l" t="t" r="r" b="b"/>
              <a:pathLst>
                <a:path w="327025" h="327025">
                  <a:moveTo>
                    <a:pt x="0" y="0"/>
                  </a:moveTo>
                  <a:lnTo>
                    <a:pt x="0" y="326691"/>
                  </a:lnTo>
                  <a:lnTo>
                    <a:pt x="326691" y="16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object 12">
              <a:extLst>
                <a:ext uri="{FF2B5EF4-FFF2-40B4-BE49-F238E27FC236}">
                  <a16:creationId xmlns:a16="http://schemas.microsoft.com/office/drawing/2014/main" id="{F997B00B-45CE-490F-FA9B-78E1EBE3AAE6}"/>
                </a:ext>
              </a:extLst>
            </p:cNvPr>
            <p:cNvSpPr/>
            <p:nvPr/>
          </p:nvSpPr>
          <p:spPr>
            <a:xfrm>
              <a:off x="3068476" y="2572190"/>
              <a:ext cx="4337050" cy="1743710"/>
            </a:xfrm>
            <a:custGeom>
              <a:avLst/>
              <a:gdLst/>
              <a:ahLst/>
              <a:cxnLst/>
              <a:rect l="l" t="t" r="r" b="b"/>
              <a:pathLst>
                <a:path w="4337050" h="1743710">
                  <a:moveTo>
                    <a:pt x="0" y="0"/>
                  </a:moveTo>
                  <a:lnTo>
                    <a:pt x="4297950" y="1727677"/>
                  </a:lnTo>
                  <a:lnTo>
                    <a:pt x="4336812" y="1743298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36902BA3-3E16-C9D4-451E-A8D57A57C1E2}"/>
                </a:ext>
              </a:extLst>
            </p:cNvPr>
            <p:cNvSpPr/>
            <p:nvPr/>
          </p:nvSpPr>
          <p:spPr>
            <a:xfrm>
              <a:off x="7305504" y="4148308"/>
              <a:ext cx="364490" cy="303530"/>
            </a:xfrm>
            <a:custGeom>
              <a:avLst/>
              <a:gdLst/>
              <a:ahLst/>
              <a:cxnLst/>
              <a:rect l="l" t="t" r="r" b="b"/>
              <a:pathLst>
                <a:path w="364490" h="303529">
                  <a:moveTo>
                    <a:pt x="121846" y="0"/>
                  </a:moveTo>
                  <a:lnTo>
                    <a:pt x="0" y="303118"/>
                  </a:lnTo>
                  <a:lnTo>
                    <a:pt x="364041" y="273406"/>
                  </a:lnTo>
                  <a:lnTo>
                    <a:pt x="1218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object 14">
              <a:extLst>
                <a:ext uri="{FF2B5EF4-FFF2-40B4-BE49-F238E27FC236}">
                  <a16:creationId xmlns:a16="http://schemas.microsoft.com/office/drawing/2014/main" id="{A3D0DB7A-66D7-4822-1C82-7ED5EA646417}"/>
                </a:ext>
              </a:extLst>
            </p:cNvPr>
            <p:cNvSpPr/>
            <p:nvPr/>
          </p:nvSpPr>
          <p:spPr>
            <a:xfrm>
              <a:off x="7500129" y="4401760"/>
              <a:ext cx="685165" cy="685165"/>
            </a:xfrm>
            <a:custGeom>
              <a:avLst/>
              <a:gdLst/>
              <a:ahLst/>
              <a:cxnLst/>
              <a:rect l="l" t="t" r="r" b="b"/>
              <a:pathLst>
                <a:path w="685165" h="685164">
                  <a:moveTo>
                    <a:pt x="584618" y="100304"/>
                  </a:moveTo>
                  <a:lnTo>
                    <a:pt x="615267" y="135374"/>
                  </a:lnTo>
                  <a:lnTo>
                    <a:pt x="640343" y="173329"/>
                  </a:lnTo>
                  <a:lnTo>
                    <a:pt x="659847" y="213593"/>
                  </a:lnTo>
                  <a:lnTo>
                    <a:pt x="673778" y="255587"/>
                  </a:lnTo>
                  <a:lnTo>
                    <a:pt x="682137" y="298736"/>
                  </a:lnTo>
                  <a:lnTo>
                    <a:pt x="684923" y="342461"/>
                  </a:lnTo>
                  <a:lnTo>
                    <a:pt x="682137" y="386187"/>
                  </a:lnTo>
                  <a:lnTo>
                    <a:pt x="673778" y="429335"/>
                  </a:lnTo>
                  <a:lnTo>
                    <a:pt x="659847" y="471330"/>
                  </a:lnTo>
                  <a:lnTo>
                    <a:pt x="640343" y="511593"/>
                  </a:lnTo>
                  <a:lnTo>
                    <a:pt x="615267" y="549548"/>
                  </a:lnTo>
                  <a:lnTo>
                    <a:pt x="584618" y="584618"/>
                  </a:lnTo>
                  <a:lnTo>
                    <a:pt x="549548" y="615267"/>
                  </a:lnTo>
                  <a:lnTo>
                    <a:pt x="511593" y="640343"/>
                  </a:lnTo>
                  <a:lnTo>
                    <a:pt x="471330" y="659847"/>
                  </a:lnTo>
                  <a:lnTo>
                    <a:pt x="429335" y="673778"/>
                  </a:lnTo>
                  <a:lnTo>
                    <a:pt x="386187" y="682137"/>
                  </a:lnTo>
                  <a:lnTo>
                    <a:pt x="342461" y="684923"/>
                  </a:lnTo>
                  <a:lnTo>
                    <a:pt x="298736" y="682137"/>
                  </a:lnTo>
                  <a:lnTo>
                    <a:pt x="255587" y="673778"/>
                  </a:lnTo>
                  <a:lnTo>
                    <a:pt x="213593" y="659847"/>
                  </a:lnTo>
                  <a:lnTo>
                    <a:pt x="173329" y="640343"/>
                  </a:lnTo>
                  <a:lnTo>
                    <a:pt x="135374" y="615267"/>
                  </a:lnTo>
                  <a:lnTo>
                    <a:pt x="100304" y="584618"/>
                  </a:lnTo>
                  <a:lnTo>
                    <a:pt x="69656" y="549548"/>
                  </a:lnTo>
                  <a:lnTo>
                    <a:pt x="44579" y="511593"/>
                  </a:lnTo>
                  <a:lnTo>
                    <a:pt x="25076" y="471330"/>
                  </a:lnTo>
                  <a:lnTo>
                    <a:pt x="11144" y="429335"/>
                  </a:lnTo>
                  <a:lnTo>
                    <a:pt x="2786" y="386187"/>
                  </a:lnTo>
                  <a:lnTo>
                    <a:pt x="0" y="342461"/>
                  </a:lnTo>
                  <a:lnTo>
                    <a:pt x="2786" y="298736"/>
                  </a:lnTo>
                  <a:lnTo>
                    <a:pt x="11144" y="255587"/>
                  </a:lnTo>
                  <a:lnTo>
                    <a:pt x="25076" y="213593"/>
                  </a:lnTo>
                  <a:lnTo>
                    <a:pt x="44579" y="173329"/>
                  </a:lnTo>
                  <a:lnTo>
                    <a:pt x="69656" y="135374"/>
                  </a:lnTo>
                  <a:lnTo>
                    <a:pt x="100304" y="100304"/>
                  </a:lnTo>
                  <a:lnTo>
                    <a:pt x="135374" y="69656"/>
                  </a:lnTo>
                  <a:lnTo>
                    <a:pt x="173329" y="44579"/>
                  </a:lnTo>
                  <a:lnTo>
                    <a:pt x="213593" y="25076"/>
                  </a:lnTo>
                  <a:lnTo>
                    <a:pt x="255587" y="11144"/>
                  </a:lnTo>
                  <a:lnTo>
                    <a:pt x="298736" y="2786"/>
                  </a:lnTo>
                  <a:lnTo>
                    <a:pt x="342461" y="0"/>
                  </a:lnTo>
                  <a:lnTo>
                    <a:pt x="386187" y="2786"/>
                  </a:lnTo>
                  <a:lnTo>
                    <a:pt x="429335" y="11144"/>
                  </a:lnTo>
                  <a:lnTo>
                    <a:pt x="471330" y="25076"/>
                  </a:lnTo>
                  <a:lnTo>
                    <a:pt x="511593" y="44579"/>
                  </a:lnTo>
                  <a:lnTo>
                    <a:pt x="549548" y="69656"/>
                  </a:lnTo>
                  <a:lnTo>
                    <a:pt x="584618" y="100304"/>
                  </a:lnTo>
                  <a:close/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object 15">
            <a:extLst>
              <a:ext uri="{FF2B5EF4-FFF2-40B4-BE49-F238E27FC236}">
                <a16:creationId xmlns:a16="http://schemas.microsoft.com/office/drawing/2014/main" id="{67B549AE-5141-29FE-E026-F84096D99C26}"/>
              </a:ext>
            </a:extLst>
          </p:cNvPr>
          <p:cNvSpPr txBox="1"/>
          <p:nvPr/>
        </p:nvSpPr>
        <p:spPr>
          <a:xfrm>
            <a:off x="4906261" y="2970645"/>
            <a:ext cx="337317" cy="57703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 defTabSz="554492">
              <a:spcBef>
                <a:spcPts val="61"/>
              </a:spcBef>
            </a:pPr>
            <a:r>
              <a:rPr sz="3699" kern="0" spc="440" dirty="0">
                <a:solidFill>
                  <a:sysClr val="windowText" lastClr="000000"/>
                </a:solidFill>
                <a:latin typeface="Cambria"/>
                <a:cs typeface="Cambria"/>
              </a:rPr>
              <a:t>+</a:t>
            </a:r>
            <a:endParaRPr sz="3699" kern="0">
              <a:solidFill>
                <a:sysClr val="windowText" lastClr="000000"/>
              </a:solidFill>
              <a:latin typeface="Cambria"/>
              <a:cs typeface="Cambria"/>
            </a:endParaRPr>
          </a:p>
        </p:txBody>
      </p:sp>
      <p:grpSp>
        <p:nvGrpSpPr>
          <p:cNvPr id="19" name="object 16">
            <a:extLst>
              <a:ext uri="{FF2B5EF4-FFF2-40B4-BE49-F238E27FC236}">
                <a16:creationId xmlns:a16="http://schemas.microsoft.com/office/drawing/2014/main" id="{92975DE0-AEDE-200D-50F2-9DAE3D2C76DF}"/>
              </a:ext>
            </a:extLst>
          </p:cNvPr>
          <p:cNvGrpSpPr/>
          <p:nvPr/>
        </p:nvGrpSpPr>
        <p:grpSpPr>
          <a:xfrm>
            <a:off x="2660872" y="2970916"/>
            <a:ext cx="2981555" cy="634971"/>
            <a:chOff x="3859605" y="4162266"/>
            <a:chExt cx="4916805" cy="1047115"/>
          </a:xfrm>
        </p:grpSpPr>
        <p:pic>
          <p:nvPicPr>
            <p:cNvPr id="20" name="object 17">
              <a:extLst>
                <a:ext uri="{FF2B5EF4-FFF2-40B4-BE49-F238E27FC236}">
                  <a16:creationId xmlns:a16="http://schemas.microsoft.com/office/drawing/2014/main" id="{3A62CF12-2685-23CB-53E1-AD19C5BEA1A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59605" y="4162266"/>
              <a:ext cx="2986406" cy="1047088"/>
            </a:xfrm>
            <a:prstGeom prst="rect">
              <a:avLst/>
            </a:prstGeom>
          </p:spPr>
        </p:pic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472CC4B3-8610-2EAE-E8EE-071D015564CD}"/>
                </a:ext>
              </a:extLst>
            </p:cNvPr>
            <p:cNvSpPr/>
            <p:nvPr/>
          </p:nvSpPr>
          <p:spPr>
            <a:xfrm>
              <a:off x="6904126" y="4731841"/>
              <a:ext cx="292735" cy="0"/>
            </a:xfrm>
            <a:custGeom>
              <a:avLst/>
              <a:gdLst/>
              <a:ahLst/>
              <a:cxnLst/>
              <a:rect l="l" t="t" r="r" b="b"/>
              <a:pathLst>
                <a:path w="292734">
                  <a:moveTo>
                    <a:pt x="0" y="0"/>
                  </a:moveTo>
                  <a:lnTo>
                    <a:pt x="250270" y="0"/>
                  </a:lnTo>
                  <a:lnTo>
                    <a:pt x="292154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object 19">
              <a:extLst>
                <a:ext uri="{FF2B5EF4-FFF2-40B4-BE49-F238E27FC236}">
                  <a16:creationId xmlns:a16="http://schemas.microsoft.com/office/drawing/2014/main" id="{C44535C8-7907-0D0A-B6A6-47CB5FB13C37}"/>
                </a:ext>
              </a:extLst>
            </p:cNvPr>
            <p:cNvSpPr/>
            <p:nvPr/>
          </p:nvSpPr>
          <p:spPr>
            <a:xfrm>
              <a:off x="7154397" y="4568495"/>
              <a:ext cx="327025" cy="327025"/>
            </a:xfrm>
            <a:custGeom>
              <a:avLst/>
              <a:gdLst/>
              <a:ahLst/>
              <a:cxnLst/>
              <a:rect l="l" t="t" r="r" b="b"/>
              <a:pathLst>
                <a:path w="327025" h="327025">
                  <a:moveTo>
                    <a:pt x="0" y="0"/>
                  </a:moveTo>
                  <a:lnTo>
                    <a:pt x="0" y="326691"/>
                  </a:lnTo>
                  <a:lnTo>
                    <a:pt x="326691" y="16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object 20">
              <a:extLst>
                <a:ext uri="{FF2B5EF4-FFF2-40B4-BE49-F238E27FC236}">
                  <a16:creationId xmlns:a16="http://schemas.microsoft.com/office/drawing/2014/main" id="{3CD2F5A3-AD54-5E52-7819-5EE6C1751E56}"/>
                </a:ext>
              </a:extLst>
            </p:cNvPr>
            <p:cNvSpPr/>
            <p:nvPr/>
          </p:nvSpPr>
          <p:spPr>
            <a:xfrm>
              <a:off x="8199147" y="4727197"/>
              <a:ext cx="292735" cy="0"/>
            </a:xfrm>
            <a:custGeom>
              <a:avLst/>
              <a:gdLst/>
              <a:ahLst/>
              <a:cxnLst/>
              <a:rect l="l" t="t" r="r" b="b"/>
              <a:pathLst>
                <a:path w="292734">
                  <a:moveTo>
                    <a:pt x="0" y="0"/>
                  </a:moveTo>
                  <a:lnTo>
                    <a:pt x="250270" y="0"/>
                  </a:lnTo>
                  <a:lnTo>
                    <a:pt x="292154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object 21">
              <a:extLst>
                <a:ext uri="{FF2B5EF4-FFF2-40B4-BE49-F238E27FC236}">
                  <a16:creationId xmlns:a16="http://schemas.microsoft.com/office/drawing/2014/main" id="{AF3D5084-93A8-1EF4-76C2-8EDC4A80D143}"/>
                </a:ext>
              </a:extLst>
            </p:cNvPr>
            <p:cNvSpPr/>
            <p:nvPr/>
          </p:nvSpPr>
          <p:spPr>
            <a:xfrm>
              <a:off x="8449416" y="4563851"/>
              <a:ext cx="327025" cy="327025"/>
            </a:xfrm>
            <a:custGeom>
              <a:avLst/>
              <a:gdLst/>
              <a:ahLst/>
              <a:cxnLst/>
              <a:rect l="l" t="t" r="r" b="b"/>
              <a:pathLst>
                <a:path w="327025" h="327025">
                  <a:moveTo>
                    <a:pt x="0" y="0"/>
                  </a:moveTo>
                  <a:lnTo>
                    <a:pt x="0" y="326691"/>
                  </a:lnTo>
                  <a:lnTo>
                    <a:pt x="326691" y="16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5" name="object 22">
            <a:extLst>
              <a:ext uri="{FF2B5EF4-FFF2-40B4-BE49-F238E27FC236}">
                <a16:creationId xmlns:a16="http://schemas.microsoft.com/office/drawing/2014/main" id="{D930126C-E727-B7A3-CCA6-01A3B070BD1B}"/>
              </a:ext>
            </a:extLst>
          </p:cNvPr>
          <p:cNvSpPr txBox="1"/>
          <p:nvPr/>
        </p:nvSpPr>
        <p:spPr>
          <a:xfrm>
            <a:off x="5830432" y="3042659"/>
            <a:ext cx="1304599" cy="422954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 defTabSz="554492">
              <a:spcBef>
                <a:spcPts val="61"/>
              </a:spcBef>
            </a:pPr>
            <a:r>
              <a:rPr sz="2698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z</a:t>
            </a:r>
            <a:r>
              <a:rPr sz="2698" i="1" kern="0" spc="69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98" kern="0" spc="343" dirty="0">
                <a:solidFill>
                  <a:sysClr val="windowText" lastClr="000000"/>
                </a:solidFill>
                <a:latin typeface="Cambria"/>
                <a:cs typeface="Cambria"/>
              </a:rPr>
              <a:t>=</a:t>
            </a:r>
            <a:r>
              <a:rPr sz="2698" kern="0" spc="152" dirty="0">
                <a:solidFill>
                  <a:sysClr val="windowText" lastClr="000000"/>
                </a:solidFill>
                <a:latin typeface="Cambria"/>
                <a:cs typeface="Cambria"/>
              </a:rPr>
              <a:t> </a:t>
            </a:r>
            <a:r>
              <a:rPr sz="2698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u</a:t>
            </a:r>
            <a:r>
              <a:rPr sz="2698" i="1" kern="0" spc="-79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98" kern="0" spc="343" dirty="0">
                <a:solidFill>
                  <a:sysClr val="windowText" lastClr="000000"/>
                </a:solidFill>
                <a:latin typeface="Cambria"/>
                <a:cs typeface="Cambria"/>
              </a:rPr>
              <a:t>+</a:t>
            </a:r>
            <a:r>
              <a:rPr sz="2698" kern="0" spc="3" dirty="0">
                <a:solidFill>
                  <a:sysClr val="windowText" lastClr="000000"/>
                </a:solidFill>
                <a:latin typeface="Cambria"/>
                <a:cs typeface="Cambria"/>
              </a:rPr>
              <a:t> </a:t>
            </a:r>
            <a:r>
              <a:rPr sz="2698" i="1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b</a:t>
            </a:r>
            <a:endParaRPr sz="2698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grpSp>
        <p:nvGrpSpPr>
          <p:cNvPr id="26" name="object 24">
            <a:extLst>
              <a:ext uri="{FF2B5EF4-FFF2-40B4-BE49-F238E27FC236}">
                <a16:creationId xmlns:a16="http://schemas.microsoft.com/office/drawing/2014/main" id="{437C3BFC-6EC2-D2A3-94F7-DDA4027C3071}"/>
              </a:ext>
            </a:extLst>
          </p:cNvPr>
          <p:cNvGrpSpPr/>
          <p:nvPr/>
        </p:nvGrpSpPr>
        <p:grpSpPr>
          <a:xfrm>
            <a:off x="7273864" y="3200310"/>
            <a:ext cx="574516" cy="198308"/>
            <a:chOff x="11466771" y="4540553"/>
            <a:chExt cx="947419" cy="327025"/>
          </a:xfrm>
        </p:grpSpPr>
        <p:sp>
          <p:nvSpPr>
            <p:cNvPr id="27" name="object 25">
              <a:extLst>
                <a:ext uri="{FF2B5EF4-FFF2-40B4-BE49-F238E27FC236}">
                  <a16:creationId xmlns:a16="http://schemas.microsoft.com/office/drawing/2014/main" id="{C6F6931C-6101-3044-D547-0143779ECCAE}"/>
                </a:ext>
              </a:extLst>
            </p:cNvPr>
            <p:cNvSpPr/>
            <p:nvPr/>
          </p:nvSpPr>
          <p:spPr>
            <a:xfrm>
              <a:off x="11466771" y="4703898"/>
              <a:ext cx="662305" cy="0"/>
            </a:xfrm>
            <a:custGeom>
              <a:avLst/>
              <a:gdLst/>
              <a:ahLst/>
              <a:cxnLst/>
              <a:rect l="l" t="t" r="r" b="b"/>
              <a:pathLst>
                <a:path w="662304">
                  <a:moveTo>
                    <a:pt x="0" y="0"/>
                  </a:moveTo>
                  <a:lnTo>
                    <a:pt x="620112" y="0"/>
                  </a:lnTo>
                  <a:lnTo>
                    <a:pt x="661996" y="0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object 26">
              <a:extLst>
                <a:ext uri="{FF2B5EF4-FFF2-40B4-BE49-F238E27FC236}">
                  <a16:creationId xmlns:a16="http://schemas.microsoft.com/office/drawing/2014/main" id="{222E936E-8759-F54B-D64B-949AE4D9722B}"/>
                </a:ext>
              </a:extLst>
            </p:cNvPr>
            <p:cNvSpPr/>
            <p:nvPr/>
          </p:nvSpPr>
          <p:spPr>
            <a:xfrm>
              <a:off x="12086888" y="4540553"/>
              <a:ext cx="327025" cy="327025"/>
            </a:xfrm>
            <a:custGeom>
              <a:avLst/>
              <a:gdLst/>
              <a:ahLst/>
              <a:cxnLst/>
              <a:rect l="l" t="t" r="r" b="b"/>
              <a:pathLst>
                <a:path w="327025" h="327025">
                  <a:moveTo>
                    <a:pt x="0" y="0"/>
                  </a:moveTo>
                  <a:lnTo>
                    <a:pt x="0" y="326691"/>
                  </a:lnTo>
                  <a:lnTo>
                    <a:pt x="326691" y="16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0" name="object 27">
            <a:extLst>
              <a:ext uri="{FF2B5EF4-FFF2-40B4-BE49-F238E27FC236}">
                <a16:creationId xmlns:a16="http://schemas.microsoft.com/office/drawing/2014/main" id="{9830DCE0-E97A-9464-D4A5-265827D357E6}"/>
              </a:ext>
            </a:extLst>
          </p:cNvPr>
          <p:cNvSpPr txBox="1"/>
          <p:nvPr/>
        </p:nvSpPr>
        <p:spPr>
          <a:xfrm>
            <a:off x="2764065" y="3019516"/>
            <a:ext cx="1616116" cy="422954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23104" defTabSz="554492">
              <a:spcBef>
                <a:spcPts val="61"/>
              </a:spcBef>
            </a:pPr>
            <a:r>
              <a:rPr sz="2698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u</a:t>
            </a:r>
            <a:r>
              <a:rPr sz="2698" i="1" kern="0" spc="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98" kern="0" spc="343" dirty="0">
                <a:solidFill>
                  <a:sysClr val="windowText" lastClr="000000"/>
                </a:solidFill>
                <a:latin typeface="Cambria"/>
                <a:cs typeface="Cambria"/>
              </a:rPr>
              <a:t>=</a:t>
            </a:r>
            <a:r>
              <a:rPr sz="2698" kern="0" spc="91" dirty="0">
                <a:solidFill>
                  <a:sysClr val="windowText" lastClr="000000"/>
                </a:solidFill>
                <a:latin typeface="Cambria"/>
                <a:cs typeface="Cambria"/>
              </a:rPr>
              <a:t> </a:t>
            </a:r>
            <a:r>
              <a:rPr sz="2698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2865" kern="0" baseline="-19400" dirty="0">
                <a:solidFill>
                  <a:sysClr val="windowText" lastClr="000000"/>
                </a:solidFill>
                <a:latin typeface="Cambria"/>
                <a:cs typeface="Cambria"/>
              </a:rPr>
              <a:t>1</a:t>
            </a:r>
            <a:r>
              <a:rPr sz="2865" kern="0" spc="191" baseline="-19400" dirty="0">
                <a:solidFill>
                  <a:sysClr val="windowText" lastClr="000000"/>
                </a:solidFill>
                <a:latin typeface="Cambria"/>
                <a:cs typeface="Cambria"/>
              </a:rPr>
              <a:t> </a:t>
            </a:r>
            <a:r>
              <a:rPr sz="2698" kern="0" dirty="0">
                <a:solidFill>
                  <a:sysClr val="windowText" lastClr="000000"/>
                </a:solidFill>
                <a:latin typeface="Yu Gothic UI Light"/>
                <a:cs typeface="Yu Gothic UI Light"/>
              </a:rPr>
              <a:t>×</a:t>
            </a:r>
            <a:r>
              <a:rPr sz="2698" kern="0" spc="-188" dirty="0">
                <a:solidFill>
                  <a:sysClr val="windowText" lastClr="000000"/>
                </a:solidFill>
                <a:latin typeface="Yu Gothic UI Light"/>
                <a:cs typeface="Yu Gothic UI Light"/>
              </a:rPr>
              <a:t> </a:t>
            </a:r>
            <a:r>
              <a:rPr sz="2698" i="1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x</a:t>
            </a:r>
            <a:r>
              <a:rPr sz="2865" kern="0" spc="-22" baseline="-19400" dirty="0">
                <a:solidFill>
                  <a:sysClr val="windowText" lastClr="000000"/>
                </a:solidFill>
                <a:latin typeface="Cambria"/>
                <a:cs typeface="Cambria"/>
              </a:rPr>
              <a:t>1</a:t>
            </a:r>
            <a:endParaRPr sz="2865" kern="0" baseline="-19400">
              <a:solidFill>
                <a:sysClr val="windowText" lastClr="000000"/>
              </a:solidFill>
              <a:latin typeface="Cambria"/>
              <a:cs typeface="Cambria"/>
            </a:endParaRPr>
          </a:p>
        </p:txBody>
      </p:sp>
      <p:pic>
        <p:nvPicPr>
          <p:cNvPr id="31" name="object 28">
            <a:extLst>
              <a:ext uri="{FF2B5EF4-FFF2-40B4-BE49-F238E27FC236}">
                <a16:creationId xmlns:a16="http://schemas.microsoft.com/office/drawing/2014/main" id="{88C7CFD8-9B78-9448-27F6-4950AE206F6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45452" y="1655510"/>
            <a:ext cx="555324" cy="555324"/>
          </a:xfrm>
          <a:prstGeom prst="rect">
            <a:avLst/>
          </a:prstGeom>
        </p:spPr>
      </p:pic>
      <p:sp>
        <p:nvSpPr>
          <p:cNvPr id="32" name="object 29">
            <a:extLst>
              <a:ext uri="{FF2B5EF4-FFF2-40B4-BE49-F238E27FC236}">
                <a16:creationId xmlns:a16="http://schemas.microsoft.com/office/drawing/2014/main" id="{0E025E0D-00D6-2CB8-90A9-58206C0232A1}"/>
              </a:ext>
            </a:extLst>
          </p:cNvPr>
          <p:cNvSpPr txBox="1"/>
          <p:nvPr/>
        </p:nvSpPr>
        <p:spPr>
          <a:xfrm>
            <a:off x="1825769" y="1640744"/>
            <a:ext cx="218717" cy="499727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 defTabSz="554492">
              <a:spcBef>
                <a:spcPts val="76"/>
              </a:spcBef>
            </a:pPr>
            <a:r>
              <a:rPr sz="3184" i="1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b</a:t>
            </a:r>
            <a:endParaRPr sz="3184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grpSp>
        <p:nvGrpSpPr>
          <p:cNvPr id="33" name="object 30">
            <a:extLst>
              <a:ext uri="{FF2B5EF4-FFF2-40B4-BE49-F238E27FC236}">
                <a16:creationId xmlns:a16="http://schemas.microsoft.com/office/drawing/2014/main" id="{042BB4D3-1223-71BF-BB03-60C6F1ADA944}"/>
              </a:ext>
            </a:extLst>
          </p:cNvPr>
          <p:cNvGrpSpPr/>
          <p:nvPr/>
        </p:nvGrpSpPr>
        <p:grpSpPr>
          <a:xfrm>
            <a:off x="575861" y="2651677"/>
            <a:ext cx="1040444" cy="1266477"/>
            <a:chOff x="421267" y="3635817"/>
            <a:chExt cx="1715770" cy="2088514"/>
          </a:xfrm>
        </p:grpSpPr>
        <p:sp>
          <p:nvSpPr>
            <p:cNvPr id="34" name="object 31">
              <a:extLst>
                <a:ext uri="{FF2B5EF4-FFF2-40B4-BE49-F238E27FC236}">
                  <a16:creationId xmlns:a16="http://schemas.microsoft.com/office/drawing/2014/main" id="{738539E6-ECD4-1709-E71C-AC5828140C4D}"/>
                </a:ext>
              </a:extLst>
            </p:cNvPr>
            <p:cNvSpPr/>
            <p:nvPr/>
          </p:nvSpPr>
          <p:spPr>
            <a:xfrm>
              <a:off x="1386022" y="4181189"/>
              <a:ext cx="491490" cy="220979"/>
            </a:xfrm>
            <a:custGeom>
              <a:avLst/>
              <a:gdLst/>
              <a:ahLst/>
              <a:cxnLst/>
              <a:rect l="l" t="t" r="r" b="b"/>
              <a:pathLst>
                <a:path w="491489" h="220979">
                  <a:moveTo>
                    <a:pt x="0" y="0"/>
                  </a:moveTo>
                  <a:lnTo>
                    <a:pt x="452903" y="203310"/>
                  </a:lnTo>
                  <a:lnTo>
                    <a:pt x="491113" y="220463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object 32">
              <a:extLst>
                <a:ext uri="{FF2B5EF4-FFF2-40B4-BE49-F238E27FC236}">
                  <a16:creationId xmlns:a16="http://schemas.microsoft.com/office/drawing/2014/main" id="{EAB034DD-FC00-3AAB-1F3B-15EA4905B7B4}"/>
                </a:ext>
              </a:extLst>
            </p:cNvPr>
            <p:cNvSpPr/>
            <p:nvPr/>
          </p:nvSpPr>
          <p:spPr>
            <a:xfrm>
              <a:off x="1772029" y="4235480"/>
              <a:ext cx="365125" cy="298450"/>
            </a:xfrm>
            <a:custGeom>
              <a:avLst/>
              <a:gdLst/>
              <a:ahLst/>
              <a:cxnLst/>
              <a:rect l="l" t="t" r="r" b="b"/>
              <a:pathLst>
                <a:path w="365125" h="298450">
                  <a:moveTo>
                    <a:pt x="133791" y="0"/>
                  </a:moveTo>
                  <a:lnTo>
                    <a:pt x="0" y="298039"/>
                  </a:lnTo>
                  <a:lnTo>
                    <a:pt x="364935" y="282811"/>
                  </a:lnTo>
                  <a:lnTo>
                    <a:pt x="1337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6" name="object 33">
              <a:extLst>
                <a:ext uri="{FF2B5EF4-FFF2-40B4-BE49-F238E27FC236}">
                  <a16:creationId xmlns:a16="http://schemas.microsoft.com/office/drawing/2014/main" id="{DD852BD9-2511-AB23-EC5D-DDF974CB017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1267" y="3635817"/>
              <a:ext cx="927625" cy="927624"/>
            </a:xfrm>
            <a:prstGeom prst="rect">
              <a:avLst/>
            </a:prstGeom>
          </p:spPr>
        </p:pic>
        <p:pic>
          <p:nvPicPr>
            <p:cNvPr id="37" name="object 34">
              <a:extLst>
                <a:ext uri="{FF2B5EF4-FFF2-40B4-BE49-F238E27FC236}">
                  <a16:creationId xmlns:a16="http://schemas.microsoft.com/office/drawing/2014/main" id="{67B7D30D-9ADF-A064-FCE1-162BCCC1A52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8207" y="4808547"/>
              <a:ext cx="915769" cy="915770"/>
            </a:xfrm>
            <a:prstGeom prst="rect">
              <a:avLst/>
            </a:prstGeom>
          </p:spPr>
        </p:pic>
      </p:grpSp>
      <p:pic>
        <p:nvPicPr>
          <p:cNvPr id="38" name="object 35">
            <a:extLst>
              <a:ext uri="{FF2B5EF4-FFF2-40B4-BE49-F238E27FC236}">
                <a16:creationId xmlns:a16="http://schemas.microsoft.com/office/drawing/2014/main" id="{27834AC6-A62B-1130-FBC1-F66CE4A61CCC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63776" y="2989392"/>
            <a:ext cx="1565038" cy="599777"/>
          </a:xfrm>
          <a:prstGeom prst="rect">
            <a:avLst/>
          </a:prstGeom>
        </p:spPr>
      </p:pic>
      <p:sp>
        <p:nvSpPr>
          <p:cNvPr id="39" name="object 36">
            <a:extLst>
              <a:ext uri="{FF2B5EF4-FFF2-40B4-BE49-F238E27FC236}">
                <a16:creationId xmlns:a16="http://schemas.microsoft.com/office/drawing/2014/main" id="{5B6BD4B5-4248-67B0-0C43-D38FBB6BD636}"/>
              </a:ext>
            </a:extLst>
          </p:cNvPr>
          <p:cNvSpPr txBox="1"/>
          <p:nvPr/>
        </p:nvSpPr>
        <p:spPr>
          <a:xfrm>
            <a:off x="7979904" y="3036576"/>
            <a:ext cx="1526484" cy="422954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 defTabSz="554492">
              <a:spcBef>
                <a:spcPts val="61"/>
              </a:spcBef>
            </a:pPr>
            <a:r>
              <a:rPr sz="2698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</a:t>
            </a:r>
            <a:r>
              <a:rPr sz="2698" i="1" kern="0" spc="7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98" kern="0" spc="343" dirty="0">
                <a:solidFill>
                  <a:sysClr val="windowText" lastClr="000000"/>
                </a:solidFill>
                <a:latin typeface="Cambria"/>
                <a:cs typeface="Cambria"/>
              </a:rPr>
              <a:t>=</a:t>
            </a:r>
            <a:r>
              <a:rPr sz="2698" kern="0" spc="158" dirty="0">
                <a:solidFill>
                  <a:sysClr val="windowText" lastClr="000000"/>
                </a:solidFill>
                <a:latin typeface="Cambria"/>
                <a:cs typeface="Cambria"/>
              </a:rPr>
              <a:t> </a:t>
            </a:r>
            <a:r>
              <a:rPr sz="2698" i="1" kern="0" spc="-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</a:t>
            </a:r>
            <a:r>
              <a:rPr sz="2698" kern="0" spc="-6" dirty="0">
                <a:solidFill>
                  <a:sysClr val="windowText" lastClr="000000"/>
                </a:solidFill>
                <a:latin typeface="Cambria"/>
                <a:cs typeface="Cambria"/>
              </a:rPr>
              <a:t>(</a:t>
            </a:r>
            <a:r>
              <a:rPr sz="2698" i="1" kern="0" spc="-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a</a:t>
            </a:r>
            <a:r>
              <a:rPr sz="2698" kern="0" spc="-6" dirty="0">
                <a:solidFill>
                  <a:sysClr val="windowText" lastClr="000000"/>
                </a:solidFill>
                <a:latin typeface="Cambria"/>
                <a:cs typeface="Cambria"/>
              </a:rPr>
              <a:t>,</a:t>
            </a:r>
            <a:r>
              <a:rPr sz="2698" kern="0" spc="-143" dirty="0">
                <a:solidFill>
                  <a:sysClr val="windowText" lastClr="000000"/>
                </a:solidFill>
                <a:latin typeface="Cambria"/>
                <a:cs typeface="Cambria"/>
              </a:rPr>
              <a:t> </a:t>
            </a:r>
            <a:r>
              <a:rPr sz="2698" i="1" kern="0" spc="-3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y</a:t>
            </a:r>
            <a:r>
              <a:rPr sz="2698" kern="0" spc="-36" dirty="0">
                <a:solidFill>
                  <a:sysClr val="windowText" lastClr="000000"/>
                </a:solidFill>
                <a:latin typeface="Cambria"/>
                <a:cs typeface="Cambria"/>
              </a:rPr>
              <a:t>)</a:t>
            </a:r>
            <a:endParaRPr sz="2698" kern="0" dirty="0">
              <a:solidFill>
                <a:sysClr val="windowText" lastClr="000000"/>
              </a:solidFill>
              <a:latin typeface="Cambria"/>
              <a:cs typeface="Cambria"/>
            </a:endParaRPr>
          </a:p>
        </p:txBody>
      </p:sp>
      <p:pic>
        <p:nvPicPr>
          <p:cNvPr id="40" name="object 40">
            <a:extLst>
              <a:ext uri="{FF2B5EF4-FFF2-40B4-BE49-F238E27FC236}">
                <a16:creationId xmlns:a16="http://schemas.microsoft.com/office/drawing/2014/main" id="{D3C4F802-69AA-DE4E-F1C9-28843DF49C5B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13321" y="1450870"/>
            <a:ext cx="555326" cy="555324"/>
          </a:xfrm>
          <a:prstGeom prst="rect">
            <a:avLst/>
          </a:prstGeom>
        </p:spPr>
      </p:pic>
      <p:sp>
        <p:nvSpPr>
          <p:cNvPr id="41" name="object 41">
            <a:extLst>
              <a:ext uri="{FF2B5EF4-FFF2-40B4-BE49-F238E27FC236}">
                <a16:creationId xmlns:a16="http://schemas.microsoft.com/office/drawing/2014/main" id="{51B842F1-3768-86E4-7F3D-F1F19610495D}"/>
              </a:ext>
            </a:extLst>
          </p:cNvPr>
          <p:cNvSpPr txBox="1"/>
          <p:nvPr/>
        </p:nvSpPr>
        <p:spPr>
          <a:xfrm>
            <a:off x="8605437" y="1406897"/>
            <a:ext cx="195998" cy="499727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 defTabSz="554492">
              <a:spcBef>
                <a:spcPts val="76"/>
              </a:spcBef>
            </a:pPr>
            <a:r>
              <a:rPr sz="3184" i="1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y</a:t>
            </a:r>
            <a:endParaRPr sz="3184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grpSp>
        <p:nvGrpSpPr>
          <p:cNvPr id="42" name="object 42">
            <a:extLst>
              <a:ext uri="{FF2B5EF4-FFF2-40B4-BE49-F238E27FC236}">
                <a16:creationId xmlns:a16="http://schemas.microsoft.com/office/drawing/2014/main" id="{767CE553-88E4-BB01-2650-FBB5126A4215}"/>
              </a:ext>
            </a:extLst>
          </p:cNvPr>
          <p:cNvGrpSpPr/>
          <p:nvPr/>
        </p:nvGrpSpPr>
        <p:grpSpPr>
          <a:xfrm>
            <a:off x="8608757" y="2029771"/>
            <a:ext cx="198308" cy="983455"/>
            <a:chOff x="17412485" y="2610249"/>
            <a:chExt cx="327025" cy="1621790"/>
          </a:xfrm>
        </p:grpSpPr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9FCD04DB-C5B3-5F7B-544D-6DB3CE125E29}"/>
                </a:ext>
              </a:extLst>
            </p:cNvPr>
            <p:cNvSpPr/>
            <p:nvPr/>
          </p:nvSpPr>
          <p:spPr>
            <a:xfrm>
              <a:off x="17575831" y="2610249"/>
              <a:ext cx="0" cy="1336675"/>
            </a:xfrm>
            <a:custGeom>
              <a:avLst/>
              <a:gdLst/>
              <a:ahLst/>
              <a:cxnLst/>
              <a:rect l="l" t="t" r="r" b="b"/>
              <a:pathLst>
                <a:path h="1336675">
                  <a:moveTo>
                    <a:pt x="0" y="0"/>
                  </a:moveTo>
                  <a:lnTo>
                    <a:pt x="0" y="1294697"/>
                  </a:lnTo>
                  <a:lnTo>
                    <a:pt x="0" y="1336581"/>
                  </a:lnTo>
                </a:path>
              </a:pathLst>
            </a:custGeom>
            <a:ln w="837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36687B6A-3AF6-41FB-163E-6F54E9FC1CDF}"/>
                </a:ext>
              </a:extLst>
            </p:cNvPr>
            <p:cNvSpPr/>
            <p:nvPr/>
          </p:nvSpPr>
          <p:spPr>
            <a:xfrm>
              <a:off x="17412485" y="3904947"/>
              <a:ext cx="327025" cy="327025"/>
            </a:xfrm>
            <a:custGeom>
              <a:avLst/>
              <a:gdLst/>
              <a:ahLst/>
              <a:cxnLst/>
              <a:rect l="l" t="t" r="r" b="b"/>
              <a:pathLst>
                <a:path w="327025" h="327025">
                  <a:moveTo>
                    <a:pt x="326691" y="0"/>
                  </a:moveTo>
                  <a:lnTo>
                    <a:pt x="0" y="0"/>
                  </a:lnTo>
                  <a:lnTo>
                    <a:pt x="163345" y="326691"/>
                  </a:lnTo>
                  <a:lnTo>
                    <a:pt x="3266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5" name="object 48">
            <a:extLst>
              <a:ext uri="{FF2B5EF4-FFF2-40B4-BE49-F238E27FC236}">
                <a16:creationId xmlns:a16="http://schemas.microsoft.com/office/drawing/2014/main" id="{44AD0F79-0031-23F1-3840-A7FB2A6C250A}"/>
              </a:ext>
            </a:extLst>
          </p:cNvPr>
          <p:cNvSpPr txBox="1">
            <a:spLocks/>
          </p:cNvSpPr>
          <p:nvPr/>
        </p:nvSpPr>
        <p:spPr>
          <a:xfrm>
            <a:off x="-1305453" y="1019094"/>
            <a:ext cx="11060952" cy="1008896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760920">
              <a:spcBef>
                <a:spcPts val="69"/>
              </a:spcBef>
            </a:pPr>
            <a:r>
              <a:rPr lang="en-US" sz="4000" dirty="0">
                <a:latin typeface="UCity Regular"/>
                <a:cs typeface="UCity Regular"/>
              </a:rPr>
              <a:t>Minimizing</a:t>
            </a:r>
            <a:r>
              <a:rPr lang="en-US" sz="4000" spc="-27" dirty="0">
                <a:latin typeface="UCity Regular"/>
                <a:cs typeface="UCity Regular"/>
              </a:rPr>
              <a:t> </a:t>
            </a:r>
            <a:r>
              <a:rPr lang="en-US" sz="4000" dirty="0">
                <a:latin typeface="UCity Regular"/>
                <a:cs typeface="UCity Regular"/>
              </a:rPr>
              <a:t>the</a:t>
            </a:r>
            <a:r>
              <a:rPr lang="en-US" sz="4000" spc="-24" dirty="0">
                <a:latin typeface="UCity Regular"/>
                <a:cs typeface="UCity Regular"/>
              </a:rPr>
              <a:t> </a:t>
            </a:r>
            <a:r>
              <a:rPr lang="en-US" sz="4000" dirty="0">
                <a:latin typeface="UCity Regular"/>
                <a:cs typeface="UCity Regular"/>
              </a:rPr>
              <a:t>Loss</a:t>
            </a:r>
            <a:r>
              <a:rPr lang="en-US" sz="4000" spc="-24" dirty="0">
                <a:latin typeface="UCity Regular"/>
                <a:cs typeface="UCity Regular"/>
              </a:rPr>
              <a:t> </a:t>
            </a:r>
            <a:r>
              <a:rPr lang="en-US" sz="4000" dirty="0">
                <a:latin typeface="UCity Regular"/>
                <a:cs typeface="UCity Regular"/>
              </a:rPr>
              <a:t>Using</a:t>
            </a:r>
            <a:r>
              <a:rPr lang="en-US" sz="4000" spc="-27" dirty="0">
                <a:latin typeface="UCity Regular"/>
                <a:cs typeface="UCity Regular"/>
              </a:rPr>
              <a:t> </a:t>
            </a:r>
            <a:r>
              <a:rPr lang="en-US" sz="4000" dirty="0">
                <a:latin typeface="UCity Regular"/>
                <a:cs typeface="UCity Regular"/>
              </a:rPr>
              <a:t>Gradient</a:t>
            </a:r>
            <a:r>
              <a:rPr lang="en-US" sz="4000" spc="-24" dirty="0">
                <a:latin typeface="UCity Regular"/>
                <a:cs typeface="UCity Regular"/>
              </a:rPr>
              <a:t> </a:t>
            </a:r>
            <a:r>
              <a:rPr lang="en-US" sz="4000" spc="-6" dirty="0">
                <a:latin typeface="UCity Regular"/>
                <a:cs typeface="UCity Regular"/>
              </a:rPr>
              <a:t>Descent</a:t>
            </a:r>
            <a:endParaRPr lang="en-US" spc="-12" dirty="0"/>
          </a:p>
        </p:txBody>
      </p:sp>
      <p:sp>
        <p:nvSpPr>
          <p:cNvPr id="46" name="object 49">
            <a:extLst>
              <a:ext uri="{FF2B5EF4-FFF2-40B4-BE49-F238E27FC236}">
                <a16:creationId xmlns:a16="http://schemas.microsoft.com/office/drawing/2014/main" id="{A93A161E-D499-8F56-8851-7B28AED16AFD}"/>
              </a:ext>
            </a:extLst>
          </p:cNvPr>
          <p:cNvSpPr txBox="1"/>
          <p:nvPr/>
        </p:nvSpPr>
        <p:spPr>
          <a:xfrm>
            <a:off x="662151" y="2360647"/>
            <a:ext cx="382754" cy="1440497"/>
          </a:xfrm>
          <a:prstGeom prst="rect">
            <a:avLst/>
          </a:prstGeom>
        </p:spPr>
        <p:txBody>
          <a:bodyPr vert="horz" wrap="square" lIns="0" tIns="232194" rIns="0" bIns="0" rtlCol="0">
            <a:spAutoFit/>
          </a:bodyPr>
          <a:lstStyle/>
          <a:p>
            <a:pPr marL="53909" defTabSz="554492">
              <a:spcBef>
                <a:spcPts val="1828"/>
              </a:spcBef>
            </a:pPr>
            <a:r>
              <a:rPr sz="3153" i="1" kern="0" spc="-39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x</a:t>
            </a:r>
            <a:r>
              <a:rPr sz="3320" kern="0" spc="-59" baseline="-19786" dirty="0">
                <a:solidFill>
                  <a:sysClr val="windowText" lastClr="000000"/>
                </a:solidFill>
                <a:latin typeface="Cambria"/>
                <a:cs typeface="Cambria"/>
              </a:rPr>
              <a:t>1</a:t>
            </a:r>
            <a:endParaRPr sz="3320" kern="0" baseline="-19786">
              <a:solidFill>
                <a:sysClr val="windowText" lastClr="000000"/>
              </a:solidFill>
              <a:latin typeface="Cambria"/>
              <a:cs typeface="Cambria"/>
            </a:endParaRPr>
          </a:p>
          <a:p>
            <a:pPr marL="23104" defTabSz="554492">
              <a:spcBef>
                <a:spcPts val="1816"/>
              </a:spcBef>
            </a:pPr>
            <a:r>
              <a:rPr sz="3184" i="1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endParaRPr sz="3184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47" name="object 50">
            <a:extLst>
              <a:ext uri="{FF2B5EF4-FFF2-40B4-BE49-F238E27FC236}">
                <a16:creationId xmlns:a16="http://schemas.microsoft.com/office/drawing/2014/main" id="{9AACA053-9786-1512-A014-7A273BF5AB7E}"/>
              </a:ext>
            </a:extLst>
          </p:cNvPr>
          <p:cNvSpPr txBox="1"/>
          <p:nvPr/>
        </p:nvSpPr>
        <p:spPr>
          <a:xfrm>
            <a:off x="934326" y="3513843"/>
            <a:ext cx="159802" cy="357355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defTabSz="554492">
              <a:spcBef>
                <a:spcPts val="58"/>
              </a:spcBef>
            </a:pPr>
            <a:r>
              <a:rPr sz="2274" kern="0" spc="-91" dirty="0">
                <a:solidFill>
                  <a:sysClr val="windowText" lastClr="000000"/>
                </a:solidFill>
                <a:latin typeface="Cambria"/>
                <a:cs typeface="Cambria"/>
              </a:rPr>
              <a:t>1</a:t>
            </a:r>
            <a:endParaRPr sz="2274" kern="0">
              <a:solidFill>
                <a:sysClr val="windowText" lastClr="000000"/>
              </a:solidFill>
              <a:latin typeface="Cambria"/>
              <a:cs typeface="Cambria"/>
            </a:endParaRPr>
          </a:p>
        </p:txBody>
      </p:sp>
      <p:sp>
        <p:nvSpPr>
          <p:cNvPr id="48" name="object 53">
            <a:extLst>
              <a:ext uri="{FF2B5EF4-FFF2-40B4-BE49-F238E27FC236}">
                <a16:creationId xmlns:a16="http://schemas.microsoft.com/office/drawing/2014/main" id="{DC12B9FE-D1D5-8D6C-DB17-7FDD081CF696}"/>
              </a:ext>
            </a:extLst>
          </p:cNvPr>
          <p:cNvSpPr txBox="1"/>
          <p:nvPr/>
        </p:nvSpPr>
        <p:spPr>
          <a:xfrm>
            <a:off x="8449009" y="5143114"/>
            <a:ext cx="1145113" cy="499727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 defTabSz="554492">
              <a:spcBef>
                <a:spcPts val="76"/>
              </a:spcBef>
            </a:pPr>
            <a:r>
              <a:rPr sz="3184" b="1" kern="0" spc="-343" dirty="0">
                <a:solidFill>
                  <a:sysClr val="windowText" lastClr="000000"/>
                </a:solidFill>
                <a:latin typeface="Yu Gothic UI Light"/>
                <a:cs typeface="Yu Gothic UI Light"/>
              </a:rPr>
              <a:t>∇</a:t>
            </a:r>
            <a:r>
              <a:rPr sz="3184" b="1" i="1" kern="0" spc="-34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</a:t>
            </a:r>
            <a:r>
              <a:rPr sz="3184" i="1" kern="0" spc="9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184" kern="0" spc="391" dirty="0">
                <a:solidFill>
                  <a:sysClr val="windowText" lastClr="000000"/>
                </a:solidFill>
                <a:latin typeface="Cambria"/>
                <a:cs typeface="Cambria"/>
              </a:rPr>
              <a:t>=</a:t>
            </a:r>
            <a:endParaRPr sz="3184" kern="0" dirty="0">
              <a:solidFill>
                <a:sysClr val="windowText" lastClr="000000"/>
              </a:solidFill>
              <a:latin typeface="Cambria"/>
              <a:cs typeface="Cambria"/>
            </a:endParaRPr>
          </a:p>
        </p:txBody>
      </p:sp>
      <p:sp>
        <p:nvSpPr>
          <p:cNvPr id="49" name="object 54">
            <a:extLst>
              <a:ext uri="{FF2B5EF4-FFF2-40B4-BE49-F238E27FC236}">
                <a16:creationId xmlns:a16="http://schemas.microsoft.com/office/drawing/2014/main" id="{5B88C4B1-75BC-900F-447A-592FC1D1C76B}"/>
              </a:ext>
            </a:extLst>
          </p:cNvPr>
          <p:cNvSpPr/>
          <p:nvPr/>
        </p:nvSpPr>
        <p:spPr>
          <a:xfrm>
            <a:off x="9519805" y="4608210"/>
            <a:ext cx="148635" cy="1636524"/>
          </a:xfrm>
          <a:custGeom>
            <a:avLst/>
            <a:gdLst/>
            <a:ahLst/>
            <a:cxnLst/>
            <a:rect l="l" t="t" r="r" b="b"/>
            <a:pathLst>
              <a:path w="245109" h="2698750">
                <a:moveTo>
                  <a:pt x="244602" y="0"/>
                </a:moveTo>
                <a:lnTo>
                  <a:pt x="0" y="0"/>
                </a:lnTo>
                <a:lnTo>
                  <a:pt x="0" y="33020"/>
                </a:lnTo>
                <a:lnTo>
                  <a:pt x="0" y="2665730"/>
                </a:lnTo>
                <a:lnTo>
                  <a:pt x="0" y="2698750"/>
                </a:lnTo>
                <a:lnTo>
                  <a:pt x="244602" y="2698750"/>
                </a:lnTo>
                <a:lnTo>
                  <a:pt x="244602" y="2665730"/>
                </a:lnTo>
                <a:lnTo>
                  <a:pt x="67017" y="2665730"/>
                </a:lnTo>
                <a:lnTo>
                  <a:pt x="67017" y="33020"/>
                </a:lnTo>
                <a:lnTo>
                  <a:pt x="244602" y="33020"/>
                </a:lnTo>
                <a:lnTo>
                  <a:pt x="2446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50" name="object 55">
            <a:extLst>
              <a:ext uri="{FF2B5EF4-FFF2-40B4-BE49-F238E27FC236}">
                <a16:creationId xmlns:a16="http://schemas.microsoft.com/office/drawing/2014/main" id="{E26FC501-A5C0-21B5-6BB8-D7D454FE2F12}"/>
              </a:ext>
            </a:extLst>
          </p:cNvPr>
          <p:cNvSpPr txBox="1"/>
          <p:nvPr/>
        </p:nvSpPr>
        <p:spPr>
          <a:xfrm>
            <a:off x="9691725" y="4565323"/>
            <a:ext cx="520607" cy="787010"/>
          </a:xfrm>
          <a:prstGeom prst="rect">
            <a:avLst/>
          </a:prstGeom>
        </p:spPr>
        <p:txBody>
          <a:bodyPr vert="horz" wrap="square" lIns="0" tIns="48133" rIns="0" bIns="0" rtlCol="0">
            <a:spAutoFit/>
          </a:bodyPr>
          <a:lstStyle/>
          <a:p>
            <a:pPr marL="7701" defTabSz="554492">
              <a:spcBef>
                <a:spcPts val="379"/>
              </a:spcBef>
            </a:pPr>
            <a:r>
              <a:rPr sz="2274" u="heavy" kern="0" spc="246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74" u="heavy" kern="0" spc="-625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Yu Gothic UI Light"/>
                <a:cs typeface="Yu Gothic UI Light"/>
              </a:rPr>
              <a:t>∂</a:t>
            </a:r>
            <a:r>
              <a:rPr sz="2274" i="1" u="heavy" kern="0" spc="-625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2274" i="1" u="heavy" kern="0" spc="567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2274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48133" defTabSz="554492">
              <a:spcBef>
                <a:spcPts val="318"/>
              </a:spcBef>
            </a:pPr>
            <a:r>
              <a:rPr sz="2274" kern="0" spc="-618" dirty="0">
                <a:solidFill>
                  <a:sysClr val="windowText" lastClr="000000"/>
                </a:solidFill>
                <a:latin typeface="Yu Gothic UI Light"/>
                <a:cs typeface="Yu Gothic UI Light"/>
              </a:rPr>
              <a:t>∂</a:t>
            </a:r>
            <a:r>
              <a:rPr sz="2274" i="1" kern="0" spc="-618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endParaRPr sz="2274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1" name="object 56">
            <a:extLst>
              <a:ext uri="{FF2B5EF4-FFF2-40B4-BE49-F238E27FC236}">
                <a16:creationId xmlns:a16="http://schemas.microsoft.com/office/drawing/2014/main" id="{1208262E-F45D-106E-767E-5937E5541DFD}"/>
              </a:ext>
            </a:extLst>
          </p:cNvPr>
          <p:cNvSpPr txBox="1"/>
          <p:nvPr/>
        </p:nvSpPr>
        <p:spPr>
          <a:xfrm>
            <a:off x="9755499" y="5093039"/>
            <a:ext cx="416255" cy="1118654"/>
          </a:xfrm>
          <a:prstGeom prst="rect">
            <a:avLst/>
          </a:prstGeom>
        </p:spPr>
        <p:txBody>
          <a:bodyPr vert="horz" wrap="square" lIns="0" tIns="55449" rIns="0" bIns="0" rtlCol="0">
            <a:spAutoFit/>
          </a:bodyPr>
          <a:lstStyle/>
          <a:p>
            <a:pPr marR="3081" algn="r" defTabSz="554492">
              <a:spcBef>
                <a:spcPts val="437"/>
              </a:spcBef>
            </a:pPr>
            <a:r>
              <a:rPr sz="1607" kern="0" spc="-30" dirty="0">
                <a:solidFill>
                  <a:sysClr val="windowText" lastClr="000000"/>
                </a:solidFill>
                <a:latin typeface="Cambria"/>
                <a:cs typeface="Cambria"/>
              </a:rPr>
              <a:t>1</a:t>
            </a:r>
            <a:endParaRPr sz="1607" kern="0">
              <a:solidFill>
                <a:sysClr val="windowText" lastClr="000000"/>
              </a:solidFill>
              <a:latin typeface="Cambria"/>
              <a:cs typeface="Cambria"/>
            </a:endParaRPr>
          </a:p>
          <a:p>
            <a:pPr marL="7701" defTabSz="554492">
              <a:spcBef>
                <a:spcPts val="522"/>
              </a:spcBef>
            </a:pPr>
            <a:r>
              <a:rPr sz="2274" u="heavy" kern="0" spc="-255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74" u="heavy" kern="0" spc="-631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Yu Gothic UI Light"/>
                <a:cs typeface="Yu Gothic UI Light"/>
              </a:rPr>
              <a:t>∂</a:t>
            </a:r>
            <a:r>
              <a:rPr sz="2274" i="1" u="heavy" kern="0" spc="-631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endParaRPr sz="2274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56219" defTabSz="554492">
              <a:spcBef>
                <a:spcPts val="355"/>
              </a:spcBef>
            </a:pPr>
            <a:r>
              <a:rPr sz="2274" kern="0" spc="-625" dirty="0">
                <a:solidFill>
                  <a:sysClr val="windowText" lastClr="000000"/>
                </a:solidFill>
                <a:latin typeface="Yu Gothic UI Light"/>
                <a:cs typeface="Yu Gothic UI Light"/>
              </a:rPr>
              <a:t>∂</a:t>
            </a:r>
            <a:r>
              <a:rPr sz="2274" i="1" kern="0" spc="-6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b</a:t>
            </a:r>
            <a:endParaRPr sz="2274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2" name="object 57">
            <a:extLst>
              <a:ext uri="{FF2B5EF4-FFF2-40B4-BE49-F238E27FC236}">
                <a16:creationId xmlns:a16="http://schemas.microsoft.com/office/drawing/2014/main" id="{E3899FFD-0A47-75B5-C0ED-87701215F962}"/>
              </a:ext>
            </a:extLst>
          </p:cNvPr>
          <p:cNvSpPr/>
          <p:nvPr/>
        </p:nvSpPr>
        <p:spPr>
          <a:xfrm>
            <a:off x="10235855" y="4608210"/>
            <a:ext cx="148635" cy="1636524"/>
          </a:xfrm>
          <a:custGeom>
            <a:avLst/>
            <a:gdLst/>
            <a:ahLst/>
            <a:cxnLst/>
            <a:rect l="l" t="t" r="r" b="b"/>
            <a:pathLst>
              <a:path w="245109" h="2698750">
                <a:moveTo>
                  <a:pt x="244589" y="0"/>
                </a:moveTo>
                <a:lnTo>
                  <a:pt x="0" y="0"/>
                </a:lnTo>
                <a:lnTo>
                  <a:pt x="0" y="33020"/>
                </a:lnTo>
                <a:lnTo>
                  <a:pt x="177584" y="33020"/>
                </a:lnTo>
                <a:lnTo>
                  <a:pt x="177584" y="2665730"/>
                </a:lnTo>
                <a:lnTo>
                  <a:pt x="0" y="2665730"/>
                </a:lnTo>
                <a:lnTo>
                  <a:pt x="0" y="2698750"/>
                </a:lnTo>
                <a:lnTo>
                  <a:pt x="244589" y="2698750"/>
                </a:lnTo>
                <a:lnTo>
                  <a:pt x="244589" y="2665730"/>
                </a:lnTo>
                <a:lnTo>
                  <a:pt x="244589" y="33020"/>
                </a:lnTo>
                <a:lnTo>
                  <a:pt x="2445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sp>
        <p:nvSpPr>
          <p:cNvPr id="53" name="object 41">
            <a:extLst>
              <a:ext uri="{FF2B5EF4-FFF2-40B4-BE49-F238E27FC236}">
                <a16:creationId xmlns:a16="http://schemas.microsoft.com/office/drawing/2014/main" id="{BF9ADC8E-F612-BC4C-6363-3BA3C08EA3BC}"/>
              </a:ext>
            </a:extLst>
          </p:cNvPr>
          <p:cNvSpPr txBox="1"/>
          <p:nvPr/>
        </p:nvSpPr>
        <p:spPr>
          <a:xfrm>
            <a:off x="2481794" y="4855798"/>
            <a:ext cx="1963829" cy="484518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30805" defTabSz="554492">
              <a:spcBef>
                <a:spcPts val="67"/>
              </a:spcBef>
              <a:tabLst>
                <a:tab pos="1356580" algn="l"/>
              </a:tabLst>
            </a:pPr>
            <a:r>
              <a:rPr sz="3093" kern="0" spc="-631" dirty="0">
                <a:solidFill>
                  <a:sysClr val="windowText" lastClr="000000"/>
                </a:solidFill>
                <a:latin typeface="Yu Gothic UI Light"/>
                <a:cs typeface="Yu Gothic UI Light"/>
              </a:rPr>
              <a:t>∂</a:t>
            </a:r>
            <a:r>
              <a:rPr sz="3093" i="1" kern="0" spc="-63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</a:t>
            </a:r>
            <a:r>
              <a:rPr sz="3275" kern="0" spc="-946" baseline="-16975" dirty="0">
                <a:solidFill>
                  <a:sysClr val="windowText" lastClr="000000"/>
                </a:solidFill>
                <a:latin typeface="Cambria"/>
                <a:cs typeface="Cambria"/>
              </a:rPr>
              <a:t>1</a:t>
            </a:r>
            <a:r>
              <a:rPr sz="3275" kern="0" baseline="-16975" dirty="0">
                <a:solidFill>
                  <a:sysClr val="windowText" lastClr="000000"/>
                </a:solidFill>
                <a:latin typeface="Cambria"/>
                <a:cs typeface="Cambria"/>
              </a:rPr>
              <a:t>	</a:t>
            </a:r>
            <a:r>
              <a:rPr sz="3093" kern="0" spc="-631" dirty="0">
                <a:solidFill>
                  <a:srgbClr val="017100"/>
                </a:solidFill>
                <a:latin typeface="Yu Gothic UI Light"/>
                <a:cs typeface="Yu Gothic UI Light"/>
              </a:rPr>
              <a:t>∂</a:t>
            </a:r>
            <a:r>
              <a:rPr sz="3093" i="1" kern="0" spc="-631" dirty="0">
                <a:solidFill>
                  <a:srgbClr val="017100"/>
                </a:solidFill>
                <a:latin typeface="Times New Roman"/>
                <a:cs typeface="Times New Roman"/>
              </a:rPr>
              <a:t>w</a:t>
            </a:r>
            <a:r>
              <a:rPr sz="3275" kern="0" spc="-946" baseline="-16975" dirty="0">
                <a:solidFill>
                  <a:srgbClr val="017100"/>
                </a:solidFill>
                <a:latin typeface="Cambria"/>
                <a:cs typeface="Cambria"/>
              </a:rPr>
              <a:t>1</a:t>
            </a:r>
            <a:endParaRPr sz="3275" kern="0" baseline="-16975">
              <a:solidFill>
                <a:sysClr val="windowText" lastClr="000000"/>
              </a:solidFill>
              <a:latin typeface="Cambria"/>
              <a:cs typeface="Cambria"/>
            </a:endParaRPr>
          </a:p>
        </p:txBody>
      </p:sp>
      <p:sp>
        <p:nvSpPr>
          <p:cNvPr id="54" name="object 42">
            <a:extLst>
              <a:ext uri="{FF2B5EF4-FFF2-40B4-BE49-F238E27FC236}">
                <a16:creationId xmlns:a16="http://schemas.microsoft.com/office/drawing/2014/main" id="{05A290CA-3CFD-A8AE-A334-CAC46229A5BB}"/>
              </a:ext>
            </a:extLst>
          </p:cNvPr>
          <p:cNvSpPr txBox="1"/>
          <p:nvPr/>
        </p:nvSpPr>
        <p:spPr>
          <a:xfrm>
            <a:off x="2491906" y="4303399"/>
            <a:ext cx="5166026" cy="777995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 defTabSz="554492">
              <a:lnSpc>
                <a:spcPts val="2732"/>
              </a:lnSpc>
              <a:spcBef>
                <a:spcPts val="67"/>
              </a:spcBef>
              <a:tabLst>
                <a:tab pos="1333477" algn="l"/>
                <a:tab pos="2528715" algn="l"/>
                <a:tab pos="3663499" algn="l"/>
                <a:tab pos="4745529" algn="l"/>
              </a:tabLst>
            </a:pPr>
            <a:r>
              <a:rPr sz="3093" u="heavy" kern="0" spc="640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93" u="heavy" kern="0" spc="-822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Yu Gothic UI Light"/>
                <a:cs typeface="Yu Gothic UI Light"/>
              </a:rPr>
              <a:t>∂</a:t>
            </a:r>
            <a:r>
              <a:rPr sz="3093" i="1" u="heavy" kern="0" spc="-822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3093" i="1" u="heavy" kern="0" spc="643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93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3093" u="heavy" kern="0" spc="773" dirty="0">
                <a:solidFill>
                  <a:srgbClr val="017100"/>
                </a:solidFill>
                <a:uFill>
                  <a:solidFill>
                    <a:srgbClr val="017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93" u="heavy" kern="0" spc="-822" dirty="0">
                <a:solidFill>
                  <a:srgbClr val="017100"/>
                </a:solidFill>
                <a:uFill>
                  <a:solidFill>
                    <a:srgbClr val="017100"/>
                  </a:solidFill>
                </a:uFill>
                <a:latin typeface="Yu Gothic UI Light"/>
                <a:cs typeface="Yu Gothic UI Light"/>
              </a:rPr>
              <a:t>∂</a:t>
            </a:r>
            <a:r>
              <a:rPr sz="3093" i="1" u="heavy" kern="0" spc="-822" dirty="0">
                <a:solidFill>
                  <a:srgbClr val="017100"/>
                </a:solidFill>
                <a:uFill>
                  <a:solidFill>
                    <a:srgbClr val="017100"/>
                  </a:solidFill>
                </a:uFill>
                <a:latin typeface="Times New Roman"/>
                <a:cs typeface="Times New Roman"/>
              </a:rPr>
              <a:t>u</a:t>
            </a:r>
            <a:r>
              <a:rPr sz="3093" i="1" u="heavy" kern="0" spc="773" dirty="0">
                <a:solidFill>
                  <a:srgbClr val="017100"/>
                </a:solidFill>
                <a:uFill>
                  <a:solidFill>
                    <a:srgbClr val="0171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93" i="1" kern="0" dirty="0">
                <a:solidFill>
                  <a:srgbClr val="017100"/>
                </a:solidFill>
                <a:latin typeface="Times New Roman"/>
                <a:cs typeface="Times New Roman"/>
              </a:rPr>
              <a:t>	</a:t>
            </a:r>
            <a:r>
              <a:rPr sz="4639" u="heavy" kern="0" baseline="1089" dirty="0">
                <a:solidFill>
                  <a:srgbClr val="FEAE00"/>
                </a:solidFill>
                <a:uFill>
                  <a:solidFill>
                    <a:srgbClr val="FEAE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639" u="heavy" kern="0" spc="-1232" baseline="1089" dirty="0">
                <a:solidFill>
                  <a:srgbClr val="FEAE00"/>
                </a:solidFill>
                <a:uFill>
                  <a:solidFill>
                    <a:srgbClr val="FEAE00"/>
                  </a:solidFill>
                </a:uFill>
                <a:latin typeface="Yu Gothic UI Light"/>
                <a:cs typeface="Yu Gothic UI Light"/>
              </a:rPr>
              <a:t>∂</a:t>
            </a:r>
            <a:r>
              <a:rPr sz="4639" i="1" u="heavy" kern="0" spc="-1232" baseline="1089" dirty="0">
                <a:solidFill>
                  <a:srgbClr val="FEAE00"/>
                </a:solidFill>
                <a:uFill>
                  <a:solidFill>
                    <a:srgbClr val="FEAE00"/>
                  </a:solidFill>
                </a:uFill>
                <a:latin typeface="Times New Roman"/>
                <a:cs typeface="Times New Roman"/>
              </a:rPr>
              <a:t>z</a:t>
            </a:r>
            <a:r>
              <a:rPr sz="4639" i="1" kern="0" baseline="1089" dirty="0">
                <a:solidFill>
                  <a:srgbClr val="FEAE00"/>
                </a:solidFill>
                <a:latin typeface="Times New Roman"/>
                <a:cs typeface="Times New Roman"/>
              </a:rPr>
              <a:t>	</a:t>
            </a:r>
            <a:r>
              <a:rPr sz="4639" i="1" u="heavy" kern="0" spc="-22" baseline="2178" dirty="0">
                <a:solidFill>
                  <a:srgbClr val="FF644E"/>
                </a:solidFill>
                <a:uFill>
                  <a:solidFill>
                    <a:srgbClr val="FF644E"/>
                  </a:solidFill>
                </a:uFill>
                <a:latin typeface="Times New Roman"/>
                <a:cs typeface="Times New Roman"/>
              </a:rPr>
              <a:t>d</a:t>
            </a:r>
            <a:r>
              <a:rPr lang="en-US" sz="4639" i="1" u="heavy" kern="0" spc="-22" baseline="2178" dirty="0">
                <a:solidFill>
                  <a:srgbClr val="FF644E"/>
                </a:solidFill>
                <a:uFill>
                  <a:solidFill>
                    <a:srgbClr val="FF644E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4639" i="1" kern="0" baseline="2178" dirty="0">
                <a:solidFill>
                  <a:srgbClr val="FF644E"/>
                </a:solidFill>
                <a:latin typeface="Times New Roman"/>
                <a:cs typeface="Times New Roman"/>
              </a:rPr>
              <a:t>	</a:t>
            </a:r>
            <a:endParaRPr sz="4639" kern="0" baseline="2178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204854" algn="ctr" defTabSz="554492">
              <a:lnSpc>
                <a:spcPts val="3314"/>
              </a:lnSpc>
              <a:tabLst>
                <a:tab pos="1502135" algn="l"/>
                <a:tab pos="2608424" algn="l"/>
                <a:tab pos="3699695" algn="l"/>
              </a:tabLst>
            </a:pPr>
            <a:r>
              <a:rPr sz="4639" kern="0" spc="541" baseline="1089" dirty="0">
                <a:solidFill>
                  <a:sysClr val="windowText" lastClr="000000"/>
                </a:solidFill>
                <a:latin typeface="Cambria"/>
                <a:cs typeface="Cambria"/>
              </a:rPr>
              <a:t>=</a:t>
            </a:r>
            <a:r>
              <a:rPr sz="4639" kern="0" baseline="1089" dirty="0">
                <a:solidFill>
                  <a:sysClr val="windowText" lastClr="000000"/>
                </a:solidFill>
                <a:latin typeface="Cambria"/>
                <a:cs typeface="Cambria"/>
              </a:rPr>
              <a:t>	</a:t>
            </a:r>
            <a:r>
              <a:rPr sz="5367" kern="0" spc="-54" baseline="-1412" dirty="0">
                <a:solidFill>
                  <a:sysClr val="windowText" lastClr="000000"/>
                </a:solidFill>
                <a:latin typeface="Yu Gothic UI Light"/>
                <a:cs typeface="Yu Gothic UI Light"/>
              </a:rPr>
              <a:t>×</a:t>
            </a:r>
            <a:r>
              <a:rPr sz="5367" kern="0" baseline="-1412" dirty="0">
                <a:solidFill>
                  <a:sysClr val="windowText" lastClr="000000"/>
                </a:solidFill>
                <a:latin typeface="Yu Gothic UI Light"/>
                <a:cs typeface="Yu Gothic UI Light"/>
              </a:rPr>
              <a:t>	</a:t>
            </a:r>
            <a:r>
              <a:rPr sz="3578" kern="0" spc="-30" dirty="0">
                <a:solidFill>
                  <a:sysClr val="windowText" lastClr="000000"/>
                </a:solidFill>
                <a:latin typeface="Yu Gothic UI Light"/>
                <a:cs typeface="Yu Gothic UI Light"/>
              </a:rPr>
              <a:t>×</a:t>
            </a:r>
            <a:r>
              <a:rPr sz="3578" kern="0" dirty="0">
                <a:solidFill>
                  <a:sysClr val="windowText" lastClr="000000"/>
                </a:solidFill>
                <a:latin typeface="Yu Gothic UI Light"/>
                <a:cs typeface="Yu Gothic UI Light"/>
              </a:rPr>
              <a:t>	</a:t>
            </a:r>
            <a:endParaRPr sz="5367" kern="0" baseline="1412" dirty="0">
              <a:solidFill>
                <a:sysClr val="windowText" lastClr="000000"/>
              </a:solidFill>
              <a:latin typeface="Yu Gothic UI Light"/>
              <a:cs typeface="Yu Gothic UI Light"/>
            </a:endParaRPr>
          </a:p>
        </p:txBody>
      </p:sp>
      <p:sp>
        <p:nvSpPr>
          <p:cNvPr id="55" name="object 43">
            <a:extLst>
              <a:ext uri="{FF2B5EF4-FFF2-40B4-BE49-F238E27FC236}">
                <a16:creationId xmlns:a16="http://schemas.microsoft.com/office/drawing/2014/main" id="{FC75265D-2BB3-7E8A-EB06-8F428672ACE0}"/>
              </a:ext>
            </a:extLst>
          </p:cNvPr>
          <p:cNvSpPr txBox="1"/>
          <p:nvPr/>
        </p:nvSpPr>
        <p:spPr>
          <a:xfrm>
            <a:off x="4883732" y="4855798"/>
            <a:ext cx="2698533" cy="1947098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6243" defTabSz="554492">
              <a:spcBef>
                <a:spcPts val="67"/>
              </a:spcBef>
              <a:tabLst>
                <a:tab pos="1193698" algn="l"/>
                <a:tab pos="2264561" algn="l"/>
              </a:tabLst>
            </a:pPr>
            <a:r>
              <a:rPr sz="3093" kern="0" spc="-837" dirty="0">
                <a:solidFill>
                  <a:srgbClr val="FEAE00"/>
                </a:solidFill>
                <a:latin typeface="Yu Gothic UI Light"/>
                <a:cs typeface="Yu Gothic UI Light"/>
              </a:rPr>
              <a:t>∂</a:t>
            </a:r>
            <a:r>
              <a:rPr sz="3093" i="1" kern="0" spc="-837" dirty="0">
                <a:solidFill>
                  <a:srgbClr val="FEAE00"/>
                </a:solidFill>
                <a:latin typeface="Times New Roman"/>
                <a:cs typeface="Times New Roman"/>
              </a:rPr>
              <a:t>u</a:t>
            </a:r>
            <a:r>
              <a:rPr sz="3093" i="1" kern="0" dirty="0">
                <a:solidFill>
                  <a:srgbClr val="FEAE00"/>
                </a:solidFill>
                <a:latin typeface="Times New Roman"/>
                <a:cs typeface="Times New Roman"/>
              </a:rPr>
              <a:t>	</a:t>
            </a:r>
            <a:r>
              <a:rPr sz="4639" i="1" kern="0" spc="-22" baseline="1089" dirty="0">
                <a:solidFill>
                  <a:srgbClr val="FF644E"/>
                </a:solidFill>
                <a:latin typeface="Times New Roman"/>
                <a:cs typeface="Times New Roman"/>
              </a:rPr>
              <a:t>dz</a:t>
            </a:r>
            <a:r>
              <a:rPr sz="4639" i="1" kern="0" baseline="1089" dirty="0">
                <a:solidFill>
                  <a:srgbClr val="FF644E"/>
                </a:solidFill>
                <a:latin typeface="Times New Roman"/>
                <a:cs typeface="Times New Roman"/>
              </a:rPr>
              <a:t>	</a:t>
            </a:r>
            <a:endParaRPr sz="4639" kern="0" baseline="1089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38506" defTabSz="554492">
              <a:spcBef>
                <a:spcPts val="2708"/>
              </a:spcBef>
              <a:tabLst>
                <a:tab pos="704282" algn="l"/>
                <a:tab pos="1795553" algn="l"/>
              </a:tabLst>
            </a:pPr>
            <a:r>
              <a:rPr sz="3093" u="heavy" kern="0" spc="-30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93" u="heavy" kern="0" spc="-837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Yu Gothic UI Light"/>
                <a:cs typeface="Yu Gothic UI Light"/>
              </a:rPr>
              <a:t>∂</a:t>
            </a:r>
            <a:r>
              <a:rPr sz="3093" i="1" u="heavy" kern="0" spc="-837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Times New Roman"/>
                <a:cs typeface="Times New Roman"/>
              </a:rPr>
              <a:t>z</a:t>
            </a:r>
            <a:r>
              <a:rPr sz="3093" i="1" kern="0" dirty="0">
                <a:solidFill>
                  <a:srgbClr val="00A2FF"/>
                </a:solidFill>
                <a:latin typeface="Times New Roman"/>
                <a:cs typeface="Times New Roman"/>
              </a:rPr>
              <a:t>	</a:t>
            </a:r>
            <a:r>
              <a:rPr sz="5367" kern="0" baseline="-35781" dirty="0">
                <a:solidFill>
                  <a:sysClr val="windowText" lastClr="000000"/>
                </a:solidFill>
                <a:latin typeface="Yu Gothic UI Light"/>
                <a:cs typeface="Yu Gothic UI Light"/>
              </a:rPr>
              <a:t>×</a:t>
            </a:r>
            <a:r>
              <a:rPr sz="5367" kern="0" spc="568" baseline="-35781" dirty="0">
                <a:solidFill>
                  <a:sysClr val="windowText" lastClr="000000"/>
                </a:solidFill>
                <a:latin typeface="Yu Gothic UI Light"/>
                <a:cs typeface="Yu Gothic UI Light"/>
              </a:rPr>
              <a:t> </a:t>
            </a:r>
            <a:r>
              <a:rPr sz="4639" i="1" u="heavy" kern="0" spc="-22" baseline="1089" dirty="0">
                <a:solidFill>
                  <a:srgbClr val="FF644E"/>
                </a:solidFill>
                <a:uFill>
                  <a:solidFill>
                    <a:srgbClr val="FF644E"/>
                  </a:solidFill>
                </a:uFill>
                <a:latin typeface="Times New Roman"/>
                <a:cs typeface="Times New Roman"/>
              </a:rPr>
              <a:t>d</a:t>
            </a:r>
            <a:r>
              <a:rPr lang="en-US" sz="4639" i="1" u="heavy" kern="0" spc="-22" baseline="1089" dirty="0">
                <a:solidFill>
                  <a:srgbClr val="FF644E"/>
                </a:solidFill>
                <a:uFill>
                  <a:solidFill>
                    <a:srgbClr val="FF644E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4639" i="1" kern="0" baseline="1089" dirty="0">
                <a:solidFill>
                  <a:srgbClr val="FF644E"/>
                </a:solidFill>
                <a:latin typeface="Times New Roman"/>
                <a:cs typeface="Times New Roman"/>
              </a:rPr>
              <a:t>	</a:t>
            </a:r>
            <a:endParaRPr sz="4639" kern="0" baseline="1089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77783" defTabSz="554492">
              <a:spcBef>
                <a:spcPts val="700"/>
              </a:spcBef>
              <a:tabLst>
                <a:tab pos="1194854" algn="l"/>
                <a:tab pos="2266102" algn="l"/>
              </a:tabLst>
            </a:pPr>
            <a:r>
              <a:rPr sz="3093" kern="0" spc="-837" dirty="0">
                <a:solidFill>
                  <a:srgbClr val="00A2FF"/>
                </a:solidFill>
                <a:latin typeface="Yu Gothic UI Light"/>
                <a:cs typeface="Yu Gothic UI Light"/>
              </a:rPr>
              <a:t>∂</a:t>
            </a:r>
            <a:r>
              <a:rPr sz="3093" i="1" kern="0" spc="-837" dirty="0">
                <a:solidFill>
                  <a:srgbClr val="00A2FF"/>
                </a:solidFill>
                <a:latin typeface="Times New Roman"/>
                <a:cs typeface="Times New Roman"/>
              </a:rPr>
              <a:t>b</a:t>
            </a:r>
            <a:r>
              <a:rPr sz="3093" i="1" kern="0" dirty="0">
                <a:solidFill>
                  <a:srgbClr val="00A2FF"/>
                </a:solidFill>
                <a:latin typeface="Times New Roman"/>
                <a:cs typeface="Times New Roman"/>
              </a:rPr>
              <a:t>	</a:t>
            </a:r>
            <a:r>
              <a:rPr sz="4639" i="1" kern="0" spc="-22" baseline="1089" dirty="0">
                <a:solidFill>
                  <a:srgbClr val="FF644E"/>
                </a:solidFill>
                <a:latin typeface="Times New Roman"/>
                <a:cs typeface="Times New Roman"/>
              </a:rPr>
              <a:t>dz</a:t>
            </a:r>
            <a:r>
              <a:rPr sz="4639" i="1" kern="0" baseline="1089" dirty="0">
                <a:solidFill>
                  <a:srgbClr val="FF644E"/>
                </a:solidFill>
                <a:latin typeface="Times New Roman"/>
                <a:cs typeface="Times New Roman"/>
              </a:rPr>
              <a:t>	</a:t>
            </a:r>
            <a:endParaRPr sz="4639" kern="0" baseline="1089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6" name="object 44">
            <a:extLst>
              <a:ext uri="{FF2B5EF4-FFF2-40B4-BE49-F238E27FC236}">
                <a16:creationId xmlns:a16="http://schemas.microsoft.com/office/drawing/2014/main" id="{931D8BA8-89AB-5132-2625-32567D8A253C}"/>
              </a:ext>
            </a:extLst>
          </p:cNvPr>
          <p:cNvSpPr txBox="1"/>
          <p:nvPr/>
        </p:nvSpPr>
        <p:spPr>
          <a:xfrm>
            <a:off x="2694678" y="6301675"/>
            <a:ext cx="397772" cy="484518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 defTabSz="554492">
              <a:spcBef>
                <a:spcPts val="67"/>
              </a:spcBef>
            </a:pPr>
            <a:r>
              <a:rPr sz="3093" kern="0" spc="-837" dirty="0">
                <a:solidFill>
                  <a:sysClr val="windowText" lastClr="000000"/>
                </a:solidFill>
                <a:latin typeface="Yu Gothic UI Light"/>
                <a:cs typeface="Yu Gothic UI Light"/>
              </a:rPr>
              <a:t>∂</a:t>
            </a:r>
            <a:r>
              <a:rPr sz="3093" i="1" kern="0" spc="-83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b</a:t>
            </a:r>
            <a:endParaRPr sz="3093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7" name="object 45">
            <a:extLst>
              <a:ext uri="{FF2B5EF4-FFF2-40B4-BE49-F238E27FC236}">
                <a16:creationId xmlns:a16="http://schemas.microsoft.com/office/drawing/2014/main" id="{0442D410-E60B-9E62-1AFD-4606EF2073BE}"/>
              </a:ext>
            </a:extLst>
          </p:cNvPr>
          <p:cNvSpPr txBox="1"/>
          <p:nvPr/>
        </p:nvSpPr>
        <p:spPr>
          <a:xfrm>
            <a:off x="2683655" y="5728882"/>
            <a:ext cx="857924" cy="752347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 defTabSz="554492">
              <a:lnSpc>
                <a:spcPts val="2947"/>
              </a:lnSpc>
              <a:spcBef>
                <a:spcPts val="67"/>
              </a:spcBef>
            </a:pPr>
            <a:r>
              <a:rPr sz="3093" u="heavy" kern="0" spc="-837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Yu Gothic UI Light"/>
                <a:cs typeface="Yu Gothic UI Light"/>
              </a:rPr>
              <a:t>∂</a:t>
            </a:r>
            <a:r>
              <a:rPr sz="3093" i="1" u="heavy" kern="0" spc="-837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endParaRPr sz="3093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R="3081" algn="r" defTabSz="554492">
              <a:lnSpc>
                <a:spcPts val="2947"/>
              </a:lnSpc>
            </a:pPr>
            <a:r>
              <a:rPr sz="3093" kern="0" spc="361" dirty="0">
                <a:solidFill>
                  <a:sysClr val="windowText" lastClr="000000"/>
                </a:solidFill>
                <a:latin typeface="Cambria"/>
                <a:cs typeface="Cambria"/>
              </a:rPr>
              <a:t>=</a:t>
            </a:r>
            <a:endParaRPr sz="3093" kern="0" dirty="0">
              <a:solidFill>
                <a:sysClr val="windowText" lastClr="000000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835527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Polynomial terms: capturing simple nonlinearity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Polynomial regression still uses linear regression machinery, but adds transformed features such as x².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4846320"/>
            <a:ext cx="4937760" cy="0"/>
          </a:xfrm>
          <a:prstGeom prst="line">
            <a:avLst/>
          </a:prstGeom>
          <a:noFill/>
          <a:ln w="1524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4846320"/>
            <a:ext cx="0" cy="0"/>
          </a:xfrm>
          <a:prstGeom prst="line">
            <a:avLst/>
          </a:prstGeom>
          <a:noFill/>
          <a:ln w="1524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4617720"/>
            <a:ext cx="594360" cy="111026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63040" y="4728746"/>
            <a:ext cx="594360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57400" y="4612562"/>
            <a:ext cx="594360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51760" y="4257766"/>
            <a:ext cx="594360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46120" y="3793516"/>
            <a:ext cx="594360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40480" y="3370789"/>
            <a:ext cx="594360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34840" y="3023570"/>
            <a:ext cx="594360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0" y="2637607"/>
            <a:ext cx="594360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3816" y="475488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002536" y="474972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191256" y="393067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79976" y="316073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568696" y="219261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83680" y="1600200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48272" y="1719072"/>
            <a:ext cx="410565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Example model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ŷ = β₀ + β₁x + β₂x²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583680" y="2880360"/>
            <a:ext cx="4434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48272" y="2999232"/>
            <a:ext cx="410565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When useful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Residuals show curved patterns, but the underlying relationship remains smooth and low-dimensional.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83680" y="4343400"/>
            <a:ext cx="4434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48272" y="4462272"/>
            <a:ext cx="410565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Risk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High-degree polynomials can chase noise and perform poorly on new data.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Regularization: controlling overly flexible models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16152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Regularization adds a penalty for large coefficients to reduce overfitting and improve generalization.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93392"/>
            <a:ext cx="2916936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Ridge regression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Shrinks coefficients toward zero.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Useful when many correlated features are present.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80560" y="1874520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45152" y="1993392"/>
            <a:ext cx="2916936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Lasso regression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Can shrink some coefficients exactly to zero.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Useful for feature selection and simpler models.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92440" y="1874520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57032" y="1993392"/>
            <a:ext cx="2916936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Tradeoff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Slightly more bias may reduce variance.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The goal is lower error on new data, not perfect fit to training data.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394960"/>
            <a:ext cx="10332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</a:rPr>
              <a:t>When would a smaller, more stable model be preferable to a slightly more accurate model?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Regression metrics: measure error in different ways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16152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No single metric is universally best. Choose the metric based on the meaning and cost of prediction errors.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280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MAE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148840" y="1828800"/>
            <a:ext cx="3017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Average absolute error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94960" y="1828800"/>
            <a:ext cx="5257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</a:rPr>
              <a:t>Easy to interpret in target units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212848"/>
            <a:ext cx="1056132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697480"/>
            <a:ext cx="1280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RMSE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148840" y="2697480"/>
            <a:ext cx="3017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Square root of average squared error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94960" y="2697480"/>
            <a:ext cx="5257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</a:rPr>
              <a:t>Penalizes large errors more strongly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3081528"/>
            <a:ext cx="1056132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566160"/>
            <a:ext cx="1280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R²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148840" y="3566160"/>
            <a:ext cx="3017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Fraction of variance explained relative to baseline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94960" y="3566160"/>
            <a:ext cx="5257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</a:rPr>
              <a:t>Useful summary but can hide large errors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3950208"/>
            <a:ext cx="1056132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4434840"/>
            <a:ext cx="1280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Domain threshold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148840" y="4434840"/>
            <a:ext cx="3017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Percent of predictions within an acceptable error band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94960" y="4434840"/>
            <a:ext cx="5257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</a:rPr>
              <a:t>Often most meaningful to stakeholders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" y="4818888"/>
            <a:ext cx="1056132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60120" y="5486400"/>
            <a:ext cx="10195560" cy="502920"/>
          </a:xfrm>
          <a:prstGeom prst="roundRect">
            <a:avLst>
              <a:gd name="adj" fmla="val 14545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24712" y="5605272"/>
            <a:ext cx="98663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102E"/>
                </a:solidFill>
              </a:rPr>
              <a:t>Metric choice is an ethical and practical design choice: it determines which errors the model prioritizes.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Residuals: where the model is wrong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A residual is observed value minus predicted value. Residual plots reveal patterns that a single metric can hide.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3703320"/>
            <a:ext cx="4937760" cy="0"/>
          </a:xfrm>
          <a:prstGeom prst="line">
            <a:avLst/>
          </a:prstGeom>
          <a:noFill/>
          <a:ln w="1524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4892040"/>
            <a:ext cx="0" cy="0"/>
          </a:xfrm>
          <a:prstGeom prst="line">
            <a:avLst/>
          </a:prstGeom>
          <a:noFill/>
          <a:ln w="1524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3703320"/>
            <a:ext cx="4937760" cy="0"/>
          </a:xfrm>
          <a:prstGeom prst="line">
            <a:avLst/>
          </a:prstGeom>
          <a:noFill/>
          <a:ln w="152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55548" y="344728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458468" y="357073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61388" y="3611880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64308" y="3323844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967228" y="377647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0148" y="357073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973068" y="377647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75988" y="365302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78908" y="336499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1828" y="3735324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240280" y="5138928"/>
            <a:ext cx="1737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Predicted value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" y="3429000"/>
            <a:ext cx="5486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Residual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1691640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56832" y="1810512"/>
            <a:ext cx="43342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Look for patterns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20840" y="2743200"/>
            <a:ext cx="42519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</a:rPr>
              <a:t>• Centered around zero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20840" y="3182112"/>
            <a:ext cx="42519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</a:rPr>
              <a:t>• Curved pattern → missing nonlinearity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720840" y="3621024"/>
            <a:ext cx="42519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</a:rPr>
              <a:t>• Fan shape → changing variance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20840" y="4059936"/>
            <a:ext cx="42519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</a:rPr>
              <a:t>• Large isolated points → possible outliers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720840" y="4498848"/>
            <a:ext cx="42519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</a:rPr>
              <a:t>• Groups of errors → missing feature or population shift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Activity: compare candidate regression models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Use a small dataset to compare a baseline, a linear model, and a polynomial or regularized model.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0392" y="1993392"/>
            <a:ext cx="10881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</a:rPr>
              <a:t>1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</a:rPr>
              <a:t>Choose target and inputs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103120" y="2359152"/>
            <a:ext cx="338328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0" y="187452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24912" y="1993392"/>
            <a:ext cx="10881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</a:rPr>
              <a:t>2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</a:rPr>
              <a:t>Split training and test data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977640" y="2359152"/>
            <a:ext cx="338328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34840" y="187452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99432" y="1993392"/>
            <a:ext cx="10881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</a:rPr>
              <a:t>3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</a:rPr>
              <a:t>Fit baseline model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2359152"/>
            <a:ext cx="338328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187452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73952" y="1993392"/>
            <a:ext cx="10881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</a:rPr>
              <a:t>4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</a:rPr>
              <a:t>Fit regression models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26680" y="2359152"/>
            <a:ext cx="338328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83880" y="187452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48472" y="1993392"/>
            <a:ext cx="10881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</a:rPr>
              <a:t>5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</a:rPr>
              <a:t>Compare metrics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601200" y="2359152"/>
            <a:ext cx="338328" cy="0"/>
          </a:xfrm>
          <a:prstGeom prst="line">
            <a:avLst/>
          </a:prstGeom>
          <a:noFill/>
          <a:ln w="15240">
            <a:solidFill>
              <a:srgbClr val="D1D5D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058400" y="187452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222992" y="1993392"/>
            <a:ext cx="10881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</a:rPr>
              <a:t>6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</a:rPr>
              <a:t>Inspect residuals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14400" y="384048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78992" y="3959352"/>
            <a:ext cx="277977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Model A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Mean baseline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MAE = 8.7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4526280" y="384048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90872" y="3959352"/>
            <a:ext cx="277977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Model B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Linear regression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MAE = 5.1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138160" y="384048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302752" y="3959352"/>
            <a:ext cx="277977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Model C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Polynomial model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MAE = 4.8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</a:rPr>
              <a:t>Is the small gain from Model C worth the added complexity and lower interpretability?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15</a:t>
            </a:r>
            <a:endParaRPr lang="en-US" sz="800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EB194F32-1FE1-D34A-C1DF-CAF9EB267473}"/>
              </a:ext>
            </a:extLst>
          </p:cNvPr>
          <p:cNvSpPr/>
          <p:nvPr/>
        </p:nvSpPr>
        <p:spPr>
          <a:xfrm>
            <a:off x="533400" y="10744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3 technical skill: minimal regression workflow</a:t>
            </a:r>
            <a:endParaRPr lang="en-US" sz="25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D25DB29D-805C-78A1-7AEA-4171929882AC}"/>
              </a:ext>
            </a:extLst>
          </p:cNvPr>
          <p:cNvSpPr/>
          <p:nvPr/>
        </p:nvSpPr>
        <p:spPr>
          <a:xfrm>
            <a:off x="551688" y="159562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Goal: demonstrate split → baseline → fit → predict → evaluate for a continuous target.</a:t>
            </a:r>
            <a:endParaRPr lang="en-US" sz="1150" dirty="0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8A63E2C2-C73C-54AA-A523-7524C1DD8F5B}"/>
              </a:ext>
            </a:extLst>
          </p:cNvPr>
          <p:cNvSpPr/>
          <p:nvPr/>
        </p:nvSpPr>
        <p:spPr>
          <a:xfrm>
            <a:off x="670560" y="1988820"/>
            <a:ext cx="5394960" cy="205740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B112A354-C50F-5A84-2A68-FC0359EEF325}"/>
              </a:ext>
            </a:extLst>
          </p:cNvPr>
          <p:cNvSpPr/>
          <p:nvPr/>
        </p:nvSpPr>
        <p:spPr>
          <a:xfrm>
            <a:off x="835152" y="2116836"/>
            <a:ext cx="5065776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sklearn.model_selection import train_test_split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sklearn.linear_model import LinearRegression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sklearn.metrics import mean_absolute_error, r2_score</a:t>
            </a:r>
            <a:endParaRPr lang="en-US" sz="860" dirty="0"/>
          </a:p>
          <a:p>
            <a:pPr marL="0" indent="0">
              <a:buNone/>
            </a:pP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df[features]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y = df["strength_mpa"]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X_train, X_test, y_train, y_test = train_test_split(X, y, random_state=42)</a:t>
            </a:r>
            <a:endParaRPr lang="en-US" sz="860" dirty="0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316CDF57-A562-3DDB-1F19-7EE5BDDAB442}"/>
              </a:ext>
            </a:extLst>
          </p:cNvPr>
          <p:cNvSpPr/>
          <p:nvPr/>
        </p:nvSpPr>
        <p:spPr>
          <a:xfrm>
            <a:off x="6339840" y="1988820"/>
            <a:ext cx="5029200" cy="205740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0F4A0F1C-34D9-942F-BD00-D772E600B18D}"/>
              </a:ext>
            </a:extLst>
          </p:cNvPr>
          <p:cNvSpPr/>
          <p:nvPr/>
        </p:nvSpPr>
        <p:spPr>
          <a:xfrm>
            <a:off x="6504432" y="2116836"/>
            <a:ext cx="4700016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baseline = np.full(len(y_test), y_train.mean())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model = LinearRegression()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model.fit(X_train, y_train)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pred = model.predict(X_test)</a:t>
            </a:r>
            <a:endParaRPr lang="en-US" sz="860" dirty="0"/>
          </a:p>
          <a:p>
            <a:pPr marL="0" indent="0">
              <a:buNone/>
            </a:pP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mae = mean_absolute_error(y_test, pred)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r2 = r2_score(y_test, pred)</a:t>
            </a:r>
            <a:endParaRPr lang="en-US" sz="86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3AB8779A-FCFB-1877-E152-43DDD7BE01BE}"/>
              </a:ext>
            </a:extLst>
          </p:cNvPr>
          <p:cNvSpPr/>
          <p:nvPr/>
        </p:nvSpPr>
        <p:spPr>
          <a:xfrm>
            <a:off x="853440" y="4594860"/>
            <a:ext cx="51663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answers: “How well can we do with no model?”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 answers: “How wrong are we in the original units?”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R² answers: “How much variance is explained relative to the mean?”</a:t>
            </a:r>
            <a:endParaRPr lang="en-US" sz="1300" dirty="0"/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422936F3-960E-E2CC-96DB-3EB3F1D7B79A}"/>
              </a:ext>
            </a:extLst>
          </p:cNvPr>
          <p:cNvSpPr/>
          <p:nvPr/>
        </p:nvSpPr>
        <p:spPr>
          <a:xfrm>
            <a:off x="6339840" y="473202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09F78F73-6EA1-4724-E28A-4ABB143E0644}"/>
              </a:ext>
            </a:extLst>
          </p:cNvPr>
          <p:cNvSpPr/>
          <p:nvPr/>
        </p:nvSpPr>
        <p:spPr>
          <a:xfrm>
            <a:off x="6339840" y="4800600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Session 3 notebook</a:t>
            </a:r>
            <a:endParaRPr lang="en-US" sz="850" dirty="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FFD2A1DD-456A-CF03-CD9A-AEDC15FE3401}"/>
              </a:ext>
            </a:extLst>
          </p:cNvPr>
          <p:cNvSpPr/>
          <p:nvPr/>
        </p:nvSpPr>
        <p:spPr>
          <a:xfrm>
            <a:off x="7921752" y="47685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03_session3_regression_sklearn.ipynb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114F58-C219-863C-2F4C-D9A8C50B0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4C51F4-2AC4-B87F-9604-E526CB44FB59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17E0CB8-DF4B-47F0-6932-B0975BF45B33}"/>
              </a:ext>
            </a:extLst>
          </p:cNvPr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927B864-C555-0C54-2F40-6779CDC96F63}"/>
              </a:ext>
            </a:extLst>
          </p:cNvPr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46E336E-95C8-CB54-9B3E-71F3475BFF75}"/>
              </a:ext>
            </a:extLst>
          </p:cNvPr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15</a:t>
            </a:r>
            <a:endParaRPr lang="en-US" sz="8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2B05F62F-E9AC-6EBB-5227-6D7838050510}"/>
              </a:ext>
            </a:extLst>
          </p:cNvPr>
          <p:cNvSpPr/>
          <p:nvPr/>
        </p:nvSpPr>
        <p:spPr>
          <a:xfrm>
            <a:off x="600114" y="116159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Regression interpretation: connect metrics to units</a:t>
            </a:r>
            <a:endParaRPr lang="en-US" sz="25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1AEA1370-F64C-3E17-9ABB-829CB6D06C51}"/>
              </a:ext>
            </a:extLst>
          </p:cNvPr>
          <p:cNvSpPr/>
          <p:nvPr/>
        </p:nvSpPr>
        <p:spPr>
          <a:xfrm>
            <a:off x="618402" y="168280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Keep the conversation grounded in the disciplinary meaning of the target variable.</a:t>
            </a:r>
            <a:endParaRPr lang="en-US" sz="115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E23624E0-A0FA-3D93-3D19-0533641F0003}"/>
              </a:ext>
            </a:extLst>
          </p:cNvPr>
          <p:cNvSpPr/>
          <p:nvPr/>
        </p:nvSpPr>
        <p:spPr>
          <a:xfrm>
            <a:off x="874434" y="22588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55B"/>
                </a:solidFill>
              </a:rPr>
              <a:t>Target</a:t>
            </a:r>
            <a:endParaRPr lang="en-US" sz="13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AC29C3FF-CE3A-6E25-41E4-6CDB2E69FECC}"/>
              </a:ext>
            </a:extLst>
          </p:cNvPr>
          <p:cNvSpPr/>
          <p:nvPr/>
        </p:nvSpPr>
        <p:spPr>
          <a:xfrm>
            <a:off x="2794674" y="225887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Material strength</a:t>
            </a:r>
            <a:endParaRPr lang="en-US" sz="13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7E281AA6-ADE7-8072-B310-FB86F2232B8F}"/>
              </a:ext>
            </a:extLst>
          </p:cNvPr>
          <p:cNvSpPr/>
          <p:nvPr/>
        </p:nvSpPr>
        <p:spPr>
          <a:xfrm>
            <a:off x="874434" y="27617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55B"/>
                </a:solidFill>
              </a:rPr>
              <a:t>Target unit</a:t>
            </a:r>
            <a:endParaRPr lang="en-US" sz="13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D3CEF170-5915-FC7C-7281-DCC84986C488}"/>
              </a:ext>
            </a:extLst>
          </p:cNvPr>
          <p:cNvSpPr/>
          <p:nvPr/>
        </p:nvSpPr>
        <p:spPr>
          <a:xfrm>
            <a:off x="2794674" y="276179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MPa</a:t>
            </a:r>
            <a:endParaRPr lang="en-US" sz="13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7F505073-59E1-D827-23EC-96F6FD1D7BD1}"/>
              </a:ext>
            </a:extLst>
          </p:cNvPr>
          <p:cNvSpPr/>
          <p:nvPr/>
        </p:nvSpPr>
        <p:spPr>
          <a:xfrm>
            <a:off x="874434" y="32647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55B"/>
                </a:solidFill>
              </a:rPr>
              <a:t>Metric</a:t>
            </a:r>
            <a:endParaRPr lang="en-US" sz="13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ED978E68-DD00-379C-240A-562F4865B954}"/>
              </a:ext>
            </a:extLst>
          </p:cNvPr>
          <p:cNvSpPr/>
          <p:nvPr/>
        </p:nvSpPr>
        <p:spPr>
          <a:xfrm>
            <a:off x="2794674" y="326471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Mean Absolute Error</a:t>
            </a:r>
            <a:endParaRPr lang="en-US" sz="13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8A56CC24-AC90-380C-4A51-69259CD53455}"/>
              </a:ext>
            </a:extLst>
          </p:cNvPr>
          <p:cNvSpPr/>
          <p:nvPr/>
        </p:nvSpPr>
        <p:spPr>
          <a:xfrm>
            <a:off x="874434" y="376763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55B"/>
                </a:solidFill>
              </a:rPr>
              <a:t>Interpretation</a:t>
            </a:r>
            <a:endParaRPr lang="en-US" sz="130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3C8AED12-96CF-13CD-688C-141AE84FBD4D}"/>
              </a:ext>
            </a:extLst>
          </p:cNvPr>
          <p:cNvSpPr/>
          <p:nvPr/>
        </p:nvSpPr>
        <p:spPr>
          <a:xfrm>
            <a:off x="2794674" y="376763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Typical absolute prediction error in MPa</a:t>
            </a:r>
            <a:endParaRPr lang="en-US" sz="13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8FD32075-5477-1180-AD72-7C52BD2ACCFD}"/>
              </a:ext>
            </a:extLst>
          </p:cNvPr>
          <p:cNvSpPr/>
          <p:nvPr/>
        </p:nvSpPr>
        <p:spPr>
          <a:xfrm>
            <a:off x="7229514" y="23045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</a:rPr>
              <a:t>Discussion questions</a:t>
            </a:r>
            <a:endParaRPr lang="en-US" sz="1500" dirty="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62FF083F-9A36-7D4D-C601-013DC4E74D09}"/>
              </a:ext>
            </a:extLst>
          </p:cNvPr>
          <p:cNvSpPr/>
          <p:nvPr/>
        </p:nvSpPr>
        <p:spPr>
          <a:xfrm>
            <a:off x="7229514" y="2642924"/>
            <a:ext cx="3794760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• Did the model outperform the baseline?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• Is the MAE practically acceptable?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• Are inputs available before prediction?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• What variable might be missing?</a:t>
            </a:r>
            <a:endParaRPr lang="en-US" sz="1250" dirty="0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976AC29B-E451-DB84-B6CA-30380782F5D0}"/>
              </a:ext>
            </a:extLst>
          </p:cNvPr>
          <p:cNvSpPr/>
          <p:nvPr/>
        </p:nvSpPr>
        <p:spPr>
          <a:xfrm>
            <a:off x="965874" y="5184956"/>
            <a:ext cx="5715000" cy="96012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A19CA504-137E-28CC-B901-9A0374569614}"/>
              </a:ext>
            </a:extLst>
          </p:cNvPr>
          <p:cNvSpPr/>
          <p:nvPr/>
        </p:nvSpPr>
        <p:spPr>
          <a:xfrm>
            <a:off x="1130466" y="5312972"/>
            <a:ext cx="538581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Baseline MAE: 18.4 MPa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Model MAE:     7.9 MPa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Question: Is 7.9 MPa useful for this application?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6094274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7CC60C-7DF2-0777-CDE3-3EE9E5713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2A31686-06B1-35FA-4BCE-E957EE8161E2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268820-3EA9-E90E-8FA1-C734D8899A5D}"/>
              </a:ext>
            </a:extLst>
          </p:cNvPr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2E28183-B474-CEB0-161B-29E8524D4651}"/>
              </a:ext>
            </a:extLst>
          </p:cNvPr>
          <p:cNvSpPr/>
          <p:nvPr/>
        </p:nvSpPr>
        <p:spPr>
          <a:xfrm>
            <a:off x="502920" y="62179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 prompts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D84B0E8-5CE3-FC24-BDD2-82DABEC23982}"/>
              </a:ext>
            </a:extLst>
          </p:cNvPr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46A884C-C2E5-11C6-2A16-DAE9E50B35C2}"/>
              </a:ext>
            </a:extLst>
          </p:cNvPr>
          <p:cNvSpPr/>
          <p:nvPr/>
        </p:nvSpPr>
        <p:spPr>
          <a:xfrm>
            <a:off x="868680" y="1325880"/>
            <a:ext cx="4709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F8CB9D8-389D-E736-FCE8-AE3A46AD8DBA}"/>
              </a:ext>
            </a:extLst>
          </p:cNvPr>
          <p:cNvSpPr/>
          <p:nvPr/>
        </p:nvSpPr>
        <p:spPr>
          <a:xfrm>
            <a:off x="1033272" y="1444752"/>
            <a:ext cx="43799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When is a linear model sufficient?</a:t>
            </a:r>
            <a:endParaRPr lang="en-US" sz="15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0678436-8DEE-B9B5-0E00-81F5338DA3E8}"/>
              </a:ext>
            </a:extLst>
          </p:cNvPr>
          <p:cNvSpPr/>
          <p:nvPr/>
        </p:nvSpPr>
        <p:spPr>
          <a:xfrm>
            <a:off x="6217920" y="1325880"/>
            <a:ext cx="4709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B07E82E-BB7F-0820-D358-0786C6DC1EEF}"/>
              </a:ext>
            </a:extLst>
          </p:cNvPr>
          <p:cNvSpPr/>
          <p:nvPr/>
        </p:nvSpPr>
        <p:spPr>
          <a:xfrm>
            <a:off x="6382512" y="1444752"/>
            <a:ext cx="43799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What does an error of 5 units mean in the discipline?</a:t>
            </a:r>
            <a:endParaRPr lang="en-US" sz="15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9114D73-1CEE-45CB-C41C-6A5EC1D328B2}"/>
              </a:ext>
            </a:extLst>
          </p:cNvPr>
          <p:cNvSpPr/>
          <p:nvPr/>
        </p:nvSpPr>
        <p:spPr>
          <a:xfrm>
            <a:off x="868680" y="2532888"/>
            <a:ext cx="4709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C438595-A24C-206B-AE17-30DEF381FE46}"/>
              </a:ext>
            </a:extLst>
          </p:cNvPr>
          <p:cNvSpPr/>
          <p:nvPr/>
        </p:nvSpPr>
        <p:spPr>
          <a:xfrm>
            <a:off x="1033272" y="2651760"/>
            <a:ext cx="43799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Should the model with the highest R² always be selected?</a:t>
            </a:r>
            <a:endParaRPr lang="en-US" sz="15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3C90E03-E998-3821-8E14-DCCE06B84EA8}"/>
              </a:ext>
            </a:extLst>
          </p:cNvPr>
          <p:cNvSpPr/>
          <p:nvPr/>
        </p:nvSpPr>
        <p:spPr>
          <a:xfrm>
            <a:off x="6217920" y="2532888"/>
            <a:ext cx="4709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415504A-5B7C-1153-492F-5CB18FE084C9}"/>
              </a:ext>
            </a:extLst>
          </p:cNvPr>
          <p:cNvSpPr/>
          <p:nvPr/>
        </p:nvSpPr>
        <p:spPr>
          <a:xfrm>
            <a:off x="6382512" y="2651760"/>
            <a:ext cx="43799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What residual pattern would make you distrust the model?</a:t>
            </a:r>
            <a:endParaRPr lang="en-US" sz="15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BD484EF-DF1D-7760-2CBA-C3B2D3F97595}"/>
              </a:ext>
            </a:extLst>
          </p:cNvPr>
          <p:cNvSpPr/>
          <p:nvPr/>
        </p:nvSpPr>
        <p:spPr>
          <a:xfrm>
            <a:off x="868680" y="3739896"/>
            <a:ext cx="4709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248C979-1C0A-D7B4-E284-5406B1108D58}"/>
              </a:ext>
            </a:extLst>
          </p:cNvPr>
          <p:cNvSpPr/>
          <p:nvPr/>
        </p:nvSpPr>
        <p:spPr>
          <a:xfrm>
            <a:off x="1033272" y="3858768"/>
            <a:ext cx="43799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Can regression results be interpreted as causal evidence?</a:t>
            </a:r>
            <a:endParaRPr lang="en-US" sz="15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5DDDA81-8F6C-1BDE-8A37-00BEDD0A2C96}"/>
              </a:ext>
            </a:extLst>
          </p:cNvPr>
          <p:cNvSpPr/>
          <p:nvPr/>
        </p:nvSpPr>
        <p:spPr>
          <a:xfrm>
            <a:off x="6217920" y="3739896"/>
            <a:ext cx="4709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BEAA556-69CF-0491-A30A-615665DC1761}"/>
              </a:ext>
            </a:extLst>
          </p:cNvPr>
          <p:cNvSpPr/>
          <p:nvPr/>
        </p:nvSpPr>
        <p:spPr>
          <a:xfrm>
            <a:off x="6382512" y="3858768"/>
            <a:ext cx="43799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What baseline represents current practice?</a:t>
            </a:r>
            <a:endParaRPr lang="en-US" sz="15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7667F4B-FEBB-D28A-7066-66F87ECDB3D0}"/>
              </a:ext>
            </a:extLst>
          </p:cNvPr>
          <p:cNvSpPr/>
          <p:nvPr/>
        </p:nvSpPr>
        <p:spPr>
          <a:xfrm>
            <a:off x="914400" y="5715000"/>
            <a:ext cx="10332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Discussion goal: connect numerical performance to disciplinary usefulness and limits.</a:t>
            </a:r>
            <a:endParaRPr lang="en-US" sz="1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2E45864-C607-9A4D-AF50-C0A2912A2DD1}"/>
              </a:ext>
            </a:extLst>
          </p:cNvPr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344551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3 synthesis and transition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424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</a:rPr>
              <a:t>Regression is useful when a faculty problem requires predicting a continuous outcome and evaluating the magnitude of error.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8102E"/>
                </a:solidFill>
              </a:rPr>
              <a:t>Start simple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34640" y="1920240"/>
            <a:ext cx="7955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Use a mean, median, or disciplinary baseline.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487168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8102E"/>
                </a:solidFill>
              </a:rPr>
              <a:t>Fit carefully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34640" y="2487168"/>
            <a:ext cx="7955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Compare simple, polynomial, and regularized models.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054096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8102E"/>
                </a:solidFill>
              </a:rPr>
              <a:t>Evaluate meaningfully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34640" y="3054096"/>
            <a:ext cx="7955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Choose metrics that match the cost of error.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621024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8102E"/>
                </a:solidFill>
              </a:rPr>
              <a:t>Diagnose error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34640" y="3621024"/>
            <a:ext cx="7955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Residuals reveal patterns hidden by averages.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187952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8102E"/>
                </a:solidFill>
              </a:rPr>
              <a:t>Report limits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34640" y="4187952"/>
            <a:ext cx="7955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Prediction is not the same as explanation or causation.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0120" y="5532120"/>
            <a:ext cx="10195560" cy="566928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24712" y="5650992"/>
            <a:ext cx="98663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102E"/>
                </a:solidFill>
              </a:rPr>
              <a:t>Next: Classification fundamentals — predicting categories and interpreting confusion matrices.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2451</Words>
  <Application>Microsoft Office PowerPoint</Application>
  <PresentationFormat>Widescreen</PresentationFormat>
  <Paragraphs>512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4" baseType="lpstr">
      <vt:lpstr>Yu Gothic UI Light</vt:lpstr>
      <vt:lpstr>Aptos</vt:lpstr>
      <vt:lpstr>Aptos Display</vt:lpstr>
      <vt:lpstr>Arial</vt:lpstr>
      <vt:lpstr>Book Antiqua</vt:lpstr>
      <vt:lpstr>Cambria</vt:lpstr>
      <vt:lpstr>Cascadia Mono</vt:lpstr>
      <vt:lpstr>Century</vt:lpstr>
      <vt:lpstr>Garamond</vt:lpstr>
      <vt:lpstr>Helvetica Neue</vt:lpstr>
      <vt:lpstr>Lucida Sans</vt:lpstr>
      <vt:lpstr>Roboto</vt:lpstr>
      <vt:lpstr>Tahoma</vt:lpstr>
      <vt:lpstr>Times New Roman</vt:lpstr>
      <vt:lpstr>UCity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NC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 Fundamentals</dc:title>
  <dc:subject>Session 3 Applied AI Design Workshop</dc:subject>
  <dc:creator>Fred Livingston</dc:creator>
  <cp:lastModifiedBy>Fred Livingston</cp:lastModifiedBy>
  <cp:revision>11</cp:revision>
  <dcterms:created xsi:type="dcterms:W3CDTF">2026-07-14T20:46:05Z</dcterms:created>
  <dcterms:modified xsi:type="dcterms:W3CDTF">2026-07-15T16:07:39Z</dcterms:modified>
</cp:coreProperties>
</file>