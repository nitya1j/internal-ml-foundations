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3" r:id="rId14"/>
    <p:sldId id="272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89" autoAdjust="0"/>
    <p:restoredTop sz="94610"/>
  </p:normalViewPr>
  <p:slideViewPr>
    <p:cSldViewPr snapToGrid="0" snapToObjects="1">
      <p:cViewPr varScale="1">
        <p:scale>
          <a:sx n="62" d="100"/>
          <a:sy n="62" d="100"/>
        </p:scale>
        <p:origin x="67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72926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05754-8DE9-F711-B781-27A395BF9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A82290-116A-887E-A9DE-773EECA11B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148C46-2062-08F5-DECF-7EC0FD6A89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ECCBA0-A03F-7982-AAB3-BA277AE257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3877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536E2-09A4-F5B3-E105-6220F603C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D85F85-BA25-1F2D-E2F7-35DF3BD99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F59608-E0C3-9579-A693-03205510CC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AAE80A-C38E-18AF-210F-213E5328E4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3549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NC State Engineering -- ANS / Conferences / 2021 Student Conference">
            <a:extLst>
              <a:ext uri="{FF2B5EF4-FFF2-40B4-BE49-F238E27FC236}">
                <a16:creationId xmlns:a16="http://schemas.microsoft.com/office/drawing/2014/main" id="{E5A5C3EF-E580-40D8-42BB-2D19A1EFB0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176537" y="334371"/>
            <a:ext cx="1551223" cy="432403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jliving@ncsu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7132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</a:rPr>
              <a:t>SESSION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13232" y="1170432"/>
            <a:ext cx="6263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1F2937"/>
                </a:solidFill>
              </a:rPr>
              <a:t>Hands-On Activity: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1F2937"/>
                </a:solidFill>
              </a:rPr>
              <a:t>Building a Baseline ML Model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13232" y="2487168"/>
            <a:ext cx="6172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B7280"/>
                </a:solidFill>
              </a:rPr>
              <a:t>Dataset inspection • Baselines • Simple models • Metrics • Interpretation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13232" y="31089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</a:rPr>
              <a:t>Applied AI Design Workshop for Faculty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13232" y="34747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Fred Livingston (</a:t>
            </a:r>
            <a:r>
              <a:rPr lang="en-US" sz="1200" dirty="0">
                <a:solidFill>
                  <a:srgbClr val="6B7280"/>
                </a:solidFill>
                <a:hlinkClick r:id="rId3"/>
              </a:rPr>
              <a:t>fjliving@ncsu.edu</a:t>
            </a:r>
            <a:r>
              <a:rPr lang="en-US" sz="1200" dirty="0">
                <a:solidFill>
                  <a:srgbClr val="6B7280"/>
                </a:solidFill>
              </a:rPr>
              <a:t>)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886200"/>
            <a:ext cx="5852160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60920" y="960120"/>
            <a:ext cx="3886200" cy="1051560"/>
          </a:xfrm>
          <a:prstGeom prst="roundRect">
            <a:avLst>
              <a:gd name="adj" fmla="val 6957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525512" y="1078992"/>
            <a:ext cx="355701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Goal: complete one defensible first-pass ML workflow, not just run a model.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60920" y="2395728"/>
            <a:ext cx="388620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525512" y="2514600"/>
            <a:ext cx="3557016" cy="2496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Activity outputs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• Problem statement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• Baseline model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• Trained simple model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• Initial metrics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• Interpretation and limitation statement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 5 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737360" y="1234440"/>
            <a:ext cx="76809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From engineering problem to ML problem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162763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737360" y="1874520"/>
            <a:ext cx="76809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Classic ML overview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226771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737360" y="2514600"/>
            <a:ext cx="76809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Invited presentation: From Prompts to Agents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290779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737360" y="3154680"/>
            <a:ext cx="76809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Break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354787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737360" y="3794760"/>
            <a:ext cx="76809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Regression fundamentals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31520" y="418795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737360" y="4434840"/>
            <a:ext cx="76809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Classification fundamentals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31520" y="482803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737360" y="5074920"/>
            <a:ext cx="76809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Hands-on baseline model activity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6811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9784080" y="1234440"/>
            <a:ext cx="1508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948672" y="1353312"/>
            <a:ext cx="1179576" cy="1307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</a:rPr>
              <a:t>Earlier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</a:rPr>
              <a:t>Problem framing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</a:rPr>
              <a:t>ML task types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84080" y="3246120"/>
            <a:ext cx="15087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948672" y="3364992"/>
            <a:ext cx="1179576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</a:rPr>
              <a:t>Earlier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</a:rPr>
              <a:t>Regression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</a:rPr>
              <a:t>Classification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784080" y="4919472"/>
            <a:ext cx="1508760" cy="530352"/>
          </a:xfrm>
          <a:prstGeom prst="roundRect">
            <a:avLst>
              <a:gd name="adj" fmla="val 13793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948672" y="5038344"/>
            <a:ext cx="1179576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Now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 5 learning outcomes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58368" y="1783080"/>
            <a:ext cx="1901952" cy="217627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901952"/>
            <a:ext cx="1572768" cy="19751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60" b="1" dirty="0">
                <a:solidFill>
                  <a:srgbClr val="1F2937"/>
                </a:solidFill>
              </a:rPr>
              <a:t>Inspect</a:t>
            </a:r>
            <a:endParaRPr lang="en-US" sz="1360" dirty="0"/>
          </a:p>
          <a:p>
            <a:pPr marL="0" indent="0" algn="ctr">
              <a:buNone/>
            </a:pPr>
            <a:r>
              <a:rPr lang="en-US" sz="1360" b="1" dirty="0">
                <a:solidFill>
                  <a:srgbClr val="1F2937"/>
                </a:solidFill>
              </a:rPr>
              <a:t>Check rows, variables, types, missing values, and target definition</a:t>
            </a:r>
            <a:endParaRPr lang="en-US" sz="1360" dirty="0"/>
          </a:p>
        </p:txBody>
      </p:sp>
      <p:sp>
        <p:nvSpPr>
          <p:cNvPr id="8" name="Shape 6"/>
          <p:cNvSpPr/>
          <p:nvPr/>
        </p:nvSpPr>
        <p:spPr>
          <a:xfrm>
            <a:off x="2926080" y="1783080"/>
            <a:ext cx="1901952" cy="2176272"/>
          </a:xfrm>
          <a:prstGeom prst="roundRect">
            <a:avLst>
              <a:gd name="adj" fmla="val 3846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090672" y="1901952"/>
            <a:ext cx="1572768" cy="19751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60" b="1" dirty="0">
                <a:solidFill>
                  <a:srgbClr val="1F2937"/>
                </a:solidFill>
              </a:rPr>
              <a:t>Frame</a:t>
            </a:r>
            <a:endParaRPr lang="en-US" sz="1360" dirty="0"/>
          </a:p>
          <a:p>
            <a:pPr marL="0" indent="0" algn="ctr">
              <a:buNone/>
            </a:pPr>
            <a:r>
              <a:rPr lang="en-US" sz="1360" b="1" dirty="0">
                <a:solidFill>
                  <a:srgbClr val="1F2937"/>
                </a:solidFill>
              </a:rPr>
              <a:t>Decide whether the dataset supports regression or classification</a:t>
            </a:r>
            <a:endParaRPr lang="en-US" sz="1360" dirty="0"/>
          </a:p>
        </p:txBody>
      </p:sp>
      <p:sp>
        <p:nvSpPr>
          <p:cNvPr id="10" name="Shape 8"/>
          <p:cNvSpPr/>
          <p:nvPr/>
        </p:nvSpPr>
        <p:spPr>
          <a:xfrm>
            <a:off x="5193792" y="1783080"/>
            <a:ext cx="1901952" cy="217627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58384" y="1901952"/>
            <a:ext cx="1572768" cy="19751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60" b="1" dirty="0">
                <a:solidFill>
                  <a:srgbClr val="1F2937"/>
                </a:solidFill>
              </a:rPr>
              <a:t>Baseline</a:t>
            </a:r>
            <a:endParaRPr lang="en-US" sz="1360" dirty="0"/>
          </a:p>
          <a:p>
            <a:pPr marL="0" indent="0" algn="ctr">
              <a:buNone/>
            </a:pPr>
            <a:r>
              <a:rPr lang="en-US" sz="1360" b="1" dirty="0">
                <a:solidFill>
                  <a:srgbClr val="1F2937"/>
                </a:solidFill>
              </a:rPr>
              <a:t>Establish a simple comparison model before training anything complex</a:t>
            </a:r>
            <a:endParaRPr lang="en-US" sz="1360" dirty="0"/>
          </a:p>
        </p:txBody>
      </p:sp>
      <p:sp>
        <p:nvSpPr>
          <p:cNvPr id="12" name="Shape 10"/>
          <p:cNvSpPr/>
          <p:nvPr/>
        </p:nvSpPr>
        <p:spPr>
          <a:xfrm>
            <a:off x="7461504" y="1783080"/>
            <a:ext cx="1901952" cy="2176272"/>
          </a:xfrm>
          <a:prstGeom prst="roundRect">
            <a:avLst>
              <a:gd name="adj" fmla="val 3846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626096" y="1901952"/>
            <a:ext cx="1572768" cy="19751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60" b="1" dirty="0">
                <a:solidFill>
                  <a:srgbClr val="1F2937"/>
                </a:solidFill>
              </a:rPr>
              <a:t>Train</a:t>
            </a:r>
            <a:endParaRPr lang="en-US" sz="1360" dirty="0"/>
          </a:p>
          <a:p>
            <a:pPr marL="0" indent="0" algn="ctr">
              <a:buNone/>
            </a:pPr>
            <a:r>
              <a:rPr lang="en-US" sz="1360" b="1" dirty="0">
                <a:solidFill>
                  <a:srgbClr val="1F2937"/>
                </a:solidFill>
              </a:rPr>
              <a:t>Fit one or two simple models using a transparent workflow</a:t>
            </a:r>
            <a:endParaRPr lang="en-US" sz="1360" dirty="0"/>
          </a:p>
        </p:txBody>
      </p:sp>
      <p:sp>
        <p:nvSpPr>
          <p:cNvPr id="14" name="Shape 12"/>
          <p:cNvSpPr/>
          <p:nvPr/>
        </p:nvSpPr>
        <p:spPr>
          <a:xfrm>
            <a:off x="9729216" y="1783080"/>
            <a:ext cx="1901952" cy="217627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893808" y="1901952"/>
            <a:ext cx="1572768" cy="19751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60" b="1" dirty="0">
                <a:solidFill>
                  <a:srgbClr val="1F2937"/>
                </a:solidFill>
              </a:rPr>
              <a:t>Interpret</a:t>
            </a:r>
            <a:endParaRPr lang="en-US" sz="1360" dirty="0"/>
          </a:p>
          <a:p>
            <a:pPr marL="0" indent="0" algn="ctr">
              <a:buNone/>
            </a:pPr>
            <a:r>
              <a:rPr lang="en-US" sz="1360" b="1" dirty="0">
                <a:solidFill>
                  <a:srgbClr val="1F2937"/>
                </a:solidFill>
              </a:rPr>
              <a:t>Compare metrics, identify limitations, and recommend a next step</a:t>
            </a:r>
            <a:endParaRPr lang="en-US" sz="1360" dirty="0"/>
          </a:p>
        </p:txBody>
      </p:sp>
      <p:sp>
        <p:nvSpPr>
          <p:cNvPr id="16" name="Text 14"/>
          <p:cNvSpPr/>
          <p:nvPr/>
        </p:nvSpPr>
        <p:spPr>
          <a:xfrm>
            <a:off x="960120" y="5138928"/>
            <a:ext cx="1005840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8102E"/>
                </a:solidFill>
              </a:rPr>
              <a:t>Participant output: a concise model card for a first-pass baseline ML analysis.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Activity roadmap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1444752" cy="1143000"/>
          </a:xfrm>
          <a:prstGeom prst="roundRect">
            <a:avLst>
              <a:gd name="adj" fmla="val 6400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04672" y="1947672"/>
            <a:ext cx="1115568" cy="941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C8102E"/>
                </a:solidFill>
              </a:rPr>
              <a:t>Define</a:t>
            </a:r>
            <a:endParaRPr lang="en-US" sz="1340" dirty="0"/>
          </a:p>
        </p:txBody>
      </p:sp>
      <p:sp>
        <p:nvSpPr>
          <p:cNvPr id="8" name="Text 6"/>
          <p:cNvSpPr/>
          <p:nvPr/>
        </p:nvSpPr>
        <p:spPr>
          <a:xfrm>
            <a:off x="548640" y="3246120"/>
            <a:ext cx="162763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</a:rPr>
              <a:t>Target, inputs, task, metric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130552" y="2395728"/>
            <a:ext cx="33832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514600" y="1828800"/>
            <a:ext cx="14447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679192" y="1947672"/>
            <a:ext cx="1115568" cy="941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1F2937"/>
                </a:solidFill>
              </a:rPr>
              <a:t>Inspect</a:t>
            </a:r>
            <a:endParaRPr lang="en-US" sz="1340" dirty="0"/>
          </a:p>
        </p:txBody>
      </p:sp>
      <p:sp>
        <p:nvSpPr>
          <p:cNvPr id="12" name="Text 10"/>
          <p:cNvSpPr/>
          <p:nvPr/>
        </p:nvSpPr>
        <p:spPr>
          <a:xfrm>
            <a:off x="2423160" y="3246120"/>
            <a:ext cx="162763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</a:rPr>
              <a:t>Rows, missing values, types, leakage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005072" y="2395728"/>
            <a:ext cx="33832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389120" y="1828800"/>
            <a:ext cx="14447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53712" y="1947672"/>
            <a:ext cx="1115568" cy="941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1F2937"/>
                </a:solidFill>
              </a:rPr>
              <a:t>Baseline</a:t>
            </a:r>
            <a:endParaRPr lang="en-US" sz="1340" dirty="0"/>
          </a:p>
        </p:txBody>
      </p:sp>
      <p:sp>
        <p:nvSpPr>
          <p:cNvPr id="16" name="Text 14"/>
          <p:cNvSpPr/>
          <p:nvPr/>
        </p:nvSpPr>
        <p:spPr>
          <a:xfrm>
            <a:off x="4297680" y="3246120"/>
            <a:ext cx="162763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</a:rPr>
              <a:t>Mean/median or majority class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879592" y="2395728"/>
            <a:ext cx="33832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63640" y="1828800"/>
            <a:ext cx="14447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28232" y="1947672"/>
            <a:ext cx="1115568" cy="941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1F2937"/>
                </a:solidFill>
              </a:rPr>
              <a:t>Train</a:t>
            </a:r>
            <a:endParaRPr lang="en-US" sz="1340" dirty="0"/>
          </a:p>
        </p:txBody>
      </p:sp>
      <p:sp>
        <p:nvSpPr>
          <p:cNvPr id="20" name="Text 18"/>
          <p:cNvSpPr/>
          <p:nvPr/>
        </p:nvSpPr>
        <p:spPr>
          <a:xfrm>
            <a:off x="6172200" y="3246120"/>
            <a:ext cx="162763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</a:rPr>
              <a:t>Simple model pair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754112" y="2395728"/>
            <a:ext cx="33832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138160" y="1828800"/>
            <a:ext cx="14447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302752" y="1947672"/>
            <a:ext cx="1115568" cy="941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1F2937"/>
                </a:solidFill>
              </a:rPr>
              <a:t>Evaluate</a:t>
            </a:r>
            <a:endParaRPr lang="en-US" sz="1340" dirty="0"/>
          </a:p>
        </p:txBody>
      </p:sp>
      <p:sp>
        <p:nvSpPr>
          <p:cNvPr id="24" name="Text 22"/>
          <p:cNvSpPr/>
          <p:nvPr/>
        </p:nvSpPr>
        <p:spPr>
          <a:xfrm>
            <a:off x="8046720" y="3246120"/>
            <a:ext cx="162763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</a:rPr>
              <a:t>Metrics and error patterns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628632" y="2395728"/>
            <a:ext cx="33832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0012680" y="1828800"/>
            <a:ext cx="14447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177272" y="1947672"/>
            <a:ext cx="1115568" cy="941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1F2937"/>
                </a:solidFill>
              </a:rPr>
              <a:t>Interpret</a:t>
            </a:r>
            <a:endParaRPr lang="en-US" sz="1340" dirty="0"/>
          </a:p>
        </p:txBody>
      </p:sp>
      <p:sp>
        <p:nvSpPr>
          <p:cNvPr id="28" name="Text 26"/>
          <p:cNvSpPr/>
          <p:nvPr/>
        </p:nvSpPr>
        <p:spPr>
          <a:xfrm>
            <a:off x="9921240" y="3246120"/>
            <a:ext cx="162763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</a:rPr>
              <a:t>Limitations and next step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960120" y="4828032"/>
            <a:ext cx="101955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124712" y="4946904"/>
            <a:ext cx="986637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</a:rPr>
              <a:t>The purpose is to practice a complete, defensible workflow, </a:t>
            </a:r>
            <a:r>
              <a:rPr lang="en-US" sz="1800" b="1" dirty="0">
                <a:solidFill>
                  <a:srgbClr val="FF0000"/>
                </a:solidFill>
              </a:rPr>
              <a:t>not to optimize model performance.</a:t>
            </a:r>
            <a:endParaRPr lang="en-US" sz="1800" dirty="0">
              <a:solidFill>
                <a:srgbClr val="FF0000"/>
              </a:solidFill>
            </a:endParaRPr>
          </a:p>
        </p:txBody>
      </p:sp>
      <p:sp>
        <p:nvSpPr>
          <p:cNvPr id="31" name="Text 29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Process Run Quality Dataset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07008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A compact engineering dataset to practice the full workflow without domain-specific software barriers.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1847088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102E"/>
                </a:solidFill>
              </a:rPr>
              <a:t>Run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645920" y="1847088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102E"/>
                </a:solidFill>
              </a:rPr>
              <a:t>Temp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60320" y="1847088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102E"/>
                </a:solidFill>
              </a:rPr>
              <a:t>Speed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1847088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102E"/>
                </a:solidFill>
              </a:rPr>
              <a:t>Vibration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89120" y="1847088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102E"/>
                </a:solidFill>
              </a:rPr>
              <a:t>Material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03520" y="1847088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102E"/>
                </a:solidFill>
              </a:rPr>
              <a:t>Yield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217920" y="1847088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102E"/>
                </a:solidFill>
              </a:rPr>
              <a:t>Pass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26771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645920" y="226771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185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60320" y="226771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42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74720" y="226771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0.18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389120" y="226771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03520" y="226771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88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17920" y="226771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Yes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2542032"/>
            <a:ext cx="6537960" cy="0"/>
          </a:xfrm>
          <a:prstGeom prst="line">
            <a:avLst/>
          </a:prstGeom>
          <a:noFill/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267919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645920" y="267919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190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560320" y="267919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46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74720" y="267919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0.35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389120" y="267919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B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03520" y="267919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72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17920" y="267919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No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5800" y="2953512"/>
            <a:ext cx="6537960" cy="0"/>
          </a:xfrm>
          <a:prstGeom prst="line">
            <a:avLst/>
          </a:prstGeom>
          <a:noFill/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31520" y="309067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645920" y="309067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174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560320" y="309067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39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474720" y="309067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0.22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389120" y="309067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A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303520" y="309067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91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217920" y="309067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Yes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85800" y="3364992"/>
            <a:ext cx="6537960" cy="0"/>
          </a:xfrm>
          <a:prstGeom prst="line">
            <a:avLst/>
          </a:prstGeom>
          <a:noFill/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31520" y="350215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4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645920" y="350215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205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560320" y="350215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52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3474720" y="350215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0.48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389120" y="350215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C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303520" y="350215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61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217920" y="350215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No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85800" y="3776472"/>
            <a:ext cx="6537960" cy="0"/>
          </a:xfrm>
          <a:prstGeom prst="line">
            <a:avLst/>
          </a:prstGeom>
          <a:noFill/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731520" y="391363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5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645920" y="391363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198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2560320" y="391363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44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3474720" y="391363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0.20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4389120" y="391363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B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303520" y="391363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86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217920" y="3913632"/>
            <a:ext cx="7863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Yes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85800" y="4187952"/>
            <a:ext cx="6537960" cy="0"/>
          </a:xfrm>
          <a:prstGeom prst="line">
            <a:avLst/>
          </a:prstGeom>
          <a:noFill/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635240" y="1783080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7799832" y="1901952"/>
            <a:ext cx="319125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2937"/>
                </a:solidFill>
              </a:rPr>
              <a:t>Regression option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F2937"/>
                </a:solidFill>
              </a:rPr>
              <a:t>Predict continuous yield.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7635240" y="3063240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7799832" y="3182112"/>
            <a:ext cx="319125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2937"/>
                </a:solidFill>
              </a:rPr>
              <a:t>Classification option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F2937"/>
                </a:solidFill>
              </a:rPr>
              <a:t>Predict pass/fail quality.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7635240" y="4343400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7799832" y="4462272"/>
            <a:ext cx="319125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C8102E"/>
                </a:solidFill>
              </a:rPr>
              <a:t>Baseline required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C8102E"/>
                </a:solidFill>
              </a:rPr>
              <a:t>Compare against simplest useful rule.</a:t>
            </a:r>
            <a:endParaRPr lang="en-US" sz="1700" dirty="0"/>
          </a:p>
        </p:txBody>
      </p:sp>
      <p:sp>
        <p:nvSpPr>
          <p:cNvPr id="60" name="Text 58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 1: define the problem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07008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Start by writing down what the model is expected to predict and how success will be judged.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1828800"/>
            <a:ext cx="29718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33272" y="1947672"/>
            <a:ext cx="2642616" cy="1993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Decision or prediction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What question should the model answer?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Example: Will this run pass quality inspection?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60520" y="1828800"/>
            <a:ext cx="29718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25112" y="1947672"/>
            <a:ext cx="2642616" cy="1993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Unit of observation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What is one row?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Example: one process run, part, student, machine cycle, sample, or day.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452360" y="1828800"/>
            <a:ext cx="29718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616952" y="1947672"/>
            <a:ext cx="2642616" cy="1993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Metric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What score reflects success?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Example: recall if missed defects are costly; MAE if error magnitude matters.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60120" y="4983480"/>
            <a:ext cx="10195560" cy="594360"/>
          </a:xfrm>
          <a:prstGeom prst="roundRect">
            <a:avLst>
              <a:gd name="adj" fmla="val 12308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124712" y="5102352"/>
            <a:ext cx="986637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C8102E"/>
                </a:solidFill>
              </a:rPr>
              <a:t>one sentence problem statement + selected metric + baseline choice.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 2: inspect the data before modeling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07008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A baseline model is only meaningful if the dataset has been checked for basic validity.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1828800"/>
            <a:ext cx="47091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33272" y="1947672"/>
            <a:ext cx="437997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360" b="1" dirty="0">
                <a:solidFill>
                  <a:srgbClr val="1F2937"/>
                </a:solidFill>
              </a:rPr>
              <a:t>Rows and columns</a:t>
            </a:r>
            <a:endParaRPr lang="en-US" sz="1360" dirty="0"/>
          </a:p>
          <a:p>
            <a:pPr marL="0" indent="0" algn="l">
              <a:buNone/>
            </a:pPr>
            <a:r>
              <a:rPr lang="en-US" sz="1360" b="1" dirty="0">
                <a:solidFill>
                  <a:srgbClr val="1F2937"/>
                </a:solidFill>
              </a:rPr>
              <a:t>Do we have enough observations for the number of variables?</a:t>
            </a:r>
            <a:endParaRPr lang="en-US" sz="1360" dirty="0"/>
          </a:p>
        </p:txBody>
      </p:sp>
      <p:sp>
        <p:nvSpPr>
          <p:cNvPr id="9" name="Shape 7"/>
          <p:cNvSpPr/>
          <p:nvPr/>
        </p:nvSpPr>
        <p:spPr>
          <a:xfrm>
            <a:off x="6217920" y="1828800"/>
            <a:ext cx="47091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82512" y="1947672"/>
            <a:ext cx="437997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360" b="1" dirty="0">
                <a:solidFill>
                  <a:srgbClr val="1F2937"/>
                </a:solidFill>
              </a:rPr>
              <a:t>Data types</a:t>
            </a:r>
            <a:endParaRPr lang="en-US" sz="1360" dirty="0"/>
          </a:p>
          <a:p>
            <a:pPr marL="0" indent="0" algn="l">
              <a:buNone/>
            </a:pPr>
            <a:r>
              <a:rPr lang="en-US" sz="1360" b="1" dirty="0">
                <a:solidFill>
                  <a:srgbClr val="1F2937"/>
                </a:solidFill>
              </a:rPr>
              <a:t>Which features are numerical, categorical, date/time, or text?</a:t>
            </a:r>
            <a:endParaRPr lang="en-US" sz="1360" dirty="0"/>
          </a:p>
        </p:txBody>
      </p:sp>
      <p:sp>
        <p:nvSpPr>
          <p:cNvPr id="11" name="Shape 9"/>
          <p:cNvSpPr/>
          <p:nvPr/>
        </p:nvSpPr>
        <p:spPr>
          <a:xfrm>
            <a:off x="868680" y="2834640"/>
            <a:ext cx="47091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33272" y="2953512"/>
            <a:ext cx="437997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360" b="1" dirty="0">
                <a:solidFill>
                  <a:srgbClr val="1F2937"/>
                </a:solidFill>
              </a:rPr>
              <a:t>Missing values</a:t>
            </a:r>
            <a:endParaRPr lang="en-US" sz="1360" dirty="0"/>
          </a:p>
          <a:p>
            <a:pPr marL="0" indent="0" algn="l">
              <a:buNone/>
            </a:pPr>
            <a:r>
              <a:rPr lang="en-US" sz="1360" b="1" dirty="0">
                <a:solidFill>
                  <a:srgbClr val="1F2937"/>
                </a:solidFill>
              </a:rPr>
              <a:t>Are values missing randomly, systematically, or by design?</a:t>
            </a:r>
            <a:endParaRPr lang="en-US" sz="1360" dirty="0"/>
          </a:p>
        </p:txBody>
      </p:sp>
      <p:sp>
        <p:nvSpPr>
          <p:cNvPr id="13" name="Shape 11"/>
          <p:cNvSpPr/>
          <p:nvPr/>
        </p:nvSpPr>
        <p:spPr>
          <a:xfrm>
            <a:off x="6217920" y="2834640"/>
            <a:ext cx="47091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82512" y="2953512"/>
            <a:ext cx="437997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360" b="1" dirty="0">
                <a:solidFill>
                  <a:srgbClr val="1F2937"/>
                </a:solidFill>
              </a:rPr>
              <a:t>Target definition</a:t>
            </a:r>
            <a:endParaRPr lang="en-US" sz="1360" dirty="0"/>
          </a:p>
          <a:p>
            <a:pPr marL="0" indent="0" algn="l">
              <a:buNone/>
            </a:pPr>
            <a:r>
              <a:rPr lang="en-US" sz="1360" b="1" dirty="0">
                <a:solidFill>
                  <a:srgbClr val="1F2937"/>
                </a:solidFill>
              </a:rPr>
              <a:t>Is the target measurable, consistent, and available after the prediction point?</a:t>
            </a:r>
            <a:endParaRPr lang="en-US" sz="1360" dirty="0"/>
          </a:p>
        </p:txBody>
      </p:sp>
      <p:sp>
        <p:nvSpPr>
          <p:cNvPr id="15" name="Shape 13"/>
          <p:cNvSpPr/>
          <p:nvPr/>
        </p:nvSpPr>
        <p:spPr>
          <a:xfrm>
            <a:off x="868680" y="3840480"/>
            <a:ext cx="47091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33272" y="3959352"/>
            <a:ext cx="437997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360" b="1" dirty="0">
                <a:solidFill>
                  <a:srgbClr val="1F2937"/>
                </a:solidFill>
              </a:rPr>
              <a:t>Leakage risk</a:t>
            </a:r>
            <a:endParaRPr lang="en-US" sz="1360" dirty="0"/>
          </a:p>
          <a:p>
            <a:pPr marL="0" indent="0" algn="l">
              <a:buNone/>
            </a:pPr>
            <a:r>
              <a:rPr lang="en-US" sz="1360" b="1" dirty="0">
                <a:solidFill>
                  <a:srgbClr val="1F2937"/>
                </a:solidFill>
              </a:rPr>
              <a:t>Would any input reveal the answer too directly or too late?</a:t>
            </a:r>
            <a:endParaRPr lang="en-US" sz="1360" dirty="0"/>
          </a:p>
        </p:txBody>
      </p:sp>
      <p:sp>
        <p:nvSpPr>
          <p:cNvPr id="17" name="Shape 15"/>
          <p:cNvSpPr/>
          <p:nvPr/>
        </p:nvSpPr>
        <p:spPr>
          <a:xfrm>
            <a:off x="6217920" y="3840480"/>
            <a:ext cx="47091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82512" y="3959352"/>
            <a:ext cx="437997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360" b="1" dirty="0">
                <a:solidFill>
                  <a:srgbClr val="1F2937"/>
                </a:solidFill>
              </a:rPr>
              <a:t>Split strategy</a:t>
            </a:r>
            <a:endParaRPr lang="en-US" sz="1360" dirty="0"/>
          </a:p>
          <a:p>
            <a:pPr marL="0" indent="0" algn="l">
              <a:buNone/>
            </a:pPr>
            <a:r>
              <a:rPr lang="en-US" sz="1360" b="1" dirty="0">
                <a:solidFill>
                  <a:srgbClr val="1F2937"/>
                </a:solidFill>
              </a:rPr>
              <a:t>Should the data be split randomly, by group, or by time?</a:t>
            </a:r>
            <a:endParaRPr lang="en-US" sz="1360" dirty="0"/>
          </a:p>
        </p:txBody>
      </p:sp>
      <p:sp>
        <p:nvSpPr>
          <p:cNvPr id="19" name="Text 17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Mini-lesson: data leakage can invalidate results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07008"/>
            <a:ext cx="1024128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Leakage occurs when the model uses information that would not be available at the time of prediction.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1874520"/>
            <a:ext cx="3154680" cy="2423160"/>
          </a:xfrm>
          <a:prstGeom prst="roundRect">
            <a:avLst>
              <a:gd name="adj" fmla="val 3019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33272" y="1993392"/>
            <a:ext cx="2825496" cy="2221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8102E"/>
                </a:solidFill>
              </a:rPr>
              <a:t>Example leakage feature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C8102E"/>
                </a:solidFill>
              </a:rPr>
              <a:t>Final inspection score included as an input when predicting pass/fail quality.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C8102E"/>
                </a:solidFill>
              </a:rPr>
              <a:t>The model is effectively seeing the answer.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26280" y="1874520"/>
            <a:ext cx="315468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90872" y="1993392"/>
            <a:ext cx="2825496" cy="2221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Time leakage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Using future sensor readings when predicting an earlier failure or yield.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The timeline is broken.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183880" y="1874520"/>
            <a:ext cx="315468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348472" y="1993392"/>
            <a:ext cx="2825496" cy="2221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Group leakage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Samples from the same subject, machine, or batch appear in both train and test sets.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The test set is too familiar.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303520"/>
            <a:ext cx="10332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</a:rPr>
              <a:t>Activity: Identify one variable that could cause leakage and justify keeping or removing it.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 3: establish the baseline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07008"/>
            <a:ext cx="104241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The baseline answers: what performance can we get with a simple, transparent rule?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1874520"/>
            <a:ext cx="31089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33272" y="1993392"/>
            <a:ext cx="2779776" cy="2130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Regression baseline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Predict the training-set mean or median.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Metrics: MAE, RMSE, R² relative to simple prediction.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26280" y="1874520"/>
            <a:ext cx="31089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90872" y="1993392"/>
            <a:ext cx="2779776" cy="2130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Classification baseline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Predict the majority class or current rule.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Metrics: confusion matrix, accuracy, precision, recall, F1.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183880" y="1874520"/>
            <a:ext cx="3108960" cy="2331720"/>
          </a:xfrm>
          <a:prstGeom prst="roundRect">
            <a:avLst>
              <a:gd name="adj" fmla="val 3137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348472" y="1993392"/>
            <a:ext cx="2779776" cy="2130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8102E"/>
                </a:solidFill>
              </a:rPr>
              <a:t>Why it matters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C8102E"/>
                </a:solidFill>
              </a:rPr>
              <a:t>A model that does not beat the baseline should not be treated as useful, even if it is complex.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 4: train simple models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07008"/>
            <a:ext cx="103327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Use simple, interpretable models first. The goal is to understand the problem before chasing accuracy.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1828800"/>
            <a:ext cx="301752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33272" y="1947672"/>
            <a:ext cx="2688336" cy="2404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Regression path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1. Mean baseline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2. Linear regression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3. Decision-tree regression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Compare training and test error.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0" y="1828800"/>
            <a:ext cx="301752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736592" y="1947672"/>
            <a:ext cx="2688336" cy="2404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Classification path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1. Majority baseline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2. Logistic regression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3. Decision tree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Compare confusion matrices.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75320" y="1828800"/>
            <a:ext cx="3017520" cy="2606040"/>
          </a:xfrm>
          <a:prstGeom prst="roundRect">
            <a:avLst>
              <a:gd name="adj" fmla="val 2807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439912" y="1947672"/>
            <a:ext cx="2688336" cy="2404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C8102E"/>
                </a:solidFill>
              </a:rPr>
              <a:t>Model discipline</a:t>
            </a:r>
            <a:endParaRPr lang="en-US" sz="1550" dirty="0"/>
          </a:p>
          <a:p>
            <a:pPr marL="0" indent="0" algn="l">
              <a:buNone/>
            </a:pPr>
            <a:endParaRPr lang="en-US" sz="1550" dirty="0"/>
          </a:p>
          <a:p>
            <a:pPr marL="0" indent="0" algn="l">
              <a:buNone/>
            </a:pPr>
            <a:r>
              <a:rPr lang="en-US" sz="1550" b="1" dirty="0">
                <a:solidFill>
                  <a:srgbClr val="C8102E"/>
                </a:solidFill>
              </a:rPr>
              <a:t>Use the same split, same inputs, and same target for each comparison.</a:t>
            </a:r>
            <a:endParaRPr lang="en-US" sz="1550" dirty="0"/>
          </a:p>
          <a:p>
            <a:pPr marL="0" indent="0" algn="l">
              <a:buNone/>
            </a:pPr>
            <a:endParaRPr lang="en-US" sz="1550" dirty="0"/>
          </a:p>
          <a:p>
            <a:pPr marL="0" indent="0" algn="l">
              <a:buNone/>
            </a:pPr>
            <a:r>
              <a:rPr lang="en-US" sz="1550" b="1" dirty="0">
                <a:solidFill>
                  <a:srgbClr val="C8102E"/>
                </a:solidFill>
              </a:rPr>
              <a:t>Change one thing at a time.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 5: evaluate results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07008"/>
            <a:ext cx="1024128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Evaluation should answer both “How well did it predict?” and “What kinds of errors did it make?”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1828800"/>
            <a:ext cx="13716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8102E"/>
                </a:solidFill>
              </a:rPr>
              <a:t>Regression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14600" y="1828800"/>
            <a:ext cx="12344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</a:rPr>
              <a:t>MAE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77640" y="1828800"/>
            <a:ext cx="6812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</a:rPr>
              <a:t>Average absolute error in original units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121408"/>
            <a:ext cx="10424160" cy="0"/>
          </a:xfrm>
          <a:prstGeom prst="line">
            <a:avLst/>
          </a:prstGeom>
          <a:noFill/>
          <a:ln w="825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359152"/>
            <a:ext cx="13716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8102E"/>
                </a:solidFill>
              </a:rPr>
              <a:t>Regression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14600" y="2359152"/>
            <a:ext cx="12344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</a:rPr>
              <a:t>RMSE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977640" y="2359152"/>
            <a:ext cx="6812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</a:rPr>
              <a:t>Penalizes larger errors more strongly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2651760"/>
            <a:ext cx="10424160" cy="0"/>
          </a:xfrm>
          <a:prstGeom prst="line">
            <a:avLst/>
          </a:prstGeom>
          <a:noFill/>
          <a:ln w="825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2889504"/>
            <a:ext cx="13716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8102E"/>
                </a:solidFill>
              </a:rPr>
              <a:t>Regression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514600" y="2889504"/>
            <a:ext cx="12344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</a:rPr>
              <a:t>R²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977640" y="2889504"/>
            <a:ext cx="6812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</a:rPr>
              <a:t>Fraction of target variation explained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" y="3182112"/>
            <a:ext cx="10424160" cy="0"/>
          </a:xfrm>
          <a:prstGeom prst="line">
            <a:avLst/>
          </a:prstGeom>
          <a:noFill/>
          <a:ln w="825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68680" y="3419856"/>
            <a:ext cx="13716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8102E"/>
                </a:solidFill>
              </a:rPr>
              <a:t>Classification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514600" y="3419856"/>
            <a:ext cx="12344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</a:rPr>
              <a:t>Accuracy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977640" y="3419856"/>
            <a:ext cx="6812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</a:rPr>
              <a:t>Overall percent correct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22960" y="3712464"/>
            <a:ext cx="10424160" cy="0"/>
          </a:xfrm>
          <a:prstGeom prst="line">
            <a:avLst/>
          </a:prstGeom>
          <a:noFill/>
          <a:ln w="825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68680" y="3950208"/>
            <a:ext cx="13716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8102E"/>
                </a:solidFill>
              </a:rPr>
              <a:t>Classification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514600" y="3950208"/>
            <a:ext cx="12344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</a:rPr>
              <a:t>Recall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977640" y="3950208"/>
            <a:ext cx="6812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</a:rPr>
              <a:t>Fraction of important positives detected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22960" y="4242816"/>
            <a:ext cx="10424160" cy="0"/>
          </a:xfrm>
          <a:prstGeom prst="line">
            <a:avLst/>
          </a:prstGeom>
          <a:noFill/>
          <a:ln w="825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68680" y="4480560"/>
            <a:ext cx="13716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8102E"/>
                </a:solidFill>
              </a:rPr>
              <a:t>Classification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514600" y="4480560"/>
            <a:ext cx="12344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</a:rPr>
              <a:t>Precision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977640" y="4480560"/>
            <a:ext cx="6812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</a:rPr>
              <a:t>Fraction of predicted positives that were correct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2960" y="4773168"/>
            <a:ext cx="10424160" cy="0"/>
          </a:xfrm>
          <a:prstGeom prst="line">
            <a:avLst/>
          </a:prstGeom>
          <a:noFill/>
          <a:ln w="825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60120" y="5532120"/>
            <a:ext cx="10195560" cy="502920"/>
          </a:xfrm>
          <a:prstGeom prst="roundRect">
            <a:avLst>
              <a:gd name="adj" fmla="val 14545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124712" y="5650992"/>
            <a:ext cx="986637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8102E"/>
                </a:solidFill>
              </a:rPr>
              <a:t>Metric choice should reflect the practical consequence of the error, not just mathematical convenience.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 5 continued: inspect error patterns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07008"/>
            <a:ext cx="103327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A first model is most valuable when it shows where the data or problem formulation needs improvement.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4709160"/>
            <a:ext cx="3840480" cy="0"/>
          </a:xfrm>
          <a:prstGeom prst="line">
            <a:avLst/>
          </a:prstGeom>
          <a:noFill/>
          <a:ln w="1397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68680" y="4709160"/>
            <a:ext cx="0" cy="0"/>
          </a:xfrm>
          <a:prstGeom prst="line">
            <a:avLst/>
          </a:prstGeom>
          <a:noFill/>
          <a:ln w="1397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097280" y="4114800"/>
            <a:ext cx="109728" cy="10972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554480" y="3749040"/>
            <a:ext cx="109728" cy="10972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920240" y="4023360"/>
            <a:ext cx="109728" cy="10972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468880" y="3383280"/>
            <a:ext cx="109728" cy="10972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926080" y="3611880"/>
            <a:ext cx="109728" cy="10972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474720" y="2971800"/>
            <a:ext cx="109728" cy="10972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0" y="3154680"/>
            <a:ext cx="109728" cy="10972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691640" y="5010912"/>
            <a:ext cx="11887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Residuals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212080" y="219456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376672" y="2313432"/>
            <a:ext cx="768096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102E"/>
                </a:solidFill>
              </a:rPr>
              <a:t>TP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0" y="219456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65392" y="2313432"/>
            <a:ext cx="768096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</a:rPr>
              <a:t>FN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212080" y="288036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376672" y="2999232"/>
            <a:ext cx="768096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</a:rPr>
              <a:t>FP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0" y="288036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565392" y="2999232"/>
            <a:ext cx="768096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</a:rPr>
              <a:t>TN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366760" y="1874520"/>
            <a:ext cx="2743200" cy="2350008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485632" y="2136605"/>
            <a:ext cx="2505456" cy="1719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Questions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Are errors larger for one group?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Are mistakes tied to missing features?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Is one class poorly represented?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Is the target noisy?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14400" y="5440680"/>
            <a:ext cx="103327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102E"/>
                </a:solidFill>
              </a:rPr>
              <a:t>Error analysis converts model performance into research and data-collection priorities.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5B3479-7140-8B17-EB80-57D396278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25FF1EA-730B-522D-8B4D-D4F5BC76A1AC}"/>
              </a:ext>
            </a:extLst>
          </p:cNvPr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0CBC651-59B7-7B3C-F659-196067D70FA0}"/>
              </a:ext>
            </a:extLst>
          </p:cNvPr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4254A0F-4E4D-6434-5740-5CA4B54317F6}"/>
              </a:ext>
            </a:extLst>
          </p:cNvPr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5</a:t>
            </a:r>
            <a:endParaRPr lang="en-US" sz="10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4F55C01-8EC8-3B35-2ED2-D3518227FB7B}"/>
              </a:ext>
            </a:extLst>
          </p:cNvPr>
          <p:cNvSpPr/>
          <p:nvPr/>
        </p:nvSpPr>
        <p:spPr>
          <a:xfrm>
            <a:off x="6217920" y="1828800"/>
            <a:ext cx="47091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A51A6403-5B1E-3145-540E-4AD48B91CF83}"/>
              </a:ext>
            </a:extLst>
          </p:cNvPr>
          <p:cNvSpPr/>
          <p:nvPr/>
        </p:nvSpPr>
        <p:spPr>
          <a:xfrm>
            <a:off x="6217920" y="2834640"/>
            <a:ext cx="47091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2C1E2CBF-28F2-2320-FC0D-4DC61A5324BE}"/>
              </a:ext>
            </a:extLst>
          </p:cNvPr>
          <p:cNvSpPr/>
          <p:nvPr/>
        </p:nvSpPr>
        <p:spPr>
          <a:xfrm>
            <a:off x="6217920" y="3840480"/>
            <a:ext cx="47091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3517CC1-A114-5A01-D961-3C3AF18E2A34}"/>
              </a:ext>
            </a:extLst>
          </p:cNvPr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14</a:t>
            </a:r>
            <a:endParaRPr lang="en-US" sz="800" dirty="0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7CA0F78D-4437-1537-A652-2473CC37F945}"/>
              </a:ext>
            </a:extLst>
          </p:cNvPr>
          <p:cNvSpPr/>
          <p:nvPr/>
        </p:nvSpPr>
        <p:spPr>
          <a:xfrm>
            <a:off x="612648" y="85953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235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 5 technical skill: complete baseline modeling workflow</a:t>
            </a:r>
            <a:endParaRPr lang="en-US" sz="250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0BAAD2E2-644F-9A87-9CF8-AD104EBE1E87}"/>
              </a:ext>
            </a:extLst>
          </p:cNvPr>
          <p:cNvSpPr/>
          <p:nvPr/>
        </p:nvSpPr>
        <p:spPr>
          <a:xfrm>
            <a:off x="630936" y="1380744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B5563"/>
                </a:solidFill>
              </a:rPr>
              <a:t>Goal: combine the tool skills into one repeatable applied ML workflow.</a:t>
            </a:r>
            <a:endParaRPr lang="en-US" sz="1150" dirty="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95D6381A-794F-0809-87F8-197A30909B19}"/>
              </a:ext>
            </a:extLst>
          </p:cNvPr>
          <p:cNvSpPr/>
          <p:nvPr/>
        </p:nvSpPr>
        <p:spPr>
          <a:xfrm>
            <a:off x="841248" y="2048256"/>
            <a:ext cx="621792" cy="621792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696B6C89-6E23-E74B-CAF8-BFF4C919A19F}"/>
              </a:ext>
            </a:extLst>
          </p:cNvPr>
          <p:cNvSpPr/>
          <p:nvPr/>
        </p:nvSpPr>
        <p:spPr>
          <a:xfrm>
            <a:off x="841248" y="2212848"/>
            <a:ext cx="6217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C8A71BDB-A70B-C2BC-8B47-ED5388BA8C59}"/>
              </a:ext>
            </a:extLst>
          </p:cNvPr>
          <p:cNvSpPr/>
          <p:nvPr/>
        </p:nvSpPr>
        <p:spPr>
          <a:xfrm>
            <a:off x="493776" y="280720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B5563"/>
                </a:solidFill>
              </a:rPr>
              <a:t>Load</a:t>
            </a:r>
            <a:endParaRPr lang="en-US" sz="1150" dirty="0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FD0A191D-5444-867F-4E4E-159EDD959CD7}"/>
              </a:ext>
            </a:extLst>
          </p:cNvPr>
          <p:cNvSpPr/>
          <p:nvPr/>
        </p:nvSpPr>
        <p:spPr>
          <a:xfrm>
            <a:off x="1499616" y="2368296"/>
            <a:ext cx="685800" cy="0"/>
          </a:xfrm>
          <a:prstGeom prst="line">
            <a:avLst/>
          </a:prstGeom>
          <a:noFill/>
          <a:ln w="25400">
            <a:solidFill>
              <a:srgbClr val="D7DEE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3129BA29-D1C1-E6CB-0E62-584A705FDE9D}"/>
              </a:ext>
            </a:extLst>
          </p:cNvPr>
          <p:cNvSpPr/>
          <p:nvPr/>
        </p:nvSpPr>
        <p:spPr>
          <a:xfrm>
            <a:off x="2395728" y="2048256"/>
            <a:ext cx="621792" cy="62179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B4707713-95A6-A3EC-B2CC-06DC7E628DA3}"/>
              </a:ext>
            </a:extLst>
          </p:cNvPr>
          <p:cNvSpPr/>
          <p:nvPr/>
        </p:nvSpPr>
        <p:spPr>
          <a:xfrm>
            <a:off x="2395728" y="2212848"/>
            <a:ext cx="6217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A9254CEC-D708-470E-8122-1FAADAD8C624}"/>
              </a:ext>
            </a:extLst>
          </p:cNvPr>
          <p:cNvSpPr/>
          <p:nvPr/>
        </p:nvSpPr>
        <p:spPr>
          <a:xfrm>
            <a:off x="2048256" y="280720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B5563"/>
                </a:solidFill>
              </a:rPr>
              <a:t>Inspect</a:t>
            </a:r>
            <a:endParaRPr lang="en-US" sz="1150" dirty="0"/>
          </a:p>
        </p:txBody>
      </p:sp>
      <p:sp>
        <p:nvSpPr>
          <p:cNvPr id="28" name="Shape 9">
            <a:extLst>
              <a:ext uri="{FF2B5EF4-FFF2-40B4-BE49-F238E27FC236}">
                <a16:creationId xmlns:a16="http://schemas.microsoft.com/office/drawing/2014/main" id="{0E33C5B5-8595-228B-25D9-5F11AFE06BA0}"/>
              </a:ext>
            </a:extLst>
          </p:cNvPr>
          <p:cNvSpPr/>
          <p:nvPr/>
        </p:nvSpPr>
        <p:spPr>
          <a:xfrm>
            <a:off x="3054096" y="2368296"/>
            <a:ext cx="685800" cy="0"/>
          </a:xfrm>
          <a:prstGeom prst="line">
            <a:avLst/>
          </a:prstGeom>
          <a:noFill/>
          <a:ln w="25400">
            <a:solidFill>
              <a:srgbClr val="D7DEE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10">
            <a:extLst>
              <a:ext uri="{FF2B5EF4-FFF2-40B4-BE49-F238E27FC236}">
                <a16:creationId xmlns:a16="http://schemas.microsoft.com/office/drawing/2014/main" id="{1E097BF4-2790-E123-D834-D28EE23B278D}"/>
              </a:ext>
            </a:extLst>
          </p:cNvPr>
          <p:cNvSpPr/>
          <p:nvPr/>
        </p:nvSpPr>
        <p:spPr>
          <a:xfrm>
            <a:off x="3950208" y="2048256"/>
            <a:ext cx="621792" cy="62179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D8769ECD-EC98-E951-F273-F079387A89B7}"/>
              </a:ext>
            </a:extLst>
          </p:cNvPr>
          <p:cNvSpPr/>
          <p:nvPr/>
        </p:nvSpPr>
        <p:spPr>
          <a:xfrm>
            <a:off x="3950208" y="2212848"/>
            <a:ext cx="6217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34" name="Text 12">
            <a:extLst>
              <a:ext uri="{FF2B5EF4-FFF2-40B4-BE49-F238E27FC236}">
                <a16:creationId xmlns:a16="http://schemas.microsoft.com/office/drawing/2014/main" id="{3C302185-03D2-AD64-0CFA-E51FCF267F6A}"/>
              </a:ext>
            </a:extLst>
          </p:cNvPr>
          <p:cNvSpPr/>
          <p:nvPr/>
        </p:nvSpPr>
        <p:spPr>
          <a:xfrm>
            <a:off x="3602736" y="280720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B5563"/>
                </a:solidFill>
              </a:rPr>
              <a:t>Visualize</a:t>
            </a:r>
            <a:endParaRPr lang="en-US" sz="1150" dirty="0"/>
          </a:p>
        </p:txBody>
      </p:sp>
      <p:sp>
        <p:nvSpPr>
          <p:cNvPr id="36" name="Shape 13">
            <a:extLst>
              <a:ext uri="{FF2B5EF4-FFF2-40B4-BE49-F238E27FC236}">
                <a16:creationId xmlns:a16="http://schemas.microsoft.com/office/drawing/2014/main" id="{30F219B8-0265-D765-0149-287784690912}"/>
              </a:ext>
            </a:extLst>
          </p:cNvPr>
          <p:cNvSpPr/>
          <p:nvPr/>
        </p:nvSpPr>
        <p:spPr>
          <a:xfrm>
            <a:off x="4608576" y="2368296"/>
            <a:ext cx="685800" cy="0"/>
          </a:xfrm>
          <a:prstGeom prst="line">
            <a:avLst/>
          </a:prstGeom>
          <a:noFill/>
          <a:ln w="25400">
            <a:solidFill>
              <a:srgbClr val="D7DEE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14">
            <a:extLst>
              <a:ext uri="{FF2B5EF4-FFF2-40B4-BE49-F238E27FC236}">
                <a16:creationId xmlns:a16="http://schemas.microsoft.com/office/drawing/2014/main" id="{CF2AE6C1-4E4E-6B99-EEA9-C65EEECEA819}"/>
              </a:ext>
            </a:extLst>
          </p:cNvPr>
          <p:cNvSpPr/>
          <p:nvPr/>
        </p:nvSpPr>
        <p:spPr>
          <a:xfrm>
            <a:off x="5504688" y="2048256"/>
            <a:ext cx="621792" cy="621792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5FD21750-A2C3-A148-95BF-A95F843EA2CC}"/>
              </a:ext>
            </a:extLst>
          </p:cNvPr>
          <p:cNvSpPr/>
          <p:nvPr/>
        </p:nvSpPr>
        <p:spPr>
          <a:xfrm>
            <a:off x="5504688" y="2212848"/>
            <a:ext cx="6217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42" name="Text 16">
            <a:extLst>
              <a:ext uri="{FF2B5EF4-FFF2-40B4-BE49-F238E27FC236}">
                <a16:creationId xmlns:a16="http://schemas.microsoft.com/office/drawing/2014/main" id="{D4FB9BA9-796A-CFD9-607C-6DAC4DAF00C9}"/>
              </a:ext>
            </a:extLst>
          </p:cNvPr>
          <p:cNvSpPr/>
          <p:nvPr/>
        </p:nvSpPr>
        <p:spPr>
          <a:xfrm>
            <a:off x="5157216" y="280720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B5563"/>
                </a:solidFill>
              </a:rPr>
              <a:t>Split</a:t>
            </a:r>
            <a:endParaRPr lang="en-US" sz="1150" dirty="0"/>
          </a:p>
        </p:txBody>
      </p:sp>
      <p:sp>
        <p:nvSpPr>
          <p:cNvPr id="44" name="Shape 17">
            <a:extLst>
              <a:ext uri="{FF2B5EF4-FFF2-40B4-BE49-F238E27FC236}">
                <a16:creationId xmlns:a16="http://schemas.microsoft.com/office/drawing/2014/main" id="{72699688-9E68-4788-8946-9EA4D82A2E71}"/>
              </a:ext>
            </a:extLst>
          </p:cNvPr>
          <p:cNvSpPr/>
          <p:nvPr/>
        </p:nvSpPr>
        <p:spPr>
          <a:xfrm>
            <a:off x="6163056" y="2368296"/>
            <a:ext cx="685800" cy="0"/>
          </a:xfrm>
          <a:prstGeom prst="line">
            <a:avLst/>
          </a:prstGeom>
          <a:noFill/>
          <a:ln w="25400">
            <a:solidFill>
              <a:srgbClr val="D7DEE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18">
            <a:extLst>
              <a:ext uri="{FF2B5EF4-FFF2-40B4-BE49-F238E27FC236}">
                <a16:creationId xmlns:a16="http://schemas.microsoft.com/office/drawing/2014/main" id="{26F8CB0D-CF20-D04C-00BD-8ACFA4B17EA6}"/>
              </a:ext>
            </a:extLst>
          </p:cNvPr>
          <p:cNvSpPr/>
          <p:nvPr/>
        </p:nvSpPr>
        <p:spPr>
          <a:xfrm>
            <a:off x="7059168" y="2048256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19">
            <a:extLst>
              <a:ext uri="{FF2B5EF4-FFF2-40B4-BE49-F238E27FC236}">
                <a16:creationId xmlns:a16="http://schemas.microsoft.com/office/drawing/2014/main" id="{4F22E666-B0E7-10A0-7EA9-0AD71D018F56}"/>
              </a:ext>
            </a:extLst>
          </p:cNvPr>
          <p:cNvSpPr/>
          <p:nvPr/>
        </p:nvSpPr>
        <p:spPr>
          <a:xfrm>
            <a:off x="7059168" y="2212848"/>
            <a:ext cx="6217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50" name="Text 20">
            <a:extLst>
              <a:ext uri="{FF2B5EF4-FFF2-40B4-BE49-F238E27FC236}">
                <a16:creationId xmlns:a16="http://schemas.microsoft.com/office/drawing/2014/main" id="{1A674A69-790A-E60A-9E75-5FE4AD7BA910}"/>
              </a:ext>
            </a:extLst>
          </p:cNvPr>
          <p:cNvSpPr/>
          <p:nvPr/>
        </p:nvSpPr>
        <p:spPr>
          <a:xfrm>
            <a:off x="6711696" y="280720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B5563"/>
                </a:solidFill>
              </a:rPr>
              <a:t>Baseline</a:t>
            </a:r>
            <a:endParaRPr lang="en-US" sz="1150" dirty="0"/>
          </a:p>
        </p:txBody>
      </p:sp>
      <p:sp>
        <p:nvSpPr>
          <p:cNvPr id="52" name="Shape 21">
            <a:extLst>
              <a:ext uri="{FF2B5EF4-FFF2-40B4-BE49-F238E27FC236}">
                <a16:creationId xmlns:a16="http://schemas.microsoft.com/office/drawing/2014/main" id="{C590966E-9329-F6FF-F884-76D9D6B1E0CA}"/>
              </a:ext>
            </a:extLst>
          </p:cNvPr>
          <p:cNvSpPr/>
          <p:nvPr/>
        </p:nvSpPr>
        <p:spPr>
          <a:xfrm>
            <a:off x="7717536" y="2368296"/>
            <a:ext cx="685800" cy="0"/>
          </a:xfrm>
          <a:prstGeom prst="line">
            <a:avLst/>
          </a:prstGeom>
          <a:noFill/>
          <a:ln w="25400">
            <a:solidFill>
              <a:srgbClr val="D7DEE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22">
            <a:extLst>
              <a:ext uri="{FF2B5EF4-FFF2-40B4-BE49-F238E27FC236}">
                <a16:creationId xmlns:a16="http://schemas.microsoft.com/office/drawing/2014/main" id="{B676C410-CF4B-4D5D-969C-B12AD27A1472}"/>
              </a:ext>
            </a:extLst>
          </p:cNvPr>
          <p:cNvSpPr/>
          <p:nvPr/>
        </p:nvSpPr>
        <p:spPr>
          <a:xfrm>
            <a:off x="8613648" y="2048256"/>
            <a:ext cx="621792" cy="621792"/>
          </a:xfrm>
          <a:prstGeom prst="ellipse">
            <a:avLst/>
          </a:prstGeom>
          <a:solidFill>
            <a:srgbClr val="12355B"/>
          </a:solidFill>
          <a:ln w="12700">
            <a:solidFill>
              <a:srgbClr val="1235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23">
            <a:extLst>
              <a:ext uri="{FF2B5EF4-FFF2-40B4-BE49-F238E27FC236}">
                <a16:creationId xmlns:a16="http://schemas.microsoft.com/office/drawing/2014/main" id="{E6C2B4D6-7C5F-F1A4-C592-694453F86C7E}"/>
              </a:ext>
            </a:extLst>
          </p:cNvPr>
          <p:cNvSpPr/>
          <p:nvPr/>
        </p:nvSpPr>
        <p:spPr>
          <a:xfrm>
            <a:off x="8613648" y="2212848"/>
            <a:ext cx="6217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58" name="Text 24">
            <a:extLst>
              <a:ext uri="{FF2B5EF4-FFF2-40B4-BE49-F238E27FC236}">
                <a16:creationId xmlns:a16="http://schemas.microsoft.com/office/drawing/2014/main" id="{4F2B6BF6-05BA-6C16-68E5-F37324214104}"/>
              </a:ext>
            </a:extLst>
          </p:cNvPr>
          <p:cNvSpPr/>
          <p:nvPr/>
        </p:nvSpPr>
        <p:spPr>
          <a:xfrm>
            <a:off x="8266176" y="280720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B5563"/>
                </a:solidFill>
              </a:rPr>
              <a:t>Train</a:t>
            </a:r>
            <a:endParaRPr lang="en-US" sz="1150" dirty="0"/>
          </a:p>
        </p:txBody>
      </p:sp>
      <p:sp>
        <p:nvSpPr>
          <p:cNvPr id="60" name="Shape 25">
            <a:extLst>
              <a:ext uri="{FF2B5EF4-FFF2-40B4-BE49-F238E27FC236}">
                <a16:creationId xmlns:a16="http://schemas.microsoft.com/office/drawing/2014/main" id="{6F0BECCC-8983-25F4-389C-741F0B67DA08}"/>
              </a:ext>
            </a:extLst>
          </p:cNvPr>
          <p:cNvSpPr/>
          <p:nvPr/>
        </p:nvSpPr>
        <p:spPr>
          <a:xfrm>
            <a:off x="9272016" y="2368296"/>
            <a:ext cx="685800" cy="0"/>
          </a:xfrm>
          <a:prstGeom prst="line">
            <a:avLst/>
          </a:prstGeom>
          <a:noFill/>
          <a:ln w="25400">
            <a:solidFill>
              <a:srgbClr val="D7DEE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26">
            <a:extLst>
              <a:ext uri="{FF2B5EF4-FFF2-40B4-BE49-F238E27FC236}">
                <a16:creationId xmlns:a16="http://schemas.microsoft.com/office/drawing/2014/main" id="{3A39C6F1-5817-DA07-C713-2F0451E51233}"/>
              </a:ext>
            </a:extLst>
          </p:cNvPr>
          <p:cNvSpPr/>
          <p:nvPr/>
        </p:nvSpPr>
        <p:spPr>
          <a:xfrm>
            <a:off x="10168128" y="2048256"/>
            <a:ext cx="621792" cy="621792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7928DD57-8864-D389-A23F-0A4B6E4D2AED}"/>
              </a:ext>
            </a:extLst>
          </p:cNvPr>
          <p:cNvSpPr/>
          <p:nvPr/>
        </p:nvSpPr>
        <p:spPr>
          <a:xfrm>
            <a:off x="10168128" y="2212848"/>
            <a:ext cx="6217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66" name="Text 28">
            <a:extLst>
              <a:ext uri="{FF2B5EF4-FFF2-40B4-BE49-F238E27FC236}">
                <a16:creationId xmlns:a16="http://schemas.microsoft.com/office/drawing/2014/main" id="{2F732E55-60C6-E628-ABD2-C0977241E34A}"/>
              </a:ext>
            </a:extLst>
          </p:cNvPr>
          <p:cNvSpPr/>
          <p:nvPr/>
        </p:nvSpPr>
        <p:spPr>
          <a:xfrm>
            <a:off x="9820656" y="280720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B5563"/>
                </a:solidFill>
              </a:rPr>
              <a:t>Evaluate</a:t>
            </a:r>
            <a:endParaRPr lang="en-US" sz="1150" dirty="0"/>
          </a:p>
        </p:txBody>
      </p:sp>
      <p:sp>
        <p:nvSpPr>
          <p:cNvPr id="68" name="Shape 29">
            <a:extLst>
              <a:ext uri="{FF2B5EF4-FFF2-40B4-BE49-F238E27FC236}">
                <a16:creationId xmlns:a16="http://schemas.microsoft.com/office/drawing/2014/main" id="{7D935811-3FAE-B6FD-A50C-6939E09D842B}"/>
              </a:ext>
            </a:extLst>
          </p:cNvPr>
          <p:cNvSpPr/>
          <p:nvPr/>
        </p:nvSpPr>
        <p:spPr>
          <a:xfrm>
            <a:off x="886968" y="3602736"/>
            <a:ext cx="5120640" cy="1874520"/>
          </a:xfrm>
          <a:prstGeom prst="roundRect">
            <a:avLst>
              <a:gd name="adj" fmla="val 2927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30">
            <a:extLst>
              <a:ext uri="{FF2B5EF4-FFF2-40B4-BE49-F238E27FC236}">
                <a16:creationId xmlns:a16="http://schemas.microsoft.com/office/drawing/2014/main" id="{1163C746-4163-E093-0FA4-CA76D7191AE1}"/>
              </a:ext>
            </a:extLst>
          </p:cNvPr>
          <p:cNvSpPr/>
          <p:nvPr/>
        </p:nvSpPr>
        <p:spPr>
          <a:xfrm>
            <a:off x="1051560" y="3730752"/>
            <a:ext cx="4791456" cy="1618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E5E7E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df = pd.read_csv("classification_workshop.csv")</a:t>
            </a:r>
            <a:endParaRPr lang="en-US" sz="840" dirty="0"/>
          </a:p>
          <a:p>
            <a:pPr marL="0" indent="0">
              <a:buNone/>
            </a:pPr>
            <a:r>
              <a:rPr lang="en-US" sz="840" dirty="0">
                <a:solidFill>
                  <a:srgbClr val="E5E7E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 = df[features]</a:t>
            </a:r>
            <a:endParaRPr lang="en-US" sz="840" dirty="0"/>
          </a:p>
          <a:p>
            <a:pPr marL="0" indent="0">
              <a:buNone/>
            </a:pPr>
            <a:r>
              <a:rPr lang="en-US" sz="840" dirty="0">
                <a:solidFill>
                  <a:srgbClr val="E5E7E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y = df[target]</a:t>
            </a:r>
            <a:endParaRPr lang="en-US" sz="840" dirty="0"/>
          </a:p>
          <a:p>
            <a:pPr marL="0" indent="0">
              <a:buNone/>
            </a:pPr>
            <a:endParaRPr lang="en-US" sz="840" dirty="0"/>
          </a:p>
          <a:p>
            <a:pPr marL="0" indent="0">
              <a:buNone/>
            </a:pPr>
            <a:r>
              <a:rPr lang="en-US" sz="840" dirty="0">
                <a:solidFill>
                  <a:srgbClr val="E5E7E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X_train, X_test, y_train, y_test = train_test_split(X, y, stratify=y)</a:t>
            </a:r>
            <a:endParaRPr lang="en-US" sz="840" dirty="0"/>
          </a:p>
          <a:p>
            <a:pPr marL="0" indent="0">
              <a:buNone/>
            </a:pPr>
            <a:endParaRPr lang="en-US" sz="840" dirty="0"/>
          </a:p>
          <a:p>
            <a:pPr marL="0" indent="0">
              <a:buNone/>
            </a:pPr>
            <a:r>
              <a:rPr lang="en-US" sz="840" dirty="0">
                <a:solidFill>
                  <a:srgbClr val="E5E7E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model.fit(X_train, y_train)</a:t>
            </a:r>
            <a:endParaRPr lang="en-US" sz="840" dirty="0"/>
          </a:p>
          <a:p>
            <a:pPr marL="0" indent="0">
              <a:buNone/>
            </a:pPr>
            <a:r>
              <a:rPr lang="en-US" sz="840" dirty="0">
                <a:solidFill>
                  <a:srgbClr val="E5E7E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pred = model.predict(X_test)</a:t>
            </a:r>
            <a:endParaRPr lang="en-US" sz="840" dirty="0"/>
          </a:p>
        </p:txBody>
      </p:sp>
      <p:sp>
        <p:nvSpPr>
          <p:cNvPr id="72" name="Text 31">
            <a:extLst>
              <a:ext uri="{FF2B5EF4-FFF2-40B4-BE49-F238E27FC236}">
                <a16:creationId xmlns:a16="http://schemas.microsoft.com/office/drawing/2014/main" id="{8ED2CD30-CD4E-E9D8-BD27-CF8552331159}"/>
              </a:ext>
            </a:extLst>
          </p:cNvPr>
          <p:cNvSpPr/>
          <p:nvPr/>
        </p:nvSpPr>
        <p:spPr>
          <a:xfrm>
            <a:off x="6601968" y="3602736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C3AED"/>
                </a:solidFill>
              </a:rPr>
              <a:t>What faculty produce</a:t>
            </a:r>
            <a:endParaRPr lang="en-US" sz="1500" dirty="0"/>
          </a:p>
        </p:txBody>
      </p:sp>
      <p:sp>
        <p:nvSpPr>
          <p:cNvPr id="74" name="Text 32">
            <a:extLst>
              <a:ext uri="{FF2B5EF4-FFF2-40B4-BE49-F238E27FC236}">
                <a16:creationId xmlns:a16="http://schemas.microsoft.com/office/drawing/2014/main" id="{0BE7DEA5-3C59-8D5F-4696-E6764890B402}"/>
              </a:ext>
            </a:extLst>
          </p:cNvPr>
          <p:cNvSpPr/>
          <p:nvPr/>
        </p:nvSpPr>
        <p:spPr>
          <a:xfrm>
            <a:off x="6601968" y="3941064"/>
            <a:ext cx="4343400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B5563"/>
                </a:solidFill>
              </a:rPr>
              <a:t>• A baseline comparison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4B5563"/>
                </a:solidFill>
              </a:rPr>
              <a:t>• A first model result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4B5563"/>
                </a:solidFill>
              </a:rPr>
              <a:t>• A metric-based interpretation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4B5563"/>
                </a:solidFill>
              </a:rPr>
              <a:t>• One limitation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4B5563"/>
                </a:solidFill>
              </a:rPr>
              <a:t>• One recommended next step</a:t>
            </a:r>
            <a:endParaRPr lang="en-US" sz="1250" dirty="0"/>
          </a:p>
        </p:txBody>
      </p:sp>
      <p:sp>
        <p:nvSpPr>
          <p:cNvPr id="76" name="Shape 33">
            <a:extLst>
              <a:ext uri="{FF2B5EF4-FFF2-40B4-BE49-F238E27FC236}">
                <a16:creationId xmlns:a16="http://schemas.microsoft.com/office/drawing/2014/main" id="{D799BADE-C4DA-346B-BD52-9FF63DA8848E}"/>
              </a:ext>
            </a:extLst>
          </p:cNvPr>
          <p:cNvSpPr/>
          <p:nvPr/>
        </p:nvSpPr>
        <p:spPr>
          <a:xfrm>
            <a:off x="6601968" y="5660136"/>
            <a:ext cx="1417320" cy="292608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34">
            <a:extLst>
              <a:ext uri="{FF2B5EF4-FFF2-40B4-BE49-F238E27FC236}">
                <a16:creationId xmlns:a16="http://schemas.microsoft.com/office/drawing/2014/main" id="{6D35EE97-0857-C2DD-2739-A14C24942CD7}"/>
              </a:ext>
            </a:extLst>
          </p:cNvPr>
          <p:cNvSpPr/>
          <p:nvPr/>
        </p:nvSpPr>
        <p:spPr>
          <a:xfrm>
            <a:off x="6601968" y="5728716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Session 5 notebook</a:t>
            </a:r>
            <a:endParaRPr lang="en-US" sz="850" dirty="0"/>
          </a:p>
        </p:txBody>
      </p:sp>
      <p:sp>
        <p:nvSpPr>
          <p:cNvPr id="80" name="Text 35">
            <a:extLst>
              <a:ext uri="{FF2B5EF4-FFF2-40B4-BE49-F238E27FC236}">
                <a16:creationId xmlns:a16="http://schemas.microsoft.com/office/drawing/2014/main" id="{D2505C53-AE37-6FA3-1BDB-D2B43E7AB6BC}"/>
              </a:ext>
            </a:extLst>
          </p:cNvPr>
          <p:cNvSpPr/>
          <p:nvPr/>
        </p:nvSpPr>
        <p:spPr>
          <a:xfrm>
            <a:off x="8156448" y="569671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11182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05_session5_complete_workflow.ipynb</a:t>
            </a:r>
            <a:endParaRPr lang="en-US" sz="1120" dirty="0"/>
          </a:p>
        </p:txBody>
      </p:sp>
    </p:spTree>
    <p:extLst>
      <p:ext uri="{BB962C8B-B14F-4D97-AF65-F5344CB8AC3E}">
        <p14:creationId xmlns:p14="http://schemas.microsoft.com/office/powerpoint/2010/main" val="3792904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DF232F-CBCB-B1C9-E730-B6CA8FEC2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4944489-95C4-0729-6734-1FF6CED57C6A}"/>
              </a:ext>
            </a:extLst>
          </p:cNvPr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8352B0F-F742-7F5A-C210-0AC3ECA3A03C}"/>
              </a:ext>
            </a:extLst>
          </p:cNvPr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9060574-BD26-CE1B-A0B6-14F19AD89C39}"/>
              </a:ext>
            </a:extLst>
          </p:cNvPr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Participant output: first-pass model card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1CC079F-C858-9D87-EDC9-68A4ADF37570}"/>
              </a:ext>
            </a:extLst>
          </p:cNvPr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5</a:t>
            </a:r>
            <a:endParaRPr lang="en-US" sz="1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AD10CF9-836C-E98F-DA11-90E92AEFEB94}"/>
              </a:ext>
            </a:extLst>
          </p:cNvPr>
          <p:cNvSpPr/>
          <p:nvPr/>
        </p:nvSpPr>
        <p:spPr>
          <a:xfrm>
            <a:off x="777240" y="1207008"/>
            <a:ext cx="103327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Each group should leave with a short model card summarizing the baseline analysis.</a:t>
            </a:r>
            <a:endParaRPr lang="en-US" sz="18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4E5528F-E9D1-54E1-51C4-09A233651F0D}"/>
              </a:ext>
            </a:extLst>
          </p:cNvPr>
          <p:cNvSpPr/>
          <p:nvPr/>
        </p:nvSpPr>
        <p:spPr>
          <a:xfrm>
            <a:off x="868680" y="1828800"/>
            <a:ext cx="47091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0C3EE1D-C63C-9123-3DC4-28FBFAEC6CFB}"/>
              </a:ext>
            </a:extLst>
          </p:cNvPr>
          <p:cNvSpPr/>
          <p:nvPr/>
        </p:nvSpPr>
        <p:spPr>
          <a:xfrm>
            <a:off x="1033272" y="1947672"/>
            <a:ext cx="437997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1F2937"/>
                </a:solidFill>
              </a:rPr>
              <a:t>Problem statement</a:t>
            </a:r>
            <a:endParaRPr lang="en-US" sz="1380" dirty="0"/>
          </a:p>
          <a:p>
            <a:pPr marL="0" indent="0" algn="l">
              <a:buNone/>
            </a:pPr>
            <a:r>
              <a:rPr lang="en-US" sz="1380" b="1" dirty="0">
                <a:solidFill>
                  <a:srgbClr val="1F2937"/>
                </a:solidFill>
              </a:rPr>
              <a:t>What is predicted, for whom or what, and why?</a:t>
            </a:r>
            <a:endParaRPr lang="en-US" sz="138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1BAE1BB-5D17-A511-EE66-3554F60E1A8F}"/>
              </a:ext>
            </a:extLst>
          </p:cNvPr>
          <p:cNvSpPr/>
          <p:nvPr/>
        </p:nvSpPr>
        <p:spPr>
          <a:xfrm>
            <a:off x="6217920" y="1828800"/>
            <a:ext cx="47091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4711EFB-64AB-DF3E-0A3A-6D12ECBB5578}"/>
              </a:ext>
            </a:extLst>
          </p:cNvPr>
          <p:cNvSpPr/>
          <p:nvPr/>
        </p:nvSpPr>
        <p:spPr>
          <a:xfrm>
            <a:off x="6382512" y="1947672"/>
            <a:ext cx="437997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1F2937"/>
                </a:solidFill>
              </a:rPr>
              <a:t>Dataset</a:t>
            </a:r>
            <a:endParaRPr lang="en-US" sz="1380" dirty="0"/>
          </a:p>
          <a:p>
            <a:pPr marL="0" indent="0" algn="l">
              <a:buNone/>
            </a:pPr>
            <a:r>
              <a:rPr lang="en-US" sz="1380" b="1" dirty="0">
                <a:solidFill>
                  <a:srgbClr val="1F2937"/>
                </a:solidFill>
              </a:rPr>
              <a:t>Rows, variables, target, missing values, and leakage concerns</a:t>
            </a:r>
            <a:endParaRPr lang="en-US" sz="138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B37331F6-DB00-0689-B4EC-D5A0CADD34BA}"/>
              </a:ext>
            </a:extLst>
          </p:cNvPr>
          <p:cNvSpPr/>
          <p:nvPr/>
        </p:nvSpPr>
        <p:spPr>
          <a:xfrm>
            <a:off x="868680" y="2834640"/>
            <a:ext cx="47091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4F45E1F-0D6D-1FF6-D8FF-6FC714FAA543}"/>
              </a:ext>
            </a:extLst>
          </p:cNvPr>
          <p:cNvSpPr/>
          <p:nvPr/>
        </p:nvSpPr>
        <p:spPr>
          <a:xfrm>
            <a:off x="1033272" y="2953512"/>
            <a:ext cx="437997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1F2937"/>
                </a:solidFill>
              </a:rPr>
              <a:t>Baseline</a:t>
            </a:r>
            <a:endParaRPr lang="en-US" sz="1380" dirty="0"/>
          </a:p>
          <a:p>
            <a:pPr marL="0" indent="0" algn="l">
              <a:buNone/>
            </a:pPr>
            <a:r>
              <a:rPr lang="en-US" sz="1380" b="1" dirty="0">
                <a:solidFill>
                  <a:srgbClr val="1F2937"/>
                </a:solidFill>
              </a:rPr>
              <a:t>Simple rule and its performance</a:t>
            </a:r>
            <a:endParaRPr lang="en-US" sz="138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BFA674B-E32C-B69A-C502-32F770A337D5}"/>
              </a:ext>
            </a:extLst>
          </p:cNvPr>
          <p:cNvSpPr/>
          <p:nvPr/>
        </p:nvSpPr>
        <p:spPr>
          <a:xfrm>
            <a:off x="6217920" y="2834640"/>
            <a:ext cx="47091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050FB07-4806-4D67-98A5-2271E81F78A2}"/>
              </a:ext>
            </a:extLst>
          </p:cNvPr>
          <p:cNvSpPr/>
          <p:nvPr/>
        </p:nvSpPr>
        <p:spPr>
          <a:xfrm>
            <a:off x="6382512" y="2953512"/>
            <a:ext cx="437997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1F2937"/>
                </a:solidFill>
              </a:rPr>
              <a:t>Model</a:t>
            </a:r>
            <a:endParaRPr lang="en-US" sz="1380" dirty="0"/>
          </a:p>
          <a:p>
            <a:pPr marL="0" indent="0" algn="l">
              <a:buNone/>
            </a:pPr>
            <a:r>
              <a:rPr lang="en-US" sz="1380" b="1" dirty="0">
                <a:solidFill>
                  <a:srgbClr val="1F2937"/>
                </a:solidFill>
              </a:rPr>
              <a:t>Algorithm, inputs, split method, and metric</a:t>
            </a:r>
            <a:endParaRPr lang="en-US" sz="138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5AAB7666-C69E-E3B0-0EC2-7E82D02DEA5C}"/>
              </a:ext>
            </a:extLst>
          </p:cNvPr>
          <p:cNvSpPr/>
          <p:nvPr/>
        </p:nvSpPr>
        <p:spPr>
          <a:xfrm>
            <a:off x="868680" y="3840480"/>
            <a:ext cx="47091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FAB7E7D-AF78-8600-FA5B-93B96C48B046}"/>
              </a:ext>
            </a:extLst>
          </p:cNvPr>
          <p:cNvSpPr/>
          <p:nvPr/>
        </p:nvSpPr>
        <p:spPr>
          <a:xfrm>
            <a:off x="1033272" y="3959352"/>
            <a:ext cx="437997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1F2937"/>
                </a:solidFill>
              </a:rPr>
              <a:t>Results</a:t>
            </a:r>
            <a:endParaRPr lang="en-US" sz="1380" dirty="0"/>
          </a:p>
          <a:p>
            <a:pPr marL="0" indent="0" algn="l">
              <a:buNone/>
            </a:pPr>
            <a:r>
              <a:rPr lang="en-US" sz="1380" b="1" dirty="0">
                <a:solidFill>
                  <a:srgbClr val="1F2937"/>
                </a:solidFill>
              </a:rPr>
              <a:t>Performance compared with baseline and observed error pattern</a:t>
            </a:r>
            <a:endParaRPr lang="en-US" sz="138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9719395A-7E88-5D17-30EC-A319037D0071}"/>
              </a:ext>
            </a:extLst>
          </p:cNvPr>
          <p:cNvSpPr/>
          <p:nvPr/>
        </p:nvSpPr>
        <p:spPr>
          <a:xfrm>
            <a:off x="6217920" y="3840480"/>
            <a:ext cx="47091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FF6905B-1C77-8D71-06CE-EB03FC6BFBC7}"/>
              </a:ext>
            </a:extLst>
          </p:cNvPr>
          <p:cNvSpPr/>
          <p:nvPr/>
        </p:nvSpPr>
        <p:spPr>
          <a:xfrm>
            <a:off x="6382512" y="3959352"/>
            <a:ext cx="437997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1F2937"/>
                </a:solidFill>
              </a:rPr>
              <a:t>Limitations</a:t>
            </a:r>
            <a:endParaRPr lang="en-US" sz="1380" dirty="0"/>
          </a:p>
          <a:p>
            <a:pPr marL="0" indent="0" algn="l">
              <a:buNone/>
            </a:pPr>
            <a:r>
              <a:rPr lang="en-US" sz="1380" b="1" dirty="0">
                <a:solidFill>
                  <a:srgbClr val="1F2937"/>
                </a:solidFill>
              </a:rPr>
              <a:t>What should not be concluded and what data are needed next?</a:t>
            </a:r>
            <a:endParaRPr lang="en-US" sz="138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6FC2CFB-B864-902C-4787-50441E05328A}"/>
              </a:ext>
            </a:extLst>
          </p:cNvPr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14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9490799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 prompts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68680" y="1325880"/>
            <a:ext cx="47091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33272" y="1444752"/>
            <a:ext cx="437997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1F2937"/>
                </a:solidFill>
              </a:rPr>
              <a:t>Did the model outperform the baseline?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6217920" y="1325880"/>
            <a:ext cx="4709160" cy="566928"/>
          </a:xfrm>
          <a:prstGeom prst="roundRect">
            <a:avLst>
              <a:gd name="adj" fmla="val 12903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82512" y="1444752"/>
            <a:ext cx="437997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1F2937"/>
                </a:solidFill>
              </a:rPr>
              <a:t>Was the improvement practically meaningful?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868680" y="2194560"/>
            <a:ext cx="47091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33272" y="2313432"/>
            <a:ext cx="437997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1F2937"/>
                </a:solidFill>
              </a:rPr>
              <a:t>Which metric best represents success?</a:t>
            </a:r>
            <a:endParaRPr lang="en-US" sz="1420" dirty="0"/>
          </a:p>
        </p:txBody>
      </p:sp>
      <p:sp>
        <p:nvSpPr>
          <p:cNvPr id="12" name="Shape 10"/>
          <p:cNvSpPr/>
          <p:nvPr/>
        </p:nvSpPr>
        <p:spPr>
          <a:xfrm>
            <a:off x="6217920" y="2194560"/>
            <a:ext cx="4709160" cy="566928"/>
          </a:xfrm>
          <a:prstGeom prst="roundRect">
            <a:avLst>
              <a:gd name="adj" fmla="val 12903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82512" y="2313432"/>
            <a:ext cx="437997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1F2937"/>
                </a:solidFill>
              </a:rPr>
              <a:t>Did the model appear to overfit?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868680" y="3063240"/>
            <a:ext cx="47091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33272" y="3182112"/>
            <a:ext cx="437997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1F2937"/>
                </a:solidFill>
              </a:rPr>
              <a:t>Were any variables likely to introduce leakage?</a:t>
            </a:r>
            <a:endParaRPr lang="en-US" sz="1420" dirty="0"/>
          </a:p>
        </p:txBody>
      </p:sp>
      <p:sp>
        <p:nvSpPr>
          <p:cNvPr id="16" name="Shape 14"/>
          <p:cNvSpPr/>
          <p:nvPr/>
        </p:nvSpPr>
        <p:spPr>
          <a:xfrm>
            <a:off x="6217920" y="3063240"/>
            <a:ext cx="4709160" cy="566928"/>
          </a:xfrm>
          <a:prstGeom prst="roundRect">
            <a:avLst>
              <a:gd name="adj" fmla="val 12903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82512" y="3182112"/>
            <a:ext cx="437997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1F2937"/>
                </a:solidFill>
              </a:rPr>
              <a:t>Would the model generalize to another lab, machine, course, or population?</a:t>
            </a:r>
            <a:endParaRPr lang="en-US" sz="1420" dirty="0"/>
          </a:p>
        </p:txBody>
      </p:sp>
      <p:sp>
        <p:nvSpPr>
          <p:cNvPr id="18" name="Shape 16"/>
          <p:cNvSpPr/>
          <p:nvPr/>
        </p:nvSpPr>
        <p:spPr>
          <a:xfrm>
            <a:off x="868680" y="3931920"/>
            <a:ext cx="47091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33272" y="4050792"/>
            <a:ext cx="437997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1F2937"/>
                </a:solidFill>
              </a:rPr>
              <a:t>What additional data should be collected?</a:t>
            </a:r>
            <a:endParaRPr lang="en-US" sz="1420" dirty="0"/>
          </a:p>
        </p:txBody>
      </p:sp>
      <p:sp>
        <p:nvSpPr>
          <p:cNvPr id="20" name="Shape 18"/>
          <p:cNvSpPr/>
          <p:nvPr/>
        </p:nvSpPr>
        <p:spPr>
          <a:xfrm>
            <a:off x="6217920" y="3931920"/>
            <a:ext cx="4709160" cy="566928"/>
          </a:xfrm>
          <a:prstGeom prst="roundRect">
            <a:avLst>
              <a:gd name="adj" fmla="val 12903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382512" y="4050792"/>
            <a:ext cx="437997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1F2937"/>
                </a:solidFill>
              </a:rPr>
              <a:t>What limitation must be reported?</a:t>
            </a:r>
            <a:endParaRPr lang="en-US" sz="1420" dirty="0"/>
          </a:p>
        </p:txBody>
      </p:sp>
      <p:sp>
        <p:nvSpPr>
          <p:cNvPr id="22" name="Shape 20"/>
          <p:cNvSpPr/>
          <p:nvPr/>
        </p:nvSpPr>
        <p:spPr>
          <a:xfrm>
            <a:off x="960120" y="5596128"/>
            <a:ext cx="10195560" cy="502920"/>
          </a:xfrm>
          <a:prstGeom prst="roundRect">
            <a:avLst>
              <a:gd name="adj" fmla="val 14545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124712" y="5715000"/>
            <a:ext cx="986637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C8102E"/>
                </a:solidFill>
              </a:rPr>
              <a:t>Synthesis: a baseline workflow is a scientific argument about whether the data support a useful prediction.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 5 wrap-up: what you should take forward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07008"/>
            <a:ext cx="103327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A complete first-pass ML workflow should be transparent, reproducible in class, and easy to critique.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1874520"/>
            <a:ext cx="31546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33272" y="1993392"/>
            <a:ext cx="2825496" cy="2267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Before modeling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• Define target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• Define unit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• Select metric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• Inspect data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• Check leakage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26280" y="1874520"/>
            <a:ext cx="31546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90872" y="1993392"/>
            <a:ext cx="2825496" cy="2267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During modeling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• Establish baseline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• Use simple models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• Keep comparison fair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• Evaluate on held-out data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183880" y="1874520"/>
            <a:ext cx="31546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348472" y="1993392"/>
            <a:ext cx="2825496" cy="2267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After modeling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• Interpret errors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• State limitations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• Recommend next data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• Avoid causal overclaims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394960"/>
            <a:ext cx="10332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102E"/>
                </a:solidFill>
              </a:rPr>
              <a:t>Day 3 endpoint: </a:t>
            </a:r>
            <a:r>
              <a:rPr lang="en-US" b="1" dirty="0">
                <a:solidFill>
                  <a:srgbClr val="C8102E"/>
                </a:solidFill>
              </a:rPr>
              <a:t>You </a:t>
            </a:r>
            <a:r>
              <a:rPr lang="en-US" sz="1800" b="1" dirty="0">
                <a:solidFill>
                  <a:srgbClr val="C8102E"/>
                </a:solidFill>
              </a:rPr>
              <a:t>can frame an applied ML problem and run a defensible baseline analysis.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1515</Words>
  <Application>Microsoft Office PowerPoint</Application>
  <PresentationFormat>Widescreen</PresentationFormat>
  <Paragraphs>365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Cascadia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NC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Hands-On Activity: Building a Baseline ML Model</dc:title>
  <dc:subject>Session 5 Applied AI Design Workshop</dc:subject>
  <dc:creator>Fred Livingston</dc:creator>
  <cp:lastModifiedBy>Fred Livingston</cp:lastModifiedBy>
  <cp:revision>9</cp:revision>
  <dcterms:created xsi:type="dcterms:W3CDTF">2026-07-14T20:51:56Z</dcterms:created>
  <dcterms:modified xsi:type="dcterms:W3CDTF">2026-07-15T15:44:29Z</dcterms:modified>
</cp:coreProperties>
</file>