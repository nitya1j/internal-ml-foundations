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9" autoAdjust="0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88" y="3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7292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NC State Engineering -- ANS / Conferences / 2021 Student Conference">
            <a:extLst>
              <a:ext uri="{FF2B5EF4-FFF2-40B4-BE49-F238E27FC236}">
                <a16:creationId xmlns:a16="http://schemas.microsoft.com/office/drawing/2014/main" id="{E5A5C3EF-E580-40D8-42BB-2D19A1EFB0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176537" y="334371"/>
            <a:ext cx="1551223" cy="432403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fjliving@ncsu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7132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102E"/>
                </a:solidFill>
              </a:rPr>
              <a:t>SESSION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13232" y="1170432"/>
            <a:ext cx="6263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F2937"/>
                </a:solidFill>
              </a:rPr>
              <a:t>Hands-On Activity: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1F2937"/>
                </a:solidFill>
              </a:rPr>
              <a:t>Building a Baseline ML Model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13232" y="2487168"/>
            <a:ext cx="6172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</a:rPr>
              <a:t>Dataset inspection • Baselines • Simple models • Metrics • Interpretation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13232" y="31089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</a:rPr>
              <a:t>Applied AI Design Workshop for Faculty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13232" y="34747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Fred Livingston (</a:t>
            </a:r>
            <a:r>
              <a:rPr lang="en-US" sz="1200" dirty="0">
                <a:solidFill>
                  <a:srgbClr val="6B7280"/>
                </a:solidFill>
                <a:hlinkClick r:id="rId3"/>
              </a:rPr>
              <a:t>fjliving@ncsu.edu</a:t>
            </a:r>
            <a:r>
              <a:rPr lang="en-US" sz="1200" dirty="0">
                <a:solidFill>
                  <a:srgbClr val="6B7280"/>
                </a:solidFill>
              </a:rPr>
              <a:t>) 2026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886200"/>
            <a:ext cx="5852160" cy="0"/>
          </a:xfrm>
          <a:prstGeom prst="line">
            <a:avLst/>
          </a:prstGeom>
          <a:noFill/>
          <a:ln w="2794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60920" y="960120"/>
            <a:ext cx="3886200" cy="1051560"/>
          </a:xfrm>
          <a:prstGeom prst="roundRect">
            <a:avLst>
              <a:gd name="adj" fmla="val 6957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525512" y="1078992"/>
            <a:ext cx="3557016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</a:rPr>
              <a:t>Goal: complete one defensible first-pass ML workflow, not just run a model.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60920" y="2395728"/>
            <a:ext cx="388620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525512" y="2514600"/>
            <a:ext cx="3557016" cy="2496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</a:rPr>
              <a:t>Activity outputs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</a:rPr>
              <a:t>• Problem statement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</a:rPr>
              <a:t>• Baseline model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</a:rPr>
              <a:t>• Trained simple model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</a:rPr>
              <a:t>• Initial metrics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</a:rPr>
              <a:t>• Interpretation and limitation statement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Session 5 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737360" y="1234440"/>
            <a:ext cx="76809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F2937"/>
                </a:solidFill>
              </a:rPr>
              <a:t>From engineering problem to ML problem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1627632"/>
            <a:ext cx="99669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737360" y="1874520"/>
            <a:ext cx="76809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F2937"/>
                </a:solidFill>
              </a:rPr>
              <a:t>Classic ML overview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2267712"/>
            <a:ext cx="99669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737360" y="2514600"/>
            <a:ext cx="76809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F2937"/>
                </a:solidFill>
              </a:rPr>
              <a:t>Invited presentation: From Prompts to Agents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31520" y="2907792"/>
            <a:ext cx="99669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737360" y="3154680"/>
            <a:ext cx="76809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F2937"/>
                </a:solidFill>
              </a:rPr>
              <a:t>Break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31520" y="3547872"/>
            <a:ext cx="99669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737360" y="3794760"/>
            <a:ext cx="76809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F2937"/>
                </a:solidFill>
              </a:rPr>
              <a:t>Regression fundamentals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31520" y="4187952"/>
            <a:ext cx="99669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737360" y="4434840"/>
            <a:ext cx="76809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F2937"/>
                </a:solidFill>
              </a:rPr>
              <a:t>Classification fundamentals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31520" y="4828032"/>
            <a:ext cx="99669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737360" y="5074920"/>
            <a:ext cx="76809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Hands-on baseline model activity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31520" y="5468112"/>
            <a:ext cx="996696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9784080" y="1234440"/>
            <a:ext cx="15087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948672" y="1353312"/>
            <a:ext cx="1179576" cy="1307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</a:rPr>
              <a:t>Earlier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</a:rPr>
              <a:t>Problem framing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</a:rPr>
              <a:t>ML task types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784080" y="3246120"/>
            <a:ext cx="1508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948672" y="3364992"/>
            <a:ext cx="1179576" cy="1033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</a:rPr>
              <a:t>Earlier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</a:rPr>
              <a:t>Regression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</a:rPr>
              <a:t>Classification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9784080" y="4919472"/>
            <a:ext cx="1508760" cy="530352"/>
          </a:xfrm>
          <a:prstGeom prst="roundRect">
            <a:avLst>
              <a:gd name="adj" fmla="val 13793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948672" y="5038344"/>
            <a:ext cx="117957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Now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Session 5 learning outcomes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783080"/>
            <a:ext cx="1901952" cy="217627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901952"/>
            <a:ext cx="1572768" cy="1975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60" b="1" dirty="0">
                <a:solidFill>
                  <a:srgbClr val="1F2937"/>
                </a:solidFill>
              </a:rPr>
              <a:t>Inspect</a:t>
            </a:r>
            <a:endParaRPr lang="en-US" sz="1360" dirty="0"/>
          </a:p>
          <a:p>
            <a:pPr marL="0" indent="0" algn="ctr">
              <a:buNone/>
            </a:pPr>
            <a:r>
              <a:rPr lang="en-US" sz="1360" b="1" dirty="0">
                <a:solidFill>
                  <a:srgbClr val="1F2937"/>
                </a:solidFill>
              </a:rPr>
              <a:t>Check rows, variables, types, missing values, and target definition</a:t>
            </a:r>
            <a:endParaRPr lang="en-US" sz="1360" dirty="0"/>
          </a:p>
        </p:txBody>
      </p:sp>
      <p:sp>
        <p:nvSpPr>
          <p:cNvPr id="8" name="Shape 6"/>
          <p:cNvSpPr/>
          <p:nvPr/>
        </p:nvSpPr>
        <p:spPr>
          <a:xfrm>
            <a:off x="2926080" y="1783080"/>
            <a:ext cx="1901952" cy="2176272"/>
          </a:xfrm>
          <a:prstGeom prst="roundRect">
            <a:avLst>
              <a:gd name="adj" fmla="val 3846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090672" y="1901952"/>
            <a:ext cx="1572768" cy="1975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60" b="1" dirty="0">
                <a:solidFill>
                  <a:srgbClr val="1F2937"/>
                </a:solidFill>
              </a:rPr>
              <a:t>Frame</a:t>
            </a:r>
            <a:endParaRPr lang="en-US" sz="1360" dirty="0"/>
          </a:p>
          <a:p>
            <a:pPr marL="0" indent="0" algn="ctr">
              <a:buNone/>
            </a:pPr>
            <a:r>
              <a:rPr lang="en-US" sz="1360" b="1" dirty="0">
                <a:solidFill>
                  <a:srgbClr val="1F2937"/>
                </a:solidFill>
              </a:rPr>
              <a:t>Decide whether the dataset supports regression or classification</a:t>
            </a:r>
            <a:endParaRPr lang="en-US" sz="1360" dirty="0"/>
          </a:p>
        </p:txBody>
      </p:sp>
      <p:sp>
        <p:nvSpPr>
          <p:cNvPr id="10" name="Shape 8"/>
          <p:cNvSpPr/>
          <p:nvPr/>
        </p:nvSpPr>
        <p:spPr>
          <a:xfrm>
            <a:off x="5193792" y="1783080"/>
            <a:ext cx="1901952" cy="217627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58384" y="1901952"/>
            <a:ext cx="1572768" cy="1975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60" b="1" dirty="0">
                <a:solidFill>
                  <a:srgbClr val="1F2937"/>
                </a:solidFill>
              </a:rPr>
              <a:t>Baseline</a:t>
            </a:r>
            <a:endParaRPr lang="en-US" sz="1360" dirty="0"/>
          </a:p>
          <a:p>
            <a:pPr marL="0" indent="0" algn="ctr">
              <a:buNone/>
            </a:pPr>
            <a:r>
              <a:rPr lang="en-US" sz="1360" b="1" dirty="0">
                <a:solidFill>
                  <a:srgbClr val="1F2937"/>
                </a:solidFill>
              </a:rPr>
              <a:t>Establish a simple comparison model before training anything complex</a:t>
            </a:r>
            <a:endParaRPr lang="en-US" sz="1360" dirty="0"/>
          </a:p>
        </p:txBody>
      </p:sp>
      <p:sp>
        <p:nvSpPr>
          <p:cNvPr id="12" name="Shape 10"/>
          <p:cNvSpPr/>
          <p:nvPr/>
        </p:nvSpPr>
        <p:spPr>
          <a:xfrm>
            <a:off x="7461504" y="1783080"/>
            <a:ext cx="1901952" cy="2176272"/>
          </a:xfrm>
          <a:prstGeom prst="roundRect">
            <a:avLst>
              <a:gd name="adj" fmla="val 3846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626096" y="1901952"/>
            <a:ext cx="1572768" cy="1975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60" b="1" dirty="0">
                <a:solidFill>
                  <a:srgbClr val="1F2937"/>
                </a:solidFill>
              </a:rPr>
              <a:t>Train</a:t>
            </a:r>
            <a:endParaRPr lang="en-US" sz="1360" dirty="0"/>
          </a:p>
          <a:p>
            <a:pPr marL="0" indent="0" algn="ctr">
              <a:buNone/>
            </a:pPr>
            <a:r>
              <a:rPr lang="en-US" sz="1360" b="1" dirty="0">
                <a:solidFill>
                  <a:srgbClr val="1F2937"/>
                </a:solidFill>
              </a:rPr>
              <a:t>Fit one or two simple models using a transparent workflow</a:t>
            </a:r>
            <a:endParaRPr lang="en-US" sz="1360" dirty="0"/>
          </a:p>
        </p:txBody>
      </p:sp>
      <p:sp>
        <p:nvSpPr>
          <p:cNvPr id="14" name="Shape 12"/>
          <p:cNvSpPr/>
          <p:nvPr/>
        </p:nvSpPr>
        <p:spPr>
          <a:xfrm>
            <a:off x="9729216" y="1783080"/>
            <a:ext cx="1901952" cy="217627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893808" y="1901952"/>
            <a:ext cx="1572768" cy="1975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60" b="1" dirty="0">
                <a:solidFill>
                  <a:srgbClr val="1F2937"/>
                </a:solidFill>
              </a:rPr>
              <a:t>Interpret</a:t>
            </a:r>
            <a:endParaRPr lang="en-US" sz="1360" dirty="0"/>
          </a:p>
          <a:p>
            <a:pPr marL="0" indent="0" algn="ctr">
              <a:buNone/>
            </a:pPr>
            <a:r>
              <a:rPr lang="en-US" sz="1360" b="1" dirty="0">
                <a:solidFill>
                  <a:srgbClr val="1F2937"/>
                </a:solidFill>
              </a:rPr>
              <a:t>Compare metrics, identify limitations, and recommend a next step</a:t>
            </a:r>
            <a:endParaRPr lang="en-US" sz="1360" dirty="0"/>
          </a:p>
        </p:txBody>
      </p:sp>
      <p:sp>
        <p:nvSpPr>
          <p:cNvPr id="16" name="Text 14"/>
          <p:cNvSpPr/>
          <p:nvPr/>
        </p:nvSpPr>
        <p:spPr>
          <a:xfrm>
            <a:off x="960120" y="5138928"/>
            <a:ext cx="10058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8102E"/>
                </a:solidFill>
              </a:rPr>
              <a:t>Participant output: a concise model card for a first-pass baseline ML analysis.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Activity roadmap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1444752" cy="1143000"/>
          </a:xfrm>
          <a:prstGeom prst="roundRect">
            <a:avLst>
              <a:gd name="adj" fmla="val 6400"/>
            </a:avLst>
          </a:prstGeom>
          <a:solidFill>
            <a:srgbClr val="FEF2F2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4672" y="1947672"/>
            <a:ext cx="1115568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40" b="1" dirty="0">
                <a:solidFill>
                  <a:srgbClr val="C8102E"/>
                </a:solidFill>
              </a:rPr>
              <a:t>Define</a:t>
            </a:r>
            <a:endParaRPr lang="en-US" sz="1340" dirty="0"/>
          </a:p>
        </p:txBody>
      </p:sp>
      <p:sp>
        <p:nvSpPr>
          <p:cNvPr id="8" name="Text 6"/>
          <p:cNvSpPr/>
          <p:nvPr/>
        </p:nvSpPr>
        <p:spPr>
          <a:xfrm>
            <a:off x="548640" y="3246120"/>
            <a:ext cx="162763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280"/>
                </a:solidFill>
              </a:rPr>
              <a:t>Target, inputs, task, metric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130552" y="2395728"/>
            <a:ext cx="338328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514600" y="1828800"/>
            <a:ext cx="1444752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679192" y="1947672"/>
            <a:ext cx="1115568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40" b="1" dirty="0">
                <a:solidFill>
                  <a:srgbClr val="1F2937"/>
                </a:solidFill>
              </a:rPr>
              <a:t>Inspect</a:t>
            </a:r>
            <a:endParaRPr lang="en-US" sz="1340" dirty="0"/>
          </a:p>
        </p:txBody>
      </p:sp>
      <p:sp>
        <p:nvSpPr>
          <p:cNvPr id="12" name="Text 10"/>
          <p:cNvSpPr/>
          <p:nvPr/>
        </p:nvSpPr>
        <p:spPr>
          <a:xfrm>
            <a:off x="2423160" y="3246120"/>
            <a:ext cx="162763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280"/>
                </a:solidFill>
              </a:rPr>
              <a:t>Rows, missing values, types, leakage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005072" y="2395728"/>
            <a:ext cx="338328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389120" y="1828800"/>
            <a:ext cx="1444752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53712" y="1947672"/>
            <a:ext cx="1115568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40" b="1" dirty="0">
                <a:solidFill>
                  <a:srgbClr val="1F2937"/>
                </a:solidFill>
              </a:rPr>
              <a:t>Baseline</a:t>
            </a:r>
            <a:endParaRPr lang="en-US" sz="1340" dirty="0"/>
          </a:p>
        </p:txBody>
      </p:sp>
      <p:sp>
        <p:nvSpPr>
          <p:cNvPr id="16" name="Text 14"/>
          <p:cNvSpPr/>
          <p:nvPr/>
        </p:nvSpPr>
        <p:spPr>
          <a:xfrm>
            <a:off x="4297680" y="3246120"/>
            <a:ext cx="162763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280"/>
                </a:solidFill>
              </a:rPr>
              <a:t>Mean/median or majority class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879592" y="2395728"/>
            <a:ext cx="338328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63640" y="1828800"/>
            <a:ext cx="1444752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28232" y="1947672"/>
            <a:ext cx="1115568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40" b="1" dirty="0">
                <a:solidFill>
                  <a:srgbClr val="1F2937"/>
                </a:solidFill>
              </a:rPr>
              <a:t>Train</a:t>
            </a:r>
            <a:endParaRPr lang="en-US" sz="1340" dirty="0"/>
          </a:p>
        </p:txBody>
      </p:sp>
      <p:sp>
        <p:nvSpPr>
          <p:cNvPr id="20" name="Text 18"/>
          <p:cNvSpPr/>
          <p:nvPr/>
        </p:nvSpPr>
        <p:spPr>
          <a:xfrm>
            <a:off x="6172200" y="3246120"/>
            <a:ext cx="162763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280"/>
                </a:solidFill>
              </a:rPr>
              <a:t>Simple model pair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754112" y="2395728"/>
            <a:ext cx="338328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138160" y="1828800"/>
            <a:ext cx="1444752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302752" y="1947672"/>
            <a:ext cx="1115568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40" b="1" dirty="0">
                <a:solidFill>
                  <a:srgbClr val="1F2937"/>
                </a:solidFill>
              </a:rPr>
              <a:t>Evaluate</a:t>
            </a:r>
            <a:endParaRPr lang="en-US" sz="1340" dirty="0"/>
          </a:p>
        </p:txBody>
      </p:sp>
      <p:sp>
        <p:nvSpPr>
          <p:cNvPr id="24" name="Text 22"/>
          <p:cNvSpPr/>
          <p:nvPr/>
        </p:nvSpPr>
        <p:spPr>
          <a:xfrm>
            <a:off x="8046720" y="3246120"/>
            <a:ext cx="162763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280"/>
                </a:solidFill>
              </a:rPr>
              <a:t>Metrics and error patterns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9628632" y="2395728"/>
            <a:ext cx="338328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0012680" y="1828800"/>
            <a:ext cx="1444752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177272" y="1947672"/>
            <a:ext cx="1115568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40" b="1" dirty="0">
                <a:solidFill>
                  <a:srgbClr val="1F2937"/>
                </a:solidFill>
              </a:rPr>
              <a:t>Interpret</a:t>
            </a:r>
            <a:endParaRPr lang="en-US" sz="1340" dirty="0"/>
          </a:p>
        </p:txBody>
      </p:sp>
      <p:sp>
        <p:nvSpPr>
          <p:cNvPr id="28" name="Text 26"/>
          <p:cNvSpPr/>
          <p:nvPr/>
        </p:nvSpPr>
        <p:spPr>
          <a:xfrm>
            <a:off x="9921240" y="3246120"/>
            <a:ext cx="162763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6B7280"/>
                </a:solidFill>
              </a:rPr>
              <a:t>Limitations and next step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960120" y="4828032"/>
            <a:ext cx="101955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124712" y="4946904"/>
            <a:ext cx="986637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</a:rPr>
              <a:t>The purpose is to practice a complete, defensible workflow, </a:t>
            </a:r>
            <a:r>
              <a:rPr lang="en-US" sz="1800" b="1" dirty="0">
                <a:solidFill>
                  <a:srgbClr val="FF0000"/>
                </a:solidFill>
              </a:rPr>
              <a:t>not to optimize model performance.</a:t>
            </a: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Process Run Quality Dataset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207008"/>
            <a:ext cx="102412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</a:rPr>
              <a:t>A compact engineering dataset to practice the full workflow without domain-specific software barriers.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847088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102E"/>
                </a:solidFill>
              </a:rPr>
              <a:t>Run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645920" y="1847088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102E"/>
                </a:solidFill>
              </a:rPr>
              <a:t>Temp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60320" y="1847088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102E"/>
                </a:solidFill>
              </a:rPr>
              <a:t>Speed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0" y="1847088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102E"/>
                </a:solidFill>
              </a:rPr>
              <a:t>Vibration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89120" y="1847088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102E"/>
                </a:solidFill>
              </a:rPr>
              <a:t>Material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03520" y="1847088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102E"/>
                </a:solidFill>
              </a:rPr>
              <a:t>Yield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17920" y="1847088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102E"/>
                </a:solidFill>
              </a:rPr>
              <a:t>Pass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226771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45920" y="226771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185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60320" y="226771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42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74720" y="226771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0.18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89120" y="226771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03520" y="226771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88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0" y="226771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Yes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" y="2542032"/>
            <a:ext cx="6537960" cy="0"/>
          </a:xfrm>
          <a:prstGeom prst="line">
            <a:avLst/>
          </a:prstGeom>
          <a:noFill/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1520" y="267919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645920" y="267919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190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560320" y="267919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46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74720" y="267919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0.35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389120" y="267919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B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03520" y="267919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72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17920" y="267919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No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85800" y="2953512"/>
            <a:ext cx="6537960" cy="0"/>
          </a:xfrm>
          <a:prstGeom prst="line">
            <a:avLst/>
          </a:prstGeom>
          <a:noFill/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31520" y="309067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645920" y="309067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174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560320" y="309067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39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474720" y="309067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0.22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389120" y="309067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A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03520" y="309067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91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217920" y="309067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Yes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85800" y="3364992"/>
            <a:ext cx="6537960" cy="0"/>
          </a:xfrm>
          <a:prstGeom prst="line">
            <a:avLst/>
          </a:prstGeom>
          <a:noFill/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31520" y="350215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4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645920" y="350215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205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2560320" y="350215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52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474720" y="350215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0.48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389120" y="350215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C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303520" y="350215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61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217920" y="350215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No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85800" y="3776472"/>
            <a:ext cx="6537960" cy="0"/>
          </a:xfrm>
          <a:prstGeom prst="line">
            <a:avLst/>
          </a:prstGeom>
          <a:noFill/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31520" y="391363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5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645920" y="391363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198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2560320" y="391363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44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3474720" y="391363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0.20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389120" y="391363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B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303520" y="391363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86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217920" y="3913632"/>
            <a:ext cx="786384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Yes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85800" y="4187952"/>
            <a:ext cx="6537960" cy="0"/>
          </a:xfrm>
          <a:prstGeom prst="line">
            <a:avLst/>
          </a:prstGeom>
          <a:noFill/>
          <a:ln w="889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7635240" y="1783080"/>
            <a:ext cx="3520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7799832" y="1901952"/>
            <a:ext cx="319125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937"/>
                </a:solidFill>
              </a:rPr>
              <a:t>Regression option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F2937"/>
                </a:solidFill>
              </a:rPr>
              <a:t>Predict continuous yield.</a:t>
            </a:r>
            <a:endParaRPr lang="en-US" sz="1700" dirty="0"/>
          </a:p>
        </p:txBody>
      </p:sp>
      <p:sp>
        <p:nvSpPr>
          <p:cNvPr id="56" name="Shape 54"/>
          <p:cNvSpPr/>
          <p:nvPr/>
        </p:nvSpPr>
        <p:spPr>
          <a:xfrm>
            <a:off x="7635240" y="3063240"/>
            <a:ext cx="3520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7799832" y="3182112"/>
            <a:ext cx="319125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937"/>
                </a:solidFill>
              </a:rPr>
              <a:t>Classification option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F2937"/>
                </a:solidFill>
              </a:rPr>
              <a:t>Predict pass/fail quality.</a:t>
            </a:r>
            <a:endParaRPr lang="en-US" sz="1700" dirty="0"/>
          </a:p>
        </p:txBody>
      </p:sp>
      <p:sp>
        <p:nvSpPr>
          <p:cNvPr id="58" name="Shape 56"/>
          <p:cNvSpPr/>
          <p:nvPr/>
        </p:nvSpPr>
        <p:spPr>
          <a:xfrm>
            <a:off x="7635240" y="4343400"/>
            <a:ext cx="3520440" cy="9144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7799832" y="4462272"/>
            <a:ext cx="319125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8102E"/>
                </a:solidFill>
              </a:rPr>
              <a:t>Baseline required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C8102E"/>
                </a:solidFill>
              </a:rPr>
              <a:t>Compare against simplest useful rule.</a:t>
            </a:r>
            <a:endParaRPr lang="en-US" sz="1700" dirty="0"/>
          </a:p>
        </p:txBody>
      </p:sp>
      <p:sp>
        <p:nvSpPr>
          <p:cNvPr id="60" name="Text 58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1: define the problem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207008"/>
            <a:ext cx="102412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</a:rPr>
              <a:t>Start by writing down what the model is expected to predict and how success will be judged.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1828800"/>
            <a:ext cx="29718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33272" y="1947672"/>
            <a:ext cx="2642616" cy="1993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Decision or prediction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What question should the model answer?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Example: Will this run pass quality inspection?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160520" y="1828800"/>
            <a:ext cx="29718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25112" y="1947672"/>
            <a:ext cx="2642616" cy="1993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Unit of observation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What is one row?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Example: one process run, part, student, machine cycle, sample, or day.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452360" y="1828800"/>
            <a:ext cx="29718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616952" y="1947672"/>
            <a:ext cx="2642616" cy="1993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Metric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What score reflects success?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Example: recall if missed defects are costly; MAE if error magnitude matters.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60120" y="4983480"/>
            <a:ext cx="10195560" cy="594360"/>
          </a:xfrm>
          <a:prstGeom prst="roundRect">
            <a:avLst>
              <a:gd name="adj" fmla="val 12308"/>
            </a:avLst>
          </a:prstGeom>
          <a:solidFill>
            <a:srgbClr val="FEF2F2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24712" y="5102352"/>
            <a:ext cx="986637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8102E"/>
                </a:solidFill>
              </a:rPr>
              <a:t>one sentence problem statement + selected metric + baseline choice.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2: inspect the data before modeling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207008"/>
            <a:ext cx="102412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</a:rPr>
              <a:t>A baseline model is only meaningful if the dataset has been checked for basic validity.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1828800"/>
            <a:ext cx="47091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33272" y="1947672"/>
            <a:ext cx="437997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360" b="1" dirty="0">
                <a:solidFill>
                  <a:srgbClr val="1F2937"/>
                </a:solidFill>
              </a:rPr>
              <a:t>Rows and columns</a:t>
            </a:r>
            <a:endParaRPr lang="en-US" sz="1360" dirty="0"/>
          </a:p>
          <a:p>
            <a:pPr marL="0" indent="0" algn="l">
              <a:buNone/>
            </a:pPr>
            <a:r>
              <a:rPr lang="en-US" sz="1360" b="1" dirty="0">
                <a:solidFill>
                  <a:srgbClr val="1F2937"/>
                </a:solidFill>
              </a:rPr>
              <a:t>Do we have enough observations for the number of variables?</a:t>
            </a:r>
            <a:endParaRPr lang="en-US" sz="136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47091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382512" y="1947672"/>
            <a:ext cx="437997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360" b="1" dirty="0">
                <a:solidFill>
                  <a:srgbClr val="1F2937"/>
                </a:solidFill>
              </a:rPr>
              <a:t>Data types</a:t>
            </a:r>
            <a:endParaRPr lang="en-US" sz="1360" dirty="0"/>
          </a:p>
          <a:p>
            <a:pPr marL="0" indent="0" algn="l">
              <a:buNone/>
            </a:pPr>
            <a:r>
              <a:rPr lang="en-US" sz="1360" b="1" dirty="0">
                <a:solidFill>
                  <a:srgbClr val="1F2937"/>
                </a:solidFill>
              </a:rPr>
              <a:t>Which features are numerical, categorical, date/time, or text?</a:t>
            </a:r>
            <a:endParaRPr lang="en-US" sz="1360" dirty="0"/>
          </a:p>
        </p:txBody>
      </p:sp>
      <p:sp>
        <p:nvSpPr>
          <p:cNvPr id="11" name="Shape 9"/>
          <p:cNvSpPr/>
          <p:nvPr/>
        </p:nvSpPr>
        <p:spPr>
          <a:xfrm>
            <a:off x="868680" y="2834640"/>
            <a:ext cx="47091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33272" y="2953512"/>
            <a:ext cx="437997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1360" b="1" dirty="0">
                <a:solidFill>
                  <a:srgbClr val="1F2937"/>
                </a:solidFill>
              </a:rPr>
              <a:t>Missing values</a:t>
            </a:r>
            <a:endParaRPr lang="en-US" sz="1360" dirty="0"/>
          </a:p>
          <a:p>
            <a:pPr marL="0" indent="0" algn="l">
              <a:buNone/>
            </a:pPr>
            <a:r>
              <a:rPr lang="en-US" sz="1360" b="1" dirty="0">
                <a:solidFill>
                  <a:srgbClr val="1F2937"/>
                </a:solidFill>
              </a:rPr>
              <a:t>Are values missing randomly, systematically, or by design?</a:t>
            </a:r>
            <a:endParaRPr lang="en-US" sz="1360" dirty="0"/>
          </a:p>
        </p:txBody>
      </p:sp>
      <p:sp>
        <p:nvSpPr>
          <p:cNvPr id="13" name="Shape 11"/>
          <p:cNvSpPr/>
          <p:nvPr/>
        </p:nvSpPr>
        <p:spPr>
          <a:xfrm>
            <a:off x="6217920" y="2834640"/>
            <a:ext cx="47091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82512" y="2953512"/>
            <a:ext cx="437997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360" b="1" dirty="0">
                <a:solidFill>
                  <a:srgbClr val="1F2937"/>
                </a:solidFill>
              </a:rPr>
              <a:t>Target definition</a:t>
            </a:r>
            <a:endParaRPr lang="en-US" sz="1360" dirty="0"/>
          </a:p>
          <a:p>
            <a:pPr marL="0" indent="0" algn="l">
              <a:buNone/>
            </a:pPr>
            <a:r>
              <a:rPr lang="en-US" sz="1360" b="1" dirty="0">
                <a:solidFill>
                  <a:srgbClr val="1F2937"/>
                </a:solidFill>
              </a:rPr>
              <a:t>Is the target measurable, consistent, and available after the prediction point?</a:t>
            </a:r>
            <a:endParaRPr lang="en-US" sz="1360" dirty="0"/>
          </a:p>
        </p:txBody>
      </p:sp>
      <p:sp>
        <p:nvSpPr>
          <p:cNvPr id="15" name="Shape 13"/>
          <p:cNvSpPr/>
          <p:nvPr/>
        </p:nvSpPr>
        <p:spPr>
          <a:xfrm>
            <a:off x="868680" y="3840480"/>
            <a:ext cx="47091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33272" y="3959352"/>
            <a:ext cx="437997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1360" b="1" dirty="0">
                <a:solidFill>
                  <a:srgbClr val="1F2937"/>
                </a:solidFill>
              </a:rPr>
              <a:t>Leakage risk</a:t>
            </a:r>
            <a:endParaRPr lang="en-US" sz="1360" dirty="0"/>
          </a:p>
          <a:p>
            <a:pPr marL="0" indent="0" algn="l">
              <a:buNone/>
            </a:pPr>
            <a:r>
              <a:rPr lang="en-US" sz="1360" b="1" dirty="0">
                <a:solidFill>
                  <a:srgbClr val="1F2937"/>
                </a:solidFill>
              </a:rPr>
              <a:t>Would any input reveal the answer too directly or too late?</a:t>
            </a:r>
            <a:endParaRPr lang="en-US" sz="1360" dirty="0"/>
          </a:p>
        </p:txBody>
      </p:sp>
      <p:sp>
        <p:nvSpPr>
          <p:cNvPr id="17" name="Shape 15"/>
          <p:cNvSpPr/>
          <p:nvPr/>
        </p:nvSpPr>
        <p:spPr>
          <a:xfrm>
            <a:off x="6217920" y="3840480"/>
            <a:ext cx="47091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382512" y="3959352"/>
            <a:ext cx="437997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60" b="1" dirty="0">
                <a:solidFill>
                  <a:srgbClr val="1F2937"/>
                </a:solidFill>
              </a:rPr>
              <a:t>Split strategy</a:t>
            </a:r>
            <a:endParaRPr lang="en-US" sz="1360" dirty="0"/>
          </a:p>
          <a:p>
            <a:pPr marL="0" indent="0" algn="l">
              <a:buNone/>
            </a:pPr>
            <a:r>
              <a:rPr lang="en-US" sz="1360" b="1" dirty="0">
                <a:solidFill>
                  <a:srgbClr val="1F2937"/>
                </a:solidFill>
              </a:rPr>
              <a:t>Should the data be split randomly, by group, or by time?</a:t>
            </a:r>
            <a:endParaRPr lang="en-US" sz="1360" dirty="0"/>
          </a:p>
        </p:txBody>
      </p:sp>
      <p:sp>
        <p:nvSpPr>
          <p:cNvPr id="19" name="Text 17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Mini-lesson: data leakage can invalidate results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207008"/>
            <a:ext cx="102412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</a:rPr>
              <a:t>Leakage occurs when the model uses information that would not be available at the time of prediction.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1874520"/>
            <a:ext cx="3154680" cy="2423160"/>
          </a:xfrm>
          <a:prstGeom prst="roundRect">
            <a:avLst>
              <a:gd name="adj" fmla="val 3019"/>
            </a:avLst>
          </a:prstGeom>
          <a:solidFill>
            <a:srgbClr val="FEF2F2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33272" y="1993392"/>
            <a:ext cx="2825496" cy="2221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8102E"/>
                </a:solidFill>
              </a:rPr>
              <a:t>Example leakage feature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C8102E"/>
                </a:solidFill>
              </a:rPr>
              <a:t>Final inspection score included as an input when predicting pass/fail quality.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C8102E"/>
                </a:solidFill>
              </a:rPr>
              <a:t>The model is effectively seeing the answer.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26280" y="1874520"/>
            <a:ext cx="315468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90872" y="1993392"/>
            <a:ext cx="2825496" cy="2221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Time leakage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Using future sensor readings when predicting an earlier failure or yield.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The timeline is broken.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83880" y="1874520"/>
            <a:ext cx="315468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348472" y="1993392"/>
            <a:ext cx="2825496" cy="2221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Group leakage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Samples from the same subject, machine, or batch appear in both train and test sets.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The test set is too familiar.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5303520"/>
            <a:ext cx="103327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937"/>
                </a:solidFill>
              </a:rPr>
              <a:t>Activity: Identify one variable that could cause leakage and justify keeping or removing it.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3: establish the baseline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207008"/>
            <a:ext cx="1042416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</a:rPr>
              <a:t>The baseline answers: what performance can we get with a simple, transparent rule?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1874520"/>
            <a:ext cx="31089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33272" y="1993392"/>
            <a:ext cx="2779776" cy="2130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Regression baseline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Predict the training-set mean or median.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Metrics: MAE, RMSE, R² relative to simple prediction.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26280" y="1874520"/>
            <a:ext cx="310896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90872" y="1993392"/>
            <a:ext cx="2779776" cy="2130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Classification baseline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Predict the majority class or current rule.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Metrics: confusion matrix, accuracy, precision, recall, F1.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83880" y="1874520"/>
            <a:ext cx="3108960" cy="2331720"/>
          </a:xfrm>
          <a:prstGeom prst="roundRect">
            <a:avLst>
              <a:gd name="adj" fmla="val 3137"/>
            </a:avLst>
          </a:prstGeom>
          <a:solidFill>
            <a:srgbClr val="FEF2F2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348472" y="1993392"/>
            <a:ext cx="2779776" cy="2130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8102E"/>
                </a:solidFill>
              </a:rPr>
              <a:t>Why it matters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C8102E"/>
                </a:solidFill>
              </a:rPr>
              <a:t>A model that does not beat the baseline should not be treated as useful, even if it is complex.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4: train simple models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207008"/>
            <a:ext cx="103327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</a:rPr>
              <a:t>Use simple, interpretable models first. The goal is to understand the problem before chasing accuracy.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1828800"/>
            <a:ext cx="301752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33272" y="1947672"/>
            <a:ext cx="2688336" cy="2404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Regression path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1. Mean baseline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2. Linear regression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3. Decision-tree regression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Compare training and test error.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0" y="1828800"/>
            <a:ext cx="301752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36592" y="1947672"/>
            <a:ext cx="2688336" cy="2404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Classification path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1. Majority baseline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2. Logistic regression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3. Decision tree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Compare confusion matrices.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75320" y="1828800"/>
            <a:ext cx="3017520" cy="2606040"/>
          </a:xfrm>
          <a:prstGeom prst="roundRect">
            <a:avLst>
              <a:gd name="adj" fmla="val 2807"/>
            </a:avLst>
          </a:prstGeom>
          <a:solidFill>
            <a:srgbClr val="FEF2F2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439912" y="1947672"/>
            <a:ext cx="2688336" cy="2404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C8102E"/>
                </a:solidFill>
              </a:rPr>
              <a:t>Model discipline</a:t>
            </a:r>
            <a:endParaRPr lang="en-US" sz="1550" dirty="0"/>
          </a:p>
          <a:p>
            <a:pPr marL="0" indent="0" algn="l">
              <a:buNone/>
            </a:pPr>
            <a:endParaRPr lang="en-US" sz="1550" dirty="0"/>
          </a:p>
          <a:p>
            <a:pPr marL="0" indent="0" algn="l">
              <a:buNone/>
            </a:pPr>
            <a:r>
              <a:rPr lang="en-US" sz="1550" b="1" dirty="0">
                <a:solidFill>
                  <a:srgbClr val="C8102E"/>
                </a:solidFill>
              </a:rPr>
              <a:t>Use the same split, same inputs, and same target for each comparison.</a:t>
            </a:r>
            <a:endParaRPr lang="en-US" sz="1550" dirty="0"/>
          </a:p>
          <a:p>
            <a:pPr marL="0" indent="0" algn="l">
              <a:buNone/>
            </a:pPr>
            <a:endParaRPr lang="en-US" sz="1550" dirty="0"/>
          </a:p>
          <a:p>
            <a:pPr marL="0" indent="0" algn="l">
              <a:buNone/>
            </a:pPr>
            <a:r>
              <a:rPr lang="en-US" sz="1550" b="1" dirty="0">
                <a:solidFill>
                  <a:srgbClr val="C8102E"/>
                </a:solidFill>
              </a:rPr>
              <a:t>Change one thing at a time.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5: evaluate results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207008"/>
            <a:ext cx="102412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</a:rPr>
              <a:t>Evaluation should answer both “How well did it predict?” and “What kinds of errors did it make?”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1828800"/>
            <a:ext cx="13716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8102E"/>
                </a:solidFill>
              </a:rPr>
              <a:t>Regression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514600" y="1828800"/>
            <a:ext cx="12344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937"/>
                </a:solidFill>
              </a:rPr>
              <a:t>MAE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977640" y="1828800"/>
            <a:ext cx="6812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B7280"/>
                </a:solidFill>
              </a:rPr>
              <a:t>Average absolute error in original units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2121408"/>
            <a:ext cx="10424160" cy="0"/>
          </a:xfrm>
          <a:prstGeom prst="line">
            <a:avLst/>
          </a:prstGeom>
          <a:noFill/>
          <a:ln w="825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2359152"/>
            <a:ext cx="13716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8102E"/>
                </a:solidFill>
              </a:rPr>
              <a:t>Regression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14600" y="2359152"/>
            <a:ext cx="12344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937"/>
                </a:solidFill>
              </a:rPr>
              <a:t>RMSE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977640" y="2359152"/>
            <a:ext cx="6812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B7280"/>
                </a:solidFill>
              </a:rPr>
              <a:t>Penalizes larger errors more strongly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2651760"/>
            <a:ext cx="10424160" cy="0"/>
          </a:xfrm>
          <a:prstGeom prst="line">
            <a:avLst/>
          </a:prstGeom>
          <a:noFill/>
          <a:ln w="825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0" y="2889504"/>
            <a:ext cx="13716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8102E"/>
                </a:solidFill>
              </a:rPr>
              <a:t>Regression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14600" y="2889504"/>
            <a:ext cx="12344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937"/>
                </a:solidFill>
              </a:rPr>
              <a:t>R²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977640" y="2889504"/>
            <a:ext cx="6812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B7280"/>
                </a:solidFill>
              </a:rPr>
              <a:t>Fraction of target variation explained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22960" y="3182112"/>
            <a:ext cx="10424160" cy="0"/>
          </a:xfrm>
          <a:prstGeom prst="line">
            <a:avLst/>
          </a:prstGeom>
          <a:noFill/>
          <a:ln w="825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68680" y="3419856"/>
            <a:ext cx="13716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8102E"/>
                </a:solidFill>
              </a:rPr>
              <a:t>Classification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514600" y="3419856"/>
            <a:ext cx="12344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937"/>
                </a:solidFill>
              </a:rPr>
              <a:t>Accuracy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977640" y="3419856"/>
            <a:ext cx="6812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B7280"/>
                </a:solidFill>
              </a:rPr>
              <a:t>Overall percent correct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22960" y="3712464"/>
            <a:ext cx="10424160" cy="0"/>
          </a:xfrm>
          <a:prstGeom prst="line">
            <a:avLst/>
          </a:prstGeom>
          <a:noFill/>
          <a:ln w="825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68680" y="3950208"/>
            <a:ext cx="13716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8102E"/>
                </a:solidFill>
              </a:rPr>
              <a:t>Classification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514600" y="3950208"/>
            <a:ext cx="12344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937"/>
                </a:solidFill>
              </a:rPr>
              <a:t>Recall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977640" y="3950208"/>
            <a:ext cx="6812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B7280"/>
                </a:solidFill>
              </a:rPr>
              <a:t>Fraction of important positives detected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22960" y="4242816"/>
            <a:ext cx="10424160" cy="0"/>
          </a:xfrm>
          <a:prstGeom prst="line">
            <a:avLst/>
          </a:prstGeom>
          <a:noFill/>
          <a:ln w="825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68680" y="4480560"/>
            <a:ext cx="13716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8102E"/>
                </a:solidFill>
              </a:rPr>
              <a:t>Classification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514600" y="4480560"/>
            <a:ext cx="12344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937"/>
                </a:solidFill>
              </a:rPr>
              <a:t>Precision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977640" y="4480560"/>
            <a:ext cx="6812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B7280"/>
                </a:solidFill>
              </a:rPr>
              <a:t>Fraction of predicted positives that were correct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22960" y="4773168"/>
            <a:ext cx="10424160" cy="0"/>
          </a:xfrm>
          <a:prstGeom prst="line">
            <a:avLst/>
          </a:prstGeom>
          <a:noFill/>
          <a:ln w="825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960120" y="5532120"/>
            <a:ext cx="10195560" cy="502920"/>
          </a:xfrm>
          <a:prstGeom prst="roundRect">
            <a:avLst>
              <a:gd name="adj" fmla="val 14545"/>
            </a:avLst>
          </a:prstGeom>
          <a:solidFill>
            <a:srgbClr val="FEF2F2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124712" y="5650992"/>
            <a:ext cx="986637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8102E"/>
                </a:solidFill>
              </a:rPr>
              <a:t>Metric choice should reflect the practical consequence of the error, not just mathematical convenience.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5 continued: inspect error patterns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207008"/>
            <a:ext cx="103327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</a:rPr>
              <a:t>A first model is most valuable when it shows where the data or problem formulation needs improvement.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4709160"/>
            <a:ext cx="3840480" cy="0"/>
          </a:xfrm>
          <a:prstGeom prst="line">
            <a:avLst/>
          </a:prstGeom>
          <a:noFill/>
          <a:ln w="1397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68680" y="4709160"/>
            <a:ext cx="0" cy="0"/>
          </a:xfrm>
          <a:prstGeom prst="line">
            <a:avLst/>
          </a:prstGeom>
          <a:noFill/>
          <a:ln w="1397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97280" y="4114800"/>
            <a:ext cx="109728" cy="10972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554480" y="3749040"/>
            <a:ext cx="109728" cy="10972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920240" y="4023360"/>
            <a:ext cx="109728" cy="10972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468880" y="3383280"/>
            <a:ext cx="109728" cy="10972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926080" y="3611880"/>
            <a:ext cx="109728" cy="10972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474720" y="2971800"/>
            <a:ext cx="109728" cy="10972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114800" y="3154680"/>
            <a:ext cx="109728" cy="10972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691640" y="5010912"/>
            <a:ext cx="11887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Residuals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212080" y="219456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FEF2F2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376672" y="2313432"/>
            <a:ext cx="76809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102E"/>
                </a:solidFill>
              </a:rPr>
              <a:t>TP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0" y="219456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565392" y="2313432"/>
            <a:ext cx="76809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A580C"/>
                </a:solidFill>
              </a:rPr>
              <a:t>FN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212080" y="288036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376672" y="2999232"/>
            <a:ext cx="76809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</a:rPr>
              <a:t>FP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0" y="288036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565392" y="2999232"/>
            <a:ext cx="76809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A34A"/>
                </a:solidFill>
              </a:rPr>
              <a:t>TN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366760" y="1874520"/>
            <a:ext cx="2743200" cy="2350008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485632" y="2136605"/>
            <a:ext cx="2505456" cy="1719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Questions</a:t>
            </a:r>
            <a:endParaRPr lang="en-US" sz="1500" dirty="0"/>
          </a:p>
          <a:p>
            <a:pPr marL="0" indent="0" algn="l">
              <a:buNone/>
            </a:pP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Are errors larger for one group?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Are mistakes tied to missing features?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Is one class poorly represented?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937"/>
                </a:solidFill>
              </a:rPr>
              <a:t>• Is the target noisy?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14400" y="5440680"/>
            <a:ext cx="103327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102E"/>
                </a:solidFill>
              </a:rPr>
              <a:t>Error analysis converts model performance into research and data-collection priorities.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Participant output: first-pass model card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207008"/>
            <a:ext cx="103327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</a:rPr>
              <a:t>Each group should leave with a short model card summarizing the baseline analysis.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1828800"/>
            <a:ext cx="47091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33272" y="1947672"/>
            <a:ext cx="437997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1F2937"/>
                </a:solidFill>
              </a:rPr>
              <a:t>Problem statement</a:t>
            </a:r>
            <a:endParaRPr lang="en-US" sz="1380" dirty="0"/>
          </a:p>
          <a:p>
            <a:pPr marL="0" indent="0" algn="l">
              <a:buNone/>
            </a:pPr>
            <a:r>
              <a:rPr lang="en-US" sz="1380" b="1" dirty="0">
                <a:solidFill>
                  <a:srgbClr val="1F2937"/>
                </a:solidFill>
              </a:rPr>
              <a:t>What is predicted, for whom or what, and why?</a:t>
            </a:r>
            <a:endParaRPr lang="en-US" sz="138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47091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382512" y="1947672"/>
            <a:ext cx="437997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1F2937"/>
                </a:solidFill>
              </a:rPr>
              <a:t>Dataset</a:t>
            </a:r>
            <a:endParaRPr lang="en-US" sz="1380" dirty="0"/>
          </a:p>
          <a:p>
            <a:pPr marL="0" indent="0" algn="l">
              <a:buNone/>
            </a:pPr>
            <a:r>
              <a:rPr lang="en-US" sz="1380" b="1" dirty="0">
                <a:solidFill>
                  <a:srgbClr val="1F2937"/>
                </a:solidFill>
              </a:rPr>
              <a:t>Rows, variables, target, missing values, and leakage concerns</a:t>
            </a:r>
            <a:endParaRPr lang="en-US" sz="1380" dirty="0"/>
          </a:p>
        </p:txBody>
      </p:sp>
      <p:sp>
        <p:nvSpPr>
          <p:cNvPr id="11" name="Shape 9"/>
          <p:cNvSpPr/>
          <p:nvPr/>
        </p:nvSpPr>
        <p:spPr>
          <a:xfrm>
            <a:off x="868680" y="2834640"/>
            <a:ext cx="47091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33272" y="2953512"/>
            <a:ext cx="437997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1F2937"/>
                </a:solidFill>
              </a:rPr>
              <a:t>Baseline</a:t>
            </a:r>
            <a:endParaRPr lang="en-US" sz="1380" dirty="0"/>
          </a:p>
          <a:p>
            <a:pPr marL="0" indent="0" algn="l">
              <a:buNone/>
            </a:pPr>
            <a:r>
              <a:rPr lang="en-US" sz="1380" b="1" dirty="0">
                <a:solidFill>
                  <a:srgbClr val="1F2937"/>
                </a:solidFill>
              </a:rPr>
              <a:t>Simple rule and its performance</a:t>
            </a:r>
            <a:endParaRPr lang="en-US" sz="1380" dirty="0"/>
          </a:p>
        </p:txBody>
      </p:sp>
      <p:sp>
        <p:nvSpPr>
          <p:cNvPr id="13" name="Shape 11"/>
          <p:cNvSpPr/>
          <p:nvPr/>
        </p:nvSpPr>
        <p:spPr>
          <a:xfrm>
            <a:off x="6217920" y="2834640"/>
            <a:ext cx="47091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82512" y="2953512"/>
            <a:ext cx="437997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1F2937"/>
                </a:solidFill>
              </a:rPr>
              <a:t>Model</a:t>
            </a:r>
            <a:endParaRPr lang="en-US" sz="1380" dirty="0"/>
          </a:p>
          <a:p>
            <a:pPr marL="0" indent="0" algn="l">
              <a:buNone/>
            </a:pPr>
            <a:r>
              <a:rPr lang="en-US" sz="1380" b="1" dirty="0">
                <a:solidFill>
                  <a:srgbClr val="1F2937"/>
                </a:solidFill>
              </a:rPr>
              <a:t>Algorithm, inputs, split method, and metric</a:t>
            </a:r>
            <a:endParaRPr lang="en-US" sz="1380" dirty="0"/>
          </a:p>
        </p:txBody>
      </p:sp>
      <p:sp>
        <p:nvSpPr>
          <p:cNvPr id="15" name="Shape 13"/>
          <p:cNvSpPr/>
          <p:nvPr/>
        </p:nvSpPr>
        <p:spPr>
          <a:xfrm>
            <a:off x="868680" y="3840480"/>
            <a:ext cx="47091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33272" y="3959352"/>
            <a:ext cx="437997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1F2937"/>
                </a:solidFill>
              </a:rPr>
              <a:t>Results</a:t>
            </a:r>
            <a:endParaRPr lang="en-US" sz="1380" dirty="0"/>
          </a:p>
          <a:p>
            <a:pPr marL="0" indent="0" algn="l">
              <a:buNone/>
            </a:pPr>
            <a:r>
              <a:rPr lang="en-US" sz="1380" b="1" dirty="0">
                <a:solidFill>
                  <a:srgbClr val="1F2937"/>
                </a:solidFill>
              </a:rPr>
              <a:t>Performance compared with baseline and observed error pattern</a:t>
            </a:r>
            <a:endParaRPr lang="en-US" sz="1380" dirty="0"/>
          </a:p>
        </p:txBody>
      </p:sp>
      <p:sp>
        <p:nvSpPr>
          <p:cNvPr id="17" name="Shape 15"/>
          <p:cNvSpPr/>
          <p:nvPr/>
        </p:nvSpPr>
        <p:spPr>
          <a:xfrm>
            <a:off x="6217920" y="3840480"/>
            <a:ext cx="47091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382512" y="3959352"/>
            <a:ext cx="437997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1F2937"/>
                </a:solidFill>
              </a:rPr>
              <a:t>Limitations</a:t>
            </a:r>
            <a:endParaRPr lang="en-US" sz="1380" dirty="0"/>
          </a:p>
          <a:p>
            <a:pPr marL="0" indent="0" algn="l">
              <a:buNone/>
            </a:pPr>
            <a:r>
              <a:rPr lang="en-US" sz="1380" b="1" dirty="0">
                <a:solidFill>
                  <a:srgbClr val="1F2937"/>
                </a:solidFill>
              </a:rPr>
              <a:t>What should not be concluded and what data are needed next?</a:t>
            </a:r>
            <a:endParaRPr lang="en-US" sz="1380" dirty="0"/>
          </a:p>
        </p:txBody>
      </p:sp>
      <p:sp>
        <p:nvSpPr>
          <p:cNvPr id="19" name="Text 17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Discussion prompts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68680" y="1325880"/>
            <a:ext cx="47091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33272" y="1444752"/>
            <a:ext cx="437997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420" b="1" dirty="0">
                <a:solidFill>
                  <a:srgbClr val="1F2937"/>
                </a:solidFill>
              </a:rPr>
              <a:t>Did the model outperform the baseline?</a:t>
            </a:r>
            <a:endParaRPr lang="en-US" sz="1420" dirty="0"/>
          </a:p>
        </p:txBody>
      </p:sp>
      <p:sp>
        <p:nvSpPr>
          <p:cNvPr id="8" name="Shape 6"/>
          <p:cNvSpPr/>
          <p:nvPr/>
        </p:nvSpPr>
        <p:spPr>
          <a:xfrm>
            <a:off x="6217920" y="1325880"/>
            <a:ext cx="4709160" cy="566928"/>
          </a:xfrm>
          <a:prstGeom prst="roundRect">
            <a:avLst>
              <a:gd name="adj" fmla="val 1290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382512" y="1444752"/>
            <a:ext cx="437997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420" b="1" dirty="0">
                <a:solidFill>
                  <a:srgbClr val="1F2937"/>
                </a:solidFill>
              </a:rPr>
              <a:t>Was the improvement practically meaningful?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868680" y="2194560"/>
            <a:ext cx="47091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33272" y="2313432"/>
            <a:ext cx="437997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420" b="1" dirty="0">
                <a:solidFill>
                  <a:srgbClr val="1F2937"/>
                </a:solidFill>
              </a:rPr>
              <a:t>Which metric best represents success?</a:t>
            </a:r>
            <a:endParaRPr lang="en-US" sz="1420" dirty="0"/>
          </a:p>
        </p:txBody>
      </p:sp>
      <p:sp>
        <p:nvSpPr>
          <p:cNvPr id="12" name="Shape 10"/>
          <p:cNvSpPr/>
          <p:nvPr/>
        </p:nvSpPr>
        <p:spPr>
          <a:xfrm>
            <a:off x="6217920" y="2194560"/>
            <a:ext cx="4709160" cy="566928"/>
          </a:xfrm>
          <a:prstGeom prst="roundRect">
            <a:avLst>
              <a:gd name="adj" fmla="val 1290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82512" y="2313432"/>
            <a:ext cx="437997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420" b="1" dirty="0">
                <a:solidFill>
                  <a:srgbClr val="1F2937"/>
                </a:solidFill>
              </a:rPr>
              <a:t>Did the model appear to overfit?</a:t>
            </a:r>
            <a:endParaRPr lang="en-US" sz="1420" dirty="0"/>
          </a:p>
        </p:txBody>
      </p:sp>
      <p:sp>
        <p:nvSpPr>
          <p:cNvPr id="14" name="Shape 12"/>
          <p:cNvSpPr/>
          <p:nvPr/>
        </p:nvSpPr>
        <p:spPr>
          <a:xfrm>
            <a:off x="868680" y="3063240"/>
            <a:ext cx="47091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33272" y="3182112"/>
            <a:ext cx="437997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420" b="1" dirty="0">
                <a:solidFill>
                  <a:srgbClr val="1F2937"/>
                </a:solidFill>
              </a:rPr>
              <a:t>Were any variables likely to introduce leakage?</a:t>
            </a:r>
            <a:endParaRPr lang="en-US" sz="1420" dirty="0"/>
          </a:p>
        </p:txBody>
      </p:sp>
      <p:sp>
        <p:nvSpPr>
          <p:cNvPr id="16" name="Shape 14"/>
          <p:cNvSpPr/>
          <p:nvPr/>
        </p:nvSpPr>
        <p:spPr>
          <a:xfrm>
            <a:off x="6217920" y="3063240"/>
            <a:ext cx="4709160" cy="566928"/>
          </a:xfrm>
          <a:prstGeom prst="roundRect">
            <a:avLst>
              <a:gd name="adj" fmla="val 1290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82512" y="3182112"/>
            <a:ext cx="437997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0" b="1" dirty="0">
                <a:solidFill>
                  <a:srgbClr val="1F2937"/>
                </a:solidFill>
              </a:rPr>
              <a:t>Would the model generalize to another lab, machine, course, or population?</a:t>
            </a:r>
            <a:endParaRPr lang="en-US" sz="1420" dirty="0"/>
          </a:p>
        </p:txBody>
      </p:sp>
      <p:sp>
        <p:nvSpPr>
          <p:cNvPr id="18" name="Shape 16"/>
          <p:cNvSpPr/>
          <p:nvPr/>
        </p:nvSpPr>
        <p:spPr>
          <a:xfrm>
            <a:off x="868680" y="3931920"/>
            <a:ext cx="47091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33272" y="4050792"/>
            <a:ext cx="437997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420" b="1" dirty="0">
                <a:solidFill>
                  <a:srgbClr val="1F2937"/>
                </a:solidFill>
              </a:rPr>
              <a:t>What additional data should be collected?</a:t>
            </a:r>
            <a:endParaRPr lang="en-US" sz="1420" dirty="0"/>
          </a:p>
        </p:txBody>
      </p:sp>
      <p:sp>
        <p:nvSpPr>
          <p:cNvPr id="20" name="Shape 18"/>
          <p:cNvSpPr/>
          <p:nvPr/>
        </p:nvSpPr>
        <p:spPr>
          <a:xfrm>
            <a:off x="6217920" y="3931920"/>
            <a:ext cx="4709160" cy="566928"/>
          </a:xfrm>
          <a:prstGeom prst="roundRect">
            <a:avLst>
              <a:gd name="adj" fmla="val 1290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382512" y="4050792"/>
            <a:ext cx="437997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420" b="1" dirty="0">
                <a:solidFill>
                  <a:srgbClr val="1F2937"/>
                </a:solidFill>
              </a:rPr>
              <a:t>What limitation must be reported?</a:t>
            </a:r>
            <a:endParaRPr lang="en-US" sz="1420" dirty="0"/>
          </a:p>
        </p:txBody>
      </p:sp>
      <p:sp>
        <p:nvSpPr>
          <p:cNvPr id="22" name="Shape 20"/>
          <p:cNvSpPr/>
          <p:nvPr/>
        </p:nvSpPr>
        <p:spPr>
          <a:xfrm>
            <a:off x="960120" y="5596128"/>
            <a:ext cx="10195560" cy="502920"/>
          </a:xfrm>
          <a:prstGeom prst="roundRect">
            <a:avLst>
              <a:gd name="adj" fmla="val 14545"/>
            </a:avLst>
          </a:prstGeom>
          <a:solidFill>
            <a:srgbClr val="FEF2F2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124712" y="5715000"/>
            <a:ext cx="986637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C8102E"/>
                </a:solidFill>
              </a:rPr>
              <a:t>Synthesis: a baseline workflow is a scientific argument about whether the data support a useful prediction.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383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AI DESIGN WORKSHOP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Session 5 wrap-up: what you should take forward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61320" y="42062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Session 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207008"/>
            <a:ext cx="103327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</a:rPr>
              <a:t>A complete first-pass ML workflow should be transparent, reproducible in class, and easy to critique.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1874520"/>
            <a:ext cx="315468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33272" y="1993392"/>
            <a:ext cx="2825496" cy="2267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Before modeling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• Define target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• Define unit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• Select metric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• Inspect data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• Check leakage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26280" y="1874520"/>
            <a:ext cx="315468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90872" y="1993392"/>
            <a:ext cx="2825496" cy="2267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During modeling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• Establish baseline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• Use simple models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• Keep comparison fair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• Evaluate on held-out data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83880" y="1874520"/>
            <a:ext cx="315468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348472" y="1993392"/>
            <a:ext cx="2825496" cy="2267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After modeling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• Interpret errors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• State limitations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• Recommend next data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</a:rPr>
              <a:t>• Avoid causal overclaims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5394960"/>
            <a:ext cx="103327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102E"/>
                </a:solidFill>
              </a:rPr>
              <a:t>Day 3 endpoint: </a:t>
            </a:r>
            <a:r>
              <a:rPr lang="en-US" b="1" dirty="0">
                <a:solidFill>
                  <a:srgbClr val="C8102E"/>
                </a:solidFill>
              </a:rPr>
              <a:t>You </a:t>
            </a:r>
            <a:r>
              <a:rPr lang="en-US" sz="1800" b="1" dirty="0">
                <a:solidFill>
                  <a:srgbClr val="C8102E"/>
                </a:solidFill>
              </a:rPr>
              <a:t>can frame an applied ML problem and run a defensible baseline analysis.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539728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CA3AF"/>
                </a:solidFill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1357</Words>
  <Application>Microsoft Office PowerPoint</Application>
  <PresentationFormat>Widescreen</PresentationFormat>
  <Paragraphs>329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NC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Hands-On Activity: Building a Baseline ML Model</dc:title>
  <dc:subject>Session 5 Applied AI Design Workshop</dc:subject>
  <dc:creator>Fred Livingston</dc:creator>
  <cp:lastModifiedBy>Fred Livingston</cp:lastModifiedBy>
  <cp:revision>7</cp:revision>
  <dcterms:created xsi:type="dcterms:W3CDTF">2026-07-14T20:51:56Z</dcterms:created>
  <dcterms:modified xsi:type="dcterms:W3CDTF">2026-07-15T03:49:06Z</dcterms:modified>
</cp:coreProperties>
</file>