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2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C State Engineering -- ANS / Conferences / 2021 Student Conference">
            <a:extLst>
              <a:ext uri="{FF2B5EF4-FFF2-40B4-BE49-F238E27FC236}">
                <a16:creationId xmlns:a16="http://schemas.microsoft.com/office/drawing/2014/main" id="{4AF56A47-229E-DE68-B4D3-7BB9DC35A5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6111" y="118169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4754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SESSION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29184" y="941832"/>
            <a:ext cx="5806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</a:rPr>
              <a:t>Data Preparation and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</a:rPr>
              <a:t>Feature Engineering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</a:rPr>
              <a:t>for Applied AI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9184" y="2532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Missing data • Outliers • Scaling • Encoding • Leakage • Domain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29626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Applied AI Design Workshop for Faculty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Fred Livingston (fjliving@ncsu.edu)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" y="3566160"/>
            <a:ext cx="4663440" cy="0"/>
          </a:xfrm>
          <a:prstGeom prst="line">
            <a:avLst/>
          </a:prstGeom>
          <a:noFill/>
          <a:ln w="1524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46520" y="868680"/>
            <a:ext cx="2971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92824" y="98755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Goal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92824" y="130759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turn raw disciplinary data into a trustworthy modeling table.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2057400"/>
            <a:ext cx="297180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92824" y="217627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Session outputs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92824" y="2496312"/>
            <a:ext cx="26791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Data-readiness checklist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Preprocessing plan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Leakage-risk decision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Candidate feature list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Minimal coding pattern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55480" y="86868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01784" y="987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Core idea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01784" y="1307592"/>
            <a:ext cx="171907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Model quality is bounded by data quality and representation. Better features often beat bigger models.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APPLIED AI DESIGN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Activity roadmap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891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Audit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521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Rows, types, missingness, target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5915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0545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Clean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0545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Missing values, outliers,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7939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2569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Transform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2569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Scaling and encoding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963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4593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Protect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4593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Leakage and split strategy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1987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6617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Engineer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6617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Domain and time-series features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8408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4011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8641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Document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18641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Preprocessing plan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Data preparation is the bridge between problem framing and model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Why data preparation matters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Applied AI fails when the data table does not match the real decision context.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384" y="14447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Raw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" y="176479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Different units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Missing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Text labels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Sensor noise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Time stamps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Batch identifiers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2029968"/>
            <a:ext cx="502920" cy="45720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81144" y="14447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Modeling table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81144" y="176479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One row per observation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Clean inputs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Target separated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Encoded categories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Scaled numeric fields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No leakage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43800" y="2029968"/>
            <a:ext cx="502920" cy="45720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132588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21624" y="14447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Defensible 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21624" y="176479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Baseline comparison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Valid split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Interpretable metrics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Reproducible decisions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Clear limitations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Preprocessing is not clerical cleanup — it is part of the research design.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1: audit the data before modeling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A good audit asks whether the dataset can support the intended prediction task.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3518890" cy="620486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197864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Question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3250" y="1143000"/>
            <a:ext cx="7408190" cy="620486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77258" y="1197864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763486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8368" y="1818350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What does one row represent?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3250" y="1763486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77258" y="1818350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Defines the unit of observation and prevents mixed cases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2383971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438835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Which column is the target?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3250" y="2383971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77258" y="2438835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Separates prediction objective from inputs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004457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8368" y="3059321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Which variables are numeric, categorical, datetime, text, or IDs?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3250" y="3004457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77258" y="3059321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Determines preprocessing and modeling choices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3624943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3679807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Are values missing?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3250" y="3624943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77258" y="3679807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May require imputation, removal, or redesign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4245429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4300293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Are categories consistent?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3250" y="4245429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77258" y="4300293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Avoids treating “A”, “a”, and “Batch A” as different categories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4865914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" y="4920778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Are there outliers or impossible values?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3250" y="4865914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77258" y="4920778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May indicate errors, rare events, or valid extremes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A good data audit reduces the risk of training a high-scoring but meaningless model.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2: clean missing values and outliers carefully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Missingness and extreme values can be errors, process signals, or meaningful rare events.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3154680" cy="1965960"/>
          </a:xfrm>
          <a:prstGeom prst="roundRect">
            <a:avLst>
              <a:gd name="adj" fmla="val 232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30759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Missing values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" y="1627632"/>
            <a:ext cx="28620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Common actions: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Remove only when justified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Impute median or mode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Add a missingness indicator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Revisit data collection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188720"/>
            <a:ext cx="3154680" cy="1965960"/>
          </a:xfrm>
          <a:prstGeom prst="roundRect">
            <a:avLst>
              <a:gd name="adj" fmla="val 2326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72584" y="130759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Outliers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72584" y="1627632"/>
            <a:ext cx="28620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Possible actions: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Correct impossible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Preserve rare valid cases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Cap or transform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Use robust models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11887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13064" y="1307592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Key caution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13064" y="1627632"/>
            <a:ext cx="231343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Fit imputation and scaling rules only on training data, then apply them to validation/test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2640330" cy="30861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6968" y="3941064"/>
            <a:ext cx="251231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Example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63290" y="3886200"/>
            <a:ext cx="3520440" cy="30861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27298" y="3941064"/>
            <a:ext cx="339242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83730" y="3886200"/>
            <a:ext cx="4400550" cy="30861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7738" y="3941064"/>
            <a:ext cx="427253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Decision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194810"/>
            <a:ext cx="264033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6968" y="4249674"/>
            <a:ext cx="251231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Vibration missing during high-speed runs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63290" y="4194810"/>
            <a:ext cx="352044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27298" y="4249674"/>
            <a:ext cx="339242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Sensor saturation may be informative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83730" y="4194810"/>
            <a:ext cx="440055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47738" y="4249674"/>
            <a:ext cx="427253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Add missingness flag and investigate sensor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4503420"/>
            <a:ext cx="264033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86968" y="4558284"/>
            <a:ext cx="251231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pH missing at random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63290" y="4503420"/>
            <a:ext cx="352044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27298" y="4558284"/>
            <a:ext cx="339242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Small random gaps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83730" y="4503420"/>
            <a:ext cx="440055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47738" y="4558284"/>
            <a:ext cx="427253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Median imputation may be acceptable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" y="4812030"/>
            <a:ext cx="264033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86968" y="4866894"/>
            <a:ext cx="251231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Final inspection score missing before inspection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63290" y="4812030"/>
            <a:ext cx="352044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27298" y="4866894"/>
            <a:ext cx="339242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Prediction-time leakage risk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83730" y="4812030"/>
            <a:ext cx="440055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47738" y="4866894"/>
            <a:ext cx="427253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Do not use as input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3: choose transformations by data type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Models need numeric arrays, but disciplinary data often contain categories, IDs, dates, and text.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2040255" cy="6858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1978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Data type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34615" y="1143000"/>
            <a:ext cx="3740468" cy="6858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8623" y="11978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Examples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75083" y="1143000"/>
            <a:ext cx="5100638" cy="6858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9091" y="11978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Typical handling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04025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18836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Numeric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34615" y="1828800"/>
            <a:ext cx="374046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98623" y="18836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temperature, pressure, speed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75083" y="1828800"/>
            <a:ext cx="510063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39091" y="18836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Impute missing values; scale if needed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2514600"/>
            <a:ext cx="204025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25694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Categorical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34615" y="2514600"/>
            <a:ext cx="374046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98623" y="25694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material type, machine ID, treatment group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75083" y="2514600"/>
            <a:ext cx="510063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39091" y="25694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One-hot encode or ordinal encode carefully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3200400"/>
            <a:ext cx="204025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32552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Datetime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34615" y="3200400"/>
            <a:ext cx="374046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698623" y="32552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timestamp, collection date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75083" y="3200400"/>
            <a:ext cx="510063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39091" y="32552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Extract elapsed time, hour, day, cycle, or lags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3886200"/>
            <a:ext cx="204025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" y="39410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Identifier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34615" y="3886200"/>
            <a:ext cx="374046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98623" y="39410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part ID, student ID, batch ID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75083" y="3886200"/>
            <a:ext cx="510063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39091" y="39410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Usually remove; use for grouping or split strategy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" y="4572000"/>
            <a:ext cx="204025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8368" y="46268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Text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34615" y="4572000"/>
            <a:ext cx="374046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698623" y="46268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notes, descriptions, comments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75083" y="4572000"/>
            <a:ext cx="510063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39091" y="46268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Use separate NLP workflow; avoid accidental leakage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Question to ask: is this variable a meaningful predictor, an identifier, or a disguised answer?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4: scale numeric features and encode categories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Transformations should make inputs usable without changing the meaning of the problem.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017520" cy="2240280"/>
          </a:xfrm>
          <a:prstGeom prst="roundRect">
            <a:avLst>
              <a:gd name="adj" fmla="val 2041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7824" y="1353312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Scaling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1673352"/>
            <a:ext cx="27249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Why it matters: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variables measured in large units can dominate distance-based or coefficient-based models.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Use for KNN, SVM, PCA, logistic regression, and regularized regression.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234440"/>
            <a:ext cx="3017520" cy="2240280"/>
          </a:xfrm>
          <a:prstGeom prst="roundRect">
            <a:avLst>
              <a:gd name="adj" fmla="val 2041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98264" y="1353312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Encoding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98264" y="1673352"/>
            <a:ext cx="27249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Why it matters: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models cannot use raw text categories.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Use one-hot encoding for categories without natural order. Be careful with ordinal encoding.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1234440"/>
            <a:ext cx="3017520" cy="2240280"/>
          </a:xfrm>
          <a:prstGeom prst="roundRect">
            <a:avLst>
              <a:gd name="adj" fmla="val 2041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18704" y="1353312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Pipeline rule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18704" y="1673352"/>
            <a:ext cx="27249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Fit scalers, encoders, and imputers on training data only. Apply the learned transformations to validation and test sets.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Preprocessing rules are learned from the training set, not from the full dataset.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APPLIED AI DESIGN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5: data leakage can invalidate a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Leakage creates inflated performance by letting the model see information unavailable in real use.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35331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Target leakage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" y="167335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Input contains the answer or a near-answer.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Example: final inspection score used to predict pass/fail quality.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86200" y="123444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32504" y="135331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Time leakage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32504" y="167335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Future information is used to predict an earlier outcome.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Example: using post-failure data to predict pre-failure status.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123444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32904" y="135331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Group leakage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32904" y="167335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Related samples appear in both train and test sets.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Example: parts from the same batch split across train and test.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37360" y="4160520"/>
            <a:ext cx="850392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83664" y="4279392"/>
            <a:ext cx="8211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Self Activity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83664" y="4599432"/>
            <a:ext cx="8211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For each feature, ask: would this value be known at the moment the prediction is needed?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6: engineer features with disciplinary meaning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Feature engineering converts raw measurements into variables that better represent mechanisms, behavior, or context.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2653719" cy="70104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19786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Raw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8079" y="1143000"/>
            <a:ext cx="3590326" cy="70104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2087" y="119786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Engineered feature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38406" y="1143000"/>
            <a:ext cx="4683034" cy="70104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02414" y="119786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Why useful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1844040"/>
            <a:ext cx="2653719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189890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Temperature time series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8079" y="1844040"/>
            <a:ext cx="3590326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12087" y="189890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slope, max, time above threshold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38406" y="1844040"/>
            <a:ext cx="4683034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2414" y="189890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Captures trend and thermal exposure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2545080"/>
            <a:ext cx="2653719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259994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Sensor signal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8079" y="2545080"/>
            <a:ext cx="3590326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2087" y="259994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rolling mean, variance, peak count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38406" y="2545080"/>
            <a:ext cx="4683034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2414" y="259994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Summarizes stability and abnormal variation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3246120"/>
            <a:ext cx="2653719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330098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Process settings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48079" y="3246120"/>
            <a:ext cx="3590326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12087" y="330098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distance from nominal setting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38406" y="3246120"/>
            <a:ext cx="4683034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2414" y="330098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Represents deviation from intended operation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3947160"/>
            <a:ext cx="2653719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" y="400202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Student activity logs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48079" y="3947160"/>
            <a:ext cx="3590326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12087" y="400202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completion rate, delay, weekly activity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38406" y="3947160"/>
            <a:ext cx="4683034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02414" y="400202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Summarizes engagement over time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" y="4648200"/>
            <a:ext cx="2653719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8368" y="470306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Bioprocess trajectories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48079" y="4648200"/>
            <a:ext cx="3590326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12087" y="470306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area under curve, growth rate, final-initial change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38406" y="4648200"/>
            <a:ext cx="4683034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02414" y="470306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Captures dynamic process behavior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Good features make the model inputs closer to how a domain expert reasons about the system.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7: select features to simplify the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More variables are not always better. Selection can improve interpretation, cost, and robustness.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2743200" cy="16002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Filter methods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9264" y="1673352"/>
            <a:ext cx="24505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Use correlation, variance, or statistical association before training a model.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1234440"/>
            <a:ext cx="2743200" cy="1600200"/>
          </a:xfrm>
          <a:prstGeom prst="roundRect">
            <a:avLst>
              <a:gd name="adj" fmla="val 2857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7822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Embedded methods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78224" y="1673352"/>
            <a:ext cx="24505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Use model structure such as Lasso coefficients or tree-based importance.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1234440"/>
            <a:ext cx="2743200" cy="16002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8718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Domain selection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87184" y="1673352"/>
            <a:ext cx="24505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Keep variables that are reliable, available early, and meaningful to collaborators.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Selection criteria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23160" y="370332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23160" y="37856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Predictive value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77640" y="370332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77640" y="37856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Interpretability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2120" y="370332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32120" y="37856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Measurement cost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86600" y="370332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86600" y="37856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Available at prediction time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41080" y="370332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41080" y="37856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Robust across groups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Feature selection is a design decision, not only a statistical procedure.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3 technical skill: pandas data audit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Goal: quickly inspect structure, missingness, variable types, and target balance.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280160"/>
            <a:ext cx="6812280" cy="4160520"/>
          </a:xfrm>
          <a:prstGeom prst="roundRect">
            <a:avLst>
              <a:gd name="adj" fmla="val 659"/>
            </a:avLst>
          </a:prstGeom>
          <a:solidFill>
            <a:schemeClr val="tx2"/>
          </a:solidFill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32104" y="1417320"/>
            <a:ext cx="651967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pd.read_csv("process_data.csv")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display(df.head())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pd.DataFrame({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"dtype": df.dtypes.astype(str),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"missing": df.isna().sum(),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"unique": df.nunique()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display(summary)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classification targets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display(df["defect"].value_counts(normalize=True))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3154680" cy="1005840"/>
          </a:xfrm>
          <a:prstGeom prst="roundRect">
            <a:avLst>
              <a:gd name="adj" fmla="val 4545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4424" y="153619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Use before modeling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64424" y="1856232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This audit should happen before selecting an algorithm.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2743200"/>
            <a:ext cx="3154680" cy="1280160"/>
          </a:xfrm>
          <a:prstGeom prst="roundRect">
            <a:avLst>
              <a:gd name="adj" fmla="val 3571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64424" y="286207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prompt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964424" y="3182112"/>
            <a:ext cx="2862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“What would stop us from trusting a model trained on this table?”</a:t>
            </a:r>
            <a:endParaRPr lang="en-US" sz="1200" dirty="0"/>
          </a:p>
        </p:txBody>
      </p:sp>
      <p:sp>
        <p:nvSpPr>
          <p:cNvPr id="19" name="Shape 33">
            <a:extLst>
              <a:ext uri="{FF2B5EF4-FFF2-40B4-BE49-F238E27FC236}">
                <a16:creationId xmlns:a16="http://schemas.microsoft.com/office/drawing/2014/main" id="{8726F5FA-5585-A7E1-681A-6E211B5B91D6}"/>
              </a:ext>
            </a:extLst>
          </p:cNvPr>
          <p:cNvSpPr/>
          <p:nvPr/>
        </p:nvSpPr>
        <p:spPr>
          <a:xfrm>
            <a:off x="6601968" y="566013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34">
            <a:extLst>
              <a:ext uri="{FF2B5EF4-FFF2-40B4-BE49-F238E27FC236}">
                <a16:creationId xmlns:a16="http://schemas.microsoft.com/office/drawing/2014/main" id="{AC05EB8F-B6AF-84AF-A190-DCE0D001691C}"/>
              </a:ext>
            </a:extLst>
          </p:cNvPr>
          <p:cNvSpPr/>
          <p:nvPr/>
        </p:nvSpPr>
        <p:spPr>
          <a:xfrm>
            <a:off x="6601968" y="57287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Session 3 notebook</a:t>
            </a:r>
            <a:endParaRPr lang="en-US" sz="850" dirty="0"/>
          </a:p>
        </p:txBody>
      </p:sp>
      <p:sp>
        <p:nvSpPr>
          <p:cNvPr id="23" name="Text 35">
            <a:extLst>
              <a:ext uri="{FF2B5EF4-FFF2-40B4-BE49-F238E27FC236}">
                <a16:creationId xmlns:a16="http://schemas.microsoft.com/office/drawing/2014/main" id="{8A3BD427-5D18-54E0-5DC7-964B6D4D1C79}"/>
              </a:ext>
            </a:extLst>
          </p:cNvPr>
          <p:cNvSpPr/>
          <p:nvPr/>
        </p:nvSpPr>
        <p:spPr>
          <a:xfrm>
            <a:off x="8156448" y="56967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03_session3_data_preparation_feature_engineering.ipynb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3 technical skill: safe preprocessing pipeline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Goal: fit preprocessing decisions on training data only and apply them consistently to test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7040880" cy="4434840"/>
          </a:xfrm>
          <a:prstGeom prst="roundRect">
            <a:avLst>
              <a:gd name="adj" fmla="val 619"/>
            </a:avLst>
          </a:prstGeom>
          <a:solidFill>
            <a:schemeClr val="tx2"/>
          </a:solidFill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371600"/>
            <a:ext cx="674827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sklearn.compose import ColumnTransformer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StandardScaler, OneHotEncoder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numeric_features = ["temperature", "pressure", "vibration"]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categorical_features = ["material_type"]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 = ColumnTransformer([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("num", Pipeline([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("impute", SimpleImputer(strategy="median")),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("scale", StandardScaler())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 numeric_features),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("cat", OneHotEncoder(handle_unknown="ignore"),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categorical_features)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Later: Pipeline([("prep", preprocess), ("model", model)])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001000" y="1371600"/>
            <a:ext cx="3063240" cy="1005840"/>
          </a:xfrm>
          <a:prstGeom prst="roundRect">
            <a:avLst>
              <a:gd name="adj" fmla="val 4545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47304" y="14904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Why pipeline?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147304" y="1810512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It prevents train/test contamination and documents the workflow.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2697480"/>
            <a:ext cx="3063240" cy="1188720"/>
          </a:xfrm>
          <a:prstGeom prst="roundRect">
            <a:avLst>
              <a:gd name="adj" fmla="val 3846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47304" y="28163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Key principle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47304" y="313639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Never use test data to decide imputation, scaling, or encoding rules.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1000" y="4251960"/>
            <a:ext cx="3063240" cy="731520"/>
          </a:xfrm>
          <a:prstGeom prst="roundRect">
            <a:avLst>
              <a:gd name="adj" fmla="val 6250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47304" y="437083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Link to baseline modeling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147304" y="4690872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Use the preprocessing object inside the baseline model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APPLIED AI DESIGN 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</a:rPr>
              <a:t>Session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3 wrap-up: what you should take forward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Before modeling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926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Define the unit of observation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Identify target and inputs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Audit data types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Check missing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Check leakage risk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7258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During preprocessing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7258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Fit transformations on training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Impute carefully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Scale when needed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Encode categories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Preserve meaningful outliers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7590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After preprocessing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7590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Document decisions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Explain limitations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Revisit data collection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Engineer better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• Prepare for model comparison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Next: Unsupervised Learning for Discovery — exploring structure when target labels are unavailable.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1589</Words>
  <Application>Microsoft Office PowerPoint</Application>
  <PresentationFormat>Widescreen</PresentationFormat>
  <Paragraphs>295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Cascadia Mono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Session 3 — Data Preparation and Feature Engineering for Applied AI</dc:title>
  <dc:subject>Applied AI Design Workshop for Faculty</dc:subject>
  <dc:creator>Fred Livingston</dc:creator>
  <cp:lastModifiedBy>Fred Livingston</cp:lastModifiedBy>
  <cp:revision>13</cp:revision>
  <dcterms:created xsi:type="dcterms:W3CDTF">2026-07-16T04:18:24Z</dcterms:created>
  <dcterms:modified xsi:type="dcterms:W3CDTF">2026-07-16T16:02:24Z</dcterms:modified>
</cp:coreProperties>
</file>