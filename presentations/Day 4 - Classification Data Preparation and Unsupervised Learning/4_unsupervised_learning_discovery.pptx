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07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C State Engineering -- ANS / Conferences / 2021 Student Conference">
            <a:extLst>
              <a:ext uri="{FF2B5EF4-FFF2-40B4-BE49-F238E27FC236}">
                <a16:creationId xmlns:a16="http://schemas.microsoft.com/office/drawing/2014/main" id="{8F3784AA-2818-E7AF-6E6A-BD6117BEBC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76537" y="334371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4754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C0000"/>
                </a:solidFill>
              </a:rPr>
              <a:t>SESSION 4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329184" y="94183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</a:rPr>
              <a:t>Unsupervised Learning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</a:rPr>
              <a:t>for Discovery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9184" y="22402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Clustering • PCA • DBSCAN • Interpretation • Validation • Limitations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9184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Applied AI Design Workshop for Faculty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Fred Livingston (fjliving@ncsu.edu)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9184" y="3300984"/>
            <a:ext cx="4663440" cy="0"/>
          </a:xfrm>
          <a:prstGeom prst="line">
            <a:avLst/>
          </a:prstGeom>
          <a:noFill/>
          <a:ln w="1524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29400" y="868680"/>
            <a:ext cx="2971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75704" y="98755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Goal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75704" y="130759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11111"/>
                </a:solidFill>
              </a:rPr>
              <a:t>discover structure in unlabeled data while avoiding over-interpretation.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629400" y="2057400"/>
            <a:ext cx="297180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75704" y="217627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Session outputs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75704" y="2496312"/>
            <a:ext cx="26791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Unsupervised problem statement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Scaled feature table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Cluster interpretation plan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Validation approach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Limitation statement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738360" y="868680"/>
            <a:ext cx="2057400" cy="2788920"/>
          </a:xfrm>
          <a:prstGeom prst="roundRect">
            <a:avLst>
              <a:gd name="adj" fmla="val 2222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84664" y="98755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Core idea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884664" y="1307592"/>
            <a:ext cx="176479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Clusters are mathematical groupings. They become meaningful only after domain interpretation and validation.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Session 4 learning outcomes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3504" y="1417320"/>
            <a:ext cx="2057400" cy="214884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53619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Distinguish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1856232"/>
            <a:ext cx="17647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Explain supervised vs. unsupervised learning and when labels are absent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6352" y="1417320"/>
            <a:ext cx="2057400" cy="214884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62656" y="153619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Cluster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62656" y="1856232"/>
            <a:ext cx="17647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</a:rPr>
              <a:t>Describe k-means, hierarchical clustering concepts, and DBSCAN at a level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417320"/>
            <a:ext cx="2057400" cy="214884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75504" y="153619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Prepare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75504" y="1856232"/>
            <a:ext cx="17647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Scale variables and choose features before clustering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42048" y="1417320"/>
            <a:ext cx="2057400" cy="214884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88352" y="153619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Validate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88352" y="1856232"/>
            <a:ext cx="17647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Use metrics, visual inspection, and domain checks to assess structure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54896" y="1417320"/>
            <a:ext cx="2057400" cy="2148840"/>
          </a:xfrm>
          <a:prstGeom prst="roundRect">
            <a:avLst>
              <a:gd name="adj" fmla="val 2222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0" y="153619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Interpret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0" y="1856232"/>
            <a:ext cx="17647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Translate clusters into hypotheses without claiming causality or truth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Participant output: a clustering plan that includes features, scaling, validation, interpretation, and limitations.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Activity roadmap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3891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Frame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521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What structure are we looking for?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5915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0545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Prepare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0545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Scale and select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7939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2569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Cluster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2569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k-means, hierarchy, DBSCAN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963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4593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Visualize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4593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PCA and cluster plots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1987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6617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Validate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6617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Metrics and stability checks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8408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4011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8641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Interpret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18641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Domain meaning and limits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4160520"/>
            <a:ext cx="10378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0704" y="4279392"/>
            <a:ext cx="10085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Note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60704" y="4599432"/>
            <a:ext cx="10085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The point is not to “find the right clusters.” The point is to generate defensible hypotheses about structure in unlabeled data.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Unsupervised learning supports discovery, exploration, segmentation, and data-quality investigation.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What makes a problem unsupervised?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Unsupervised learning searches for structure without a known target label.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108960" cy="2240280"/>
          </a:xfrm>
          <a:prstGeom prst="roundRect">
            <a:avLst>
              <a:gd name="adj" fmla="val 2041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35331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Supervised learning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104" y="1673352"/>
            <a:ext cx="28163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Known target label: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strength value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defect / no defect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pass / fail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diagnosis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Question: can inputs predict the target?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234440"/>
            <a:ext cx="3108960" cy="2240280"/>
          </a:xfrm>
          <a:prstGeom prst="roundRect">
            <a:avLst>
              <a:gd name="adj" fmla="val 2041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72584" y="135331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Unsupervised learning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72584" y="1673352"/>
            <a:ext cx="28163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No target label: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unknown groups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operating regimes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abnormal cases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latent patterns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Question: what structure exists?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1234440"/>
            <a:ext cx="2606040" cy="2240280"/>
          </a:xfrm>
          <a:prstGeom prst="roundRect">
            <a:avLst>
              <a:gd name="adj" fmla="val 2041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13064" y="1353312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Common use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13064" y="1673352"/>
            <a:ext cx="231343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Explore data before labels exist, identify natural groupings, or create hypotheses for follow-up experiments.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Unsupervised results are usually starting points for investigation, not final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Applied examples of unsupervised discovery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2029315" cy="7239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197864"/>
            <a:ext cx="190129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</a:rPr>
              <a:t>Domain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23675" y="1143000"/>
            <a:ext cx="4058630" cy="7239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87683" y="1197864"/>
            <a:ext cx="3930614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</a:rPr>
              <a:t>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82305" y="1143000"/>
            <a:ext cx="4839135" cy="7239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46313" y="1197864"/>
            <a:ext cx="471111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</a:rPr>
              <a:t>Discovery question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866900"/>
            <a:ext cx="202931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1921764"/>
            <a:ext cx="190129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Manufacturing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23675" y="1866900"/>
            <a:ext cx="405863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87683" y="1921764"/>
            <a:ext cx="3930614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temperature, speed, vibration, energy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82305" y="1866900"/>
            <a:ext cx="483913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46313" y="1921764"/>
            <a:ext cx="471111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Are there distinct operating regimes?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2590800"/>
            <a:ext cx="202931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2645664"/>
            <a:ext cx="190129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Bioprocessing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23675" y="2590800"/>
            <a:ext cx="405863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87683" y="2645664"/>
            <a:ext cx="3930614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pH, dissolved oxygen, agitation, OD trajectory features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82305" y="2590800"/>
            <a:ext cx="483913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46313" y="2645664"/>
            <a:ext cx="471111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Which batches behave similarly?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3314700"/>
            <a:ext cx="202931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3369564"/>
            <a:ext cx="190129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Education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23675" y="3314700"/>
            <a:ext cx="405863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87683" y="3369564"/>
            <a:ext cx="3930614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assignment timing, submissions, interaction frequency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82305" y="3314700"/>
            <a:ext cx="483913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46313" y="3369564"/>
            <a:ext cx="471111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Are there patterns of student engagement?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4038600"/>
            <a:ext cx="202931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4093464"/>
            <a:ext cx="190129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Materials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23675" y="4038600"/>
            <a:ext cx="405863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687683" y="4093464"/>
            <a:ext cx="3930614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composition, process settings, measured properties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82305" y="4038600"/>
            <a:ext cx="483913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46313" y="4093464"/>
            <a:ext cx="471111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Do material families emerge from the data?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" y="4762500"/>
            <a:ext cx="202931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" y="4817364"/>
            <a:ext cx="190129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Maintenance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623675" y="4762500"/>
            <a:ext cx="405863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87683" y="4817364"/>
            <a:ext cx="3930614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sensor summaries from equipment cycles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82305" y="4762500"/>
            <a:ext cx="483913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46313" y="4817364"/>
            <a:ext cx="471111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Which cycles look atypical or degraded?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A good unsupervised question connects data patterns to a plausible disciplinary interpretation.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1: prepare the feature table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Clustering is sensitive to feature choice and scale.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743200" cy="2148840"/>
          </a:xfrm>
          <a:prstGeom prst="roundRect">
            <a:avLst>
              <a:gd name="adj" fmla="val 2128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7824" y="135331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Choose features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1673352"/>
            <a:ext cx="24505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Use variables that represent the phenomenon of interest. Remove identifiers and target-like columns.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1234440"/>
            <a:ext cx="2743200" cy="2148840"/>
          </a:xfrm>
          <a:prstGeom prst="roundRect">
            <a:avLst>
              <a:gd name="adj" fmla="val 2128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86784" y="135331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Scale numeric 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86784" y="1673352"/>
            <a:ext cx="24505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Variables with large units can dominate distance-based methods. Standardize before k-means, PCA, and many distance methods.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234440"/>
            <a:ext cx="2743200" cy="2148840"/>
          </a:xfrm>
          <a:prstGeom prst="roundRect">
            <a:avLst>
              <a:gd name="adj" fmla="val 2128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95744" y="135331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Handle missing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95744" y="1673352"/>
            <a:ext cx="24505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Impute carefully or remove variables with too much missingness. Missingness may itself carry meaning.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80160" y="4160520"/>
            <a:ext cx="95097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26464" y="4279392"/>
            <a:ext cx="9217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CC0000"/>
                </a:solidFill>
              </a:rPr>
              <a:t>Guiding question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1426464" y="4599432"/>
            <a:ext cx="9217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Do the selected features describe similarity in the way a domain expert would understand it?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k-means clustering: compact groups around centers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k-means partitions observations into K groups by minimizing distance to cluster centers.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14300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44184" y="12618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Requires 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44184" y="1581912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You must choose the number of clusters before fitting.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49640" y="114300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95944" y="12618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Works best when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695944" y="1581912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Clusters are compact, separated, and roughly similar in size.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97880" y="278892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44184" y="290779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Sensitive to scale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44184" y="3227832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Standardization strongly affects distance calculations.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49640" y="278892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695944" y="290779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Interpretation risk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695944" y="3227832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A cluster number does not automatically equal a real category.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Use k-means when a compact-center view of similarity is defensible.</a:t>
            </a:r>
            <a:endParaRPr lang="en-US" sz="1200" dirty="0"/>
          </a:p>
        </p:txBody>
      </p:sp>
      <p:pic>
        <p:nvPicPr>
          <p:cNvPr id="47" name="Picture 46" descr="k-Means Clustering | Brilliant Math &amp; Science Wiki">
            <a:extLst>
              <a:ext uri="{FF2B5EF4-FFF2-40B4-BE49-F238E27FC236}">
                <a16:creationId xmlns:a16="http://schemas.microsoft.com/office/drawing/2014/main" id="{33A40B65-8220-A106-C5CF-0BCC3F83C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0472"/>
            <a:ext cx="5751576" cy="2923859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D698FC0-CD6F-B401-DCEC-B0E34E273CAC}"/>
              </a:ext>
            </a:extLst>
          </p:cNvPr>
          <p:cNvSpPr txBox="1"/>
          <p:nvPr/>
        </p:nvSpPr>
        <p:spPr>
          <a:xfrm>
            <a:off x="777240" y="4406057"/>
            <a:ext cx="6101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Source: https://brilliant.org/wiki/k-means-clustering/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Hierarchical clustering: nested similarity structure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Hierarchical methods show how observations merge into groups at different levels of similarity.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52160" y="118872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98464" y="130759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Strength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98464" y="162763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Reveals nested structure and does not require choosing K before fitting.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778240" y="118872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24544" y="130759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Choice point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924544" y="162763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Cut the tree at a level that balances detail and interpretability.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852160" y="283464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98464" y="295351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Key inputs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98464" y="327355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Distance metric and linkage method influence results.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778240" y="283464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24544" y="295351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Caution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924544" y="327355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Can be hard to read for very large datasets without sampling or summarization.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Hierarchical clustering is useful when you want to see structure at multiple resolutions.</a:t>
            </a:r>
            <a:endParaRPr lang="en-US" sz="1200" dirty="0"/>
          </a:p>
        </p:txBody>
      </p:sp>
      <p:pic>
        <p:nvPicPr>
          <p:cNvPr id="46" name="Picture 45" descr="How the Hierarchical Clustering Algorithm Works">
            <a:extLst>
              <a:ext uri="{FF2B5EF4-FFF2-40B4-BE49-F238E27FC236}">
                <a16:creationId xmlns:a16="http://schemas.microsoft.com/office/drawing/2014/main" id="{1C3485CF-E427-C005-2E6E-4F676F97C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36192"/>
            <a:ext cx="4998560" cy="371475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FE36B38-8C1B-0E14-EFB1-E21350AE520A}"/>
              </a:ext>
            </a:extLst>
          </p:cNvPr>
          <p:cNvSpPr txBox="1"/>
          <p:nvPr/>
        </p:nvSpPr>
        <p:spPr>
          <a:xfrm>
            <a:off x="876300" y="5212080"/>
            <a:ext cx="6101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Source: https://dataaspirant.com/hierarchical-clustering-algorithm/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DBSCAN: dense groups and noise points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DBSCAN groups observations in dense regions and can label sparse points as noise.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23560" y="1234440"/>
            <a:ext cx="2651760" cy="118872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69864" y="135331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Strength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69864" y="167335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Finds irregularly shaped clusters and identifies noise or outliers.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641080" y="1234440"/>
            <a:ext cx="2651760" cy="1188720"/>
          </a:xfrm>
          <a:prstGeom prst="roundRect">
            <a:avLst>
              <a:gd name="adj" fmla="val 3846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787384" y="135331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Parameters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87384" y="167335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eps controls neighborhood size; min_samples controls density requirement.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23560" y="2880360"/>
            <a:ext cx="2651760" cy="118872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69864" y="299923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Works best when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769864" y="331927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Clusters differ from noise by density and the scale of distance is meaningful.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641080" y="2880360"/>
            <a:ext cx="2651760" cy="118872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787384" y="299923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Caution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787384" y="331927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Can struggle when clusters have very different densities.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DBSCAN is useful when “unusual” observations matter as much as group membership.</a:t>
            </a:r>
            <a:endParaRPr lang="en-US" sz="1200" dirty="0"/>
          </a:p>
        </p:txBody>
      </p:sp>
      <p:pic>
        <p:nvPicPr>
          <p:cNvPr id="50" name="Picture 49" descr="A screenshot of a video game&#10;&#10;Description automatically generated">
            <a:extLst>
              <a:ext uri="{FF2B5EF4-FFF2-40B4-BE49-F238E27FC236}">
                <a16:creationId xmlns:a16="http://schemas.microsoft.com/office/drawing/2014/main" id="{54ADCD77-62E6-ED51-65AF-F91C566DA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14" y="1590802"/>
            <a:ext cx="5212242" cy="3274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PCA for visualization and simplification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Principal component analysis projects high-dimensional data into fewer dimensions.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2926080" cy="2148840"/>
          </a:xfrm>
          <a:prstGeom prst="roundRect">
            <a:avLst>
              <a:gd name="adj" fmla="val 2128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7824" y="130759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What PCA does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1627632"/>
            <a:ext cx="263347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Finds directions of maximum variation and creates new component axes.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188720"/>
            <a:ext cx="2926080" cy="2148840"/>
          </a:xfrm>
          <a:prstGeom prst="roundRect">
            <a:avLst>
              <a:gd name="adj" fmla="val 2128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98264" y="130759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Why use it here?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98264" y="1627632"/>
            <a:ext cx="263347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Visualize clusters, detect redundancy, and summarize many correlated features.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1188720"/>
            <a:ext cx="2926080" cy="2148840"/>
          </a:xfrm>
          <a:prstGeom prst="roundRect">
            <a:avLst>
              <a:gd name="adj" fmla="val 2128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18704" y="130759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Important caution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918704" y="1627632"/>
            <a:ext cx="263347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PCA components are combinations of variables, not original physical quantities.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794760"/>
            <a:ext cx="2444726" cy="33147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61288" y="3849624"/>
            <a:ext cx="2316710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Component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42006" y="3794760"/>
            <a:ext cx="7522234" cy="33147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06014" y="3849624"/>
            <a:ext cx="7394218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Interpretation question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126230"/>
            <a:ext cx="2444726" cy="33147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61288" y="4181094"/>
            <a:ext cx="2316710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PC1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42006" y="4126230"/>
            <a:ext cx="7522234" cy="33147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06014" y="4181094"/>
            <a:ext cx="7394218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Which variables load strongly and define the main direction of variation?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97280" y="4457700"/>
            <a:ext cx="2444726" cy="33147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61288" y="4512564"/>
            <a:ext cx="2316710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PC2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42006" y="4457700"/>
            <a:ext cx="7522234" cy="33147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06014" y="4512564"/>
            <a:ext cx="7394218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What additional variation is captured beyond PC1?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97280" y="4789170"/>
            <a:ext cx="2444726" cy="33147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61288" y="4844034"/>
            <a:ext cx="2316710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Explained variance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42006" y="4789170"/>
            <a:ext cx="7522234" cy="33147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06014" y="4844034"/>
            <a:ext cx="7394218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How much of the original variation is retained?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PCA is a lens for exploration, not a guarantee of meaningful clusters.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How do we validate unsupervised results?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There is no single accuracy score because there is no target label.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2618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Internal metrics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104" y="1581912"/>
            <a:ext cx="2450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Silhouette score, within-cluster distance, cluster separation. Useful but not enough.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1143000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95344" y="12618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Stability checks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95344" y="1581912"/>
            <a:ext cx="2450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Do clusters persist under new samples, resampling, or small feature changes?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143000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58584" y="12618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Domain validation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58584" y="1581912"/>
            <a:ext cx="2450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Do clusters align with known mechanisms, regimes, or follow-up measurements?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0" y="4069080"/>
            <a:ext cx="8412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75104" y="4187952"/>
            <a:ext cx="8119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CC0000"/>
                </a:solidFill>
              </a:rPr>
              <a:t>Key principle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1975104" y="4507992"/>
            <a:ext cx="8119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A useful cluster should lead to a testable explanation or practical action.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Validation combines math, visualization, and domain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Interpreting clusters: from groups to hypotheses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Cluster labels such as 0, 1, and 2 are not explanations by themselves.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3014367" cy="7239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197864"/>
            <a:ext cx="2886351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Step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08727" y="1143000"/>
            <a:ext cx="7912713" cy="7239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72735" y="1197864"/>
            <a:ext cx="7784697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Question to ask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866900"/>
            <a:ext cx="3014367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1921764"/>
            <a:ext cx="2886351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Describe each cluster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08727" y="1866900"/>
            <a:ext cx="7912713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72735" y="1921764"/>
            <a:ext cx="7784697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What are the average feature values and ranges?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2590800"/>
            <a:ext cx="3014367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645664"/>
            <a:ext cx="2886351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Compare to metadata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08727" y="2590800"/>
            <a:ext cx="7912713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72735" y="2645664"/>
            <a:ext cx="7784697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Do clusters differ by machine, batch, cohort, material, or time period?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314700"/>
            <a:ext cx="3014367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3369564"/>
            <a:ext cx="2886351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Inspect examples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08727" y="3314700"/>
            <a:ext cx="7912713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72735" y="3369564"/>
            <a:ext cx="7784697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What do representative and borderline cases look like?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038600"/>
            <a:ext cx="3014367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4093464"/>
            <a:ext cx="2886351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Name carefully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08727" y="4038600"/>
            <a:ext cx="7912713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72735" y="4093464"/>
            <a:ext cx="7784697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Use descriptive names only after evidence supports them.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4762500"/>
            <a:ext cx="3014367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4817364"/>
            <a:ext cx="2886351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Plan follow-up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08727" y="4762500"/>
            <a:ext cx="7912713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72735" y="4817364"/>
            <a:ext cx="7784697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What experiment, label review, or expert check would validate the hypothesis?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A cluster is a hypothesis generator; domain experts decide whether the pattern is meaningful.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Session 4 technical skill: minimal clustering workflow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Goal: scale features, run k-means, visualize clusters, and compute an internal metric.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6995160" cy="4434840"/>
          </a:xfrm>
          <a:prstGeom prst="roundRect">
            <a:avLst>
              <a:gd name="adj" fmla="val 619"/>
            </a:avLst>
          </a:prstGeom>
          <a:solidFill>
            <a:schemeClr val="tx2"/>
          </a:solidFill>
          <a:ln w="762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371600"/>
            <a:ext cx="670255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["temperature", "pressure", "vibration", "energy"]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df[features]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StandardScaler().fit_transform(X)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KMeans(n_clusters=3, random_state=42, n_init=10)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clusters = model.fit_predict(X_scaled)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df["cluster"] = clusters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print("Silhouette:", silhouette_score(X_scaled, clusters))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PCA(n_components=2)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coords = pca.fit_transform(X_scaled)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955280" y="1417320"/>
            <a:ext cx="3063240" cy="1005840"/>
          </a:xfrm>
          <a:prstGeom prst="roundRect">
            <a:avLst>
              <a:gd name="adj" fmla="val 4545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01584" y="153619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Notebook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101584" y="1856232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Use the Session 4 unsupervised learning notebook or embedded technical notebook.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743200"/>
            <a:ext cx="3063240" cy="1188720"/>
          </a:xfrm>
          <a:prstGeom prst="roundRect">
            <a:avLst>
              <a:gd name="adj" fmla="val 3846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01584" y="28620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101584" y="318211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“What evidence would convince you these clusters are meaningful?”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4343400"/>
            <a:ext cx="3063240" cy="685800"/>
          </a:xfrm>
          <a:prstGeom prst="roundRect">
            <a:avLst>
              <a:gd name="adj" fmla="val 6667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01584" y="44622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Coding focus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101584" y="4782312"/>
            <a:ext cx="2770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Scale → cluster → visualize → interpret → validate.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Discussion prompts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7406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What does it mean for two observations to be similar?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Which variables should define similarity — and which should not?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How many clusters would be useful rather than merely mathematical?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Do the clusters persist if features or scaling change?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Are clusters aligned with meaningful metadata or known regimes?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What follow-up evidence would validate the interpretation?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What should not be concluded from the clusters?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8595360" y="1463040"/>
            <a:ext cx="2468880" cy="2423160"/>
          </a:xfrm>
          <a:prstGeom prst="roundRect">
            <a:avLst>
              <a:gd name="adj" fmla="val 1887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41664" y="158191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Synthesis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41664" y="1901952"/>
            <a:ext cx="217627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Unsupervised learning helps faculty explore structure, generate hypotheses, and guide data collection — but it does not replace labels, experiments, or domain judgment.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The most important output is not a cluster label — it is a defensible interpretation plan.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Session 4 wrap-up: what you should take forward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3063240" cy="3566160"/>
          </a:xfrm>
          <a:prstGeom prst="roundRect">
            <a:avLst>
              <a:gd name="adj" fmla="val 149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1261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Before clustering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9264" y="1581912"/>
            <a:ext cx="27706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Define the discovery question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Choose the unit of observation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Select meaningful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Remove IDs and leakage variables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Scale numeric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143000"/>
            <a:ext cx="3063240" cy="3566160"/>
          </a:xfrm>
          <a:prstGeom prst="roundRect">
            <a:avLst>
              <a:gd name="adj" fmla="val 1493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72584" y="1261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During clustering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72584" y="1581912"/>
            <a:ext cx="27706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Compare simple methods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Visualize with PCA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Check sensitivity to K and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Inspect representative cases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Record assumptions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143000"/>
            <a:ext cx="3063240" cy="3566160"/>
          </a:xfrm>
          <a:prstGeom prst="roundRect">
            <a:avLst>
              <a:gd name="adj" fmla="val 149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75904" y="1261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After clustering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75904" y="1581912"/>
            <a:ext cx="27706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Describe cluster profiles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Validate with metadata or experts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Avoid causal claims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Plan follow-up labeling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State limitations clearly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Day 4 endpoint: You can complete a baseline supervised workflow and design an unsupervised discovery analysis.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1637</Words>
  <Application>Microsoft Office PowerPoint</Application>
  <PresentationFormat>Widescreen</PresentationFormat>
  <Paragraphs>273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Session 4 — Unsupervised Learning for Discovery</dc:title>
  <dc:subject>Applied AI Design Workshop for Faculty</dc:subject>
  <dc:creator>Fred Livingston</dc:creator>
  <cp:lastModifiedBy>Fred Livingston</cp:lastModifiedBy>
  <cp:revision>14</cp:revision>
  <dcterms:created xsi:type="dcterms:W3CDTF">2026-07-16T04:26:42Z</dcterms:created>
  <dcterms:modified xsi:type="dcterms:W3CDTF">2026-07-16T16:00:51Z</dcterms:modified>
</cp:coreProperties>
</file>